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43"/>
  </p:notesMasterIdLst>
  <p:sldIdLst>
    <p:sldId id="256" r:id="rId2"/>
    <p:sldId id="357" r:id="rId3"/>
    <p:sldId id="358" r:id="rId4"/>
    <p:sldId id="435" r:id="rId5"/>
    <p:sldId id="361" r:id="rId6"/>
    <p:sldId id="426" r:id="rId7"/>
    <p:sldId id="365" r:id="rId8"/>
    <p:sldId id="366" r:id="rId9"/>
    <p:sldId id="378" r:id="rId10"/>
    <p:sldId id="370" r:id="rId11"/>
    <p:sldId id="372" r:id="rId12"/>
    <p:sldId id="374" r:id="rId13"/>
    <p:sldId id="373" r:id="rId14"/>
    <p:sldId id="414" r:id="rId15"/>
    <p:sldId id="415" r:id="rId16"/>
    <p:sldId id="427" r:id="rId17"/>
    <p:sldId id="428" r:id="rId18"/>
    <p:sldId id="429" r:id="rId19"/>
    <p:sldId id="430" r:id="rId20"/>
    <p:sldId id="431" r:id="rId21"/>
    <p:sldId id="432" r:id="rId22"/>
    <p:sldId id="433" r:id="rId23"/>
    <p:sldId id="434" r:id="rId24"/>
    <p:sldId id="392" r:id="rId25"/>
    <p:sldId id="393" r:id="rId26"/>
    <p:sldId id="394" r:id="rId27"/>
    <p:sldId id="395" r:id="rId28"/>
    <p:sldId id="396" r:id="rId29"/>
    <p:sldId id="399" r:id="rId30"/>
    <p:sldId id="400" r:id="rId31"/>
    <p:sldId id="401" r:id="rId32"/>
    <p:sldId id="402" r:id="rId33"/>
    <p:sldId id="403" r:id="rId34"/>
    <p:sldId id="404" r:id="rId35"/>
    <p:sldId id="364" r:id="rId36"/>
    <p:sldId id="436" r:id="rId37"/>
    <p:sldId id="440" r:id="rId38"/>
    <p:sldId id="441" r:id="rId39"/>
    <p:sldId id="423" r:id="rId40"/>
    <p:sldId id="422" r:id="rId41"/>
    <p:sldId id="280" r:id="rId42"/>
  </p:sldIdLst>
  <p:sldSz cx="9144000" cy="5143500" type="screen16x9"/>
  <p:notesSz cx="6858000" cy="9144000"/>
  <p:embeddedFontLst>
    <p:embeddedFont>
      <p:font typeface="Advent Pro Light" panose="020B0604020202020204" charset="0"/>
      <p:regular r:id="rId44"/>
      <p:bold r:id="rId45"/>
    </p:embeddedFont>
    <p:embeddedFont>
      <p:font typeface="Anton" pitchFamily="2" charset="0"/>
      <p:regular r:id="rId46"/>
    </p:embeddedFont>
    <p:embeddedFont>
      <p:font typeface="Fira Sans Condensed Light" panose="020B0403050000020004" pitchFamily="34" charset="0"/>
      <p:regular r:id="rId47"/>
      <p:bold r:id="rId48"/>
      <p:italic r:id="rId49"/>
      <p:boldItalic r:id="rId50"/>
    </p:embeddedFont>
    <p:embeddedFont>
      <p:font typeface="Rajdhani" panose="020B0604020202020204" charset="0"/>
      <p:regular r:id="rId51"/>
      <p:bold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F513"/>
    <a:srgbClr val="E8FEE8"/>
    <a:srgbClr val="E8FEE9"/>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969" autoAdjust="0"/>
  </p:normalViewPr>
  <p:slideViewPr>
    <p:cSldViewPr snapToGrid="0">
      <p:cViewPr varScale="1">
        <p:scale>
          <a:sx n="91" d="100"/>
          <a:sy n="91" d="100"/>
        </p:scale>
        <p:origin x="786"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0665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1648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a:extLst>
            <a:ext uri="{FF2B5EF4-FFF2-40B4-BE49-F238E27FC236}">
              <a16:creationId xmlns:a16="http://schemas.microsoft.com/office/drawing/2014/main" id="{1B5961A5-8345-CF79-4C19-817E3CD3D1FE}"/>
            </a:ext>
          </a:extLst>
        </p:cNvPr>
        <p:cNvGrpSpPr/>
        <p:nvPr/>
      </p:nvGrpSpPr>
      <p:grpSpPr>
        <a:xfrm>
          <a:off x="0" y="0"/>
          <a:ext cx="0" cy="0"/>
          <a:chOff x="0" y="0"/>
          <a:chExt cx="0" cy="0"/>
        </a:xfrm>
      </p:grpSpPr>
      <p:sp>
        <p:nvSpPr>
          <p:cNvPr id="643" name="Google Shape;643;g65abef0139_0_223:notes">
            <a:extLst>
              <a:ext uri="{FF2B5EF4-FFF2-40B4-BE49-F238E27FC236}">
                <a16:creationId xmlns:a16="http://schemas.microsoft.com/office/drawing/2014/main" id="{9C73225D-2D29-9959-82E0-E6E532656C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a:extLst>
              <a:ext uri="{FF2B5EF4-FFF2-40B4-BE49-F238E27FC236}">
                <a16:creationId xmlns:a16="http://schemas.microsoft.com/office/drawing/2014/main" id="{EA2B1205-8010-E731-C053-730522153B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55585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377391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1221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06656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63086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8064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50496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621412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9.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9.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9.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9.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9.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jpeg"/></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42993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TI2001B</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Plataformas de Analítica de Negocios para Organizaciones</a:t>
            </a:r>
          </a:p>
          <a:p>
            <a:pPr marL="14105" marR="5642">
              <a:spcBef>
                <a:spcPts val="106"/>
              </a:spcBef>
            </a:pP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13 de Agosto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pic>
        <p:nvPicPr>
          <p:cNvPr id="24578" name="Picture 2" descr="Qué es un Modelo de Analítica de Datos? - Northware"/>
          <p:cNvPicPr>
            <a:picLocks noChangeAspect="1" noChangeArrowheads="1"/>
          </p:cNvPicPr>
          <p:nvPr/>
        </p:nvPicPr>
        <p:blipFill>
          <a:blip r:embed="rId4"/>
          <a:srcRect/>
          <a:stretch>
            <a:fillRect/>
          </a:stretch>
        </p:blipFill>
        <p:spPr bwMode="auto">
          <a:xfrm>
            <a:off x="288235" y="1749286"/>
            <a:ext cx="3965646" cy="1928191"/>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“Los datos se están convirtiendo en la nueva materia prima de los negocios.”   </a:t>
            </a:r>
          </a:p>
          <a:p>
            <a:pPr algn="l"/>
            <a:r>
              <a:rPr lang="es-ES" dirty="0"/>
              <a:t>       </a:t>
            </a:r>
          </a:p>
          <a:p>
            <a:pPr algn="l"/>
            <a:r>
              <a:rPr lang="es-ES" dirty="0"/>
              <a:t>                                               –Craig </a:t>
            </a:r>
            <a:r>
              <a:rPr lang="es-ES" dirty="0" err="1"/>
              <a:t>Mundie</a:t>
            </a:r>
            <a:endParaRPr lang="es-ES" dirty="0"/>
          </a:p>
          <a:p>
            <a:pPr algn="l"/>
            <a:br>
              <a:rPr lang="es-ES" dirty="0"/>
            </a:br>
            <a:endParaRPr dirty="0"/>
          </a:p>
        </p:txBody>
      </p:sp>
      <p:pic>
        <p:nvPicPr>
          <p:cNvPr id="26626" name="Picture 2" descr="Reconocer los diferentes tipos de datos, indispensable en la era del Big  Data"/>
          <p:cNvPicPr>
            <a:picLocks noChangeAspect="1" noChangeArrowheads="1"/>
          </p:cNvPicPr>
          <p:nvPr/>
        </p:nvPicPr>
        <p:blipFill>
          <a:blip r:embed="rId4"/>
          <a:srcRect/>
          <a:stretch>
            <a:fillRect/>
          </a:stretch>
        </p:blipFill>
        <p:spPr bwMode="auto">
          <a:xfrm>
            <a:off x="433872" y="1396958"/>
            <a:ext cx="3805398" cy="2757599"/>
          </a:xfrm>
          <a:prstGeom prst="rect">
            <a:avLst/>
          </a:prstGeom>
          <a:noFill/>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 -Analítica de datos </a:t>
            </a:r>
          </a:p>
          <a:p>
            <a:pPr marL="146050" lvl="0" indent="0">
              <a:buSzPts val="1300"/>
            </a:pPr>
            <a:r>
              <a:rPr lang="es-ES" dirty="0"/>
              <a:t> -Plataformas en la nube</a:t>
            </a:r>
          </a:p>
          <a:p>
            <a:pPr marL="146050" lvl="0" indent="0">
              <a:buSzPts val="1300"/>
            </a:pPr>
            <a:r>
              <a:rPr lang="es-ES" dirty="0"/>
              <a:t> -Plataformas de almacenamiento local</a:t>
            </a:r>
            <a:endParaRPr dirty="0"/>
          </a:p>
        </p:txBody>
      </p:sp>
      <p:sp>
        <p:nvSpPr>
          <p:cNvPr id="176" name="Google Shape;176;p30"/>
          <p:cNvSpPr txBox="1">
            <a:spLocks noGrp="1"/>
          </p:cNvSpPr>
          <p:nvPr>
            <p:ph type="title" idx="2"/>
          </p:nvPr>
        </p:nvSpPr>
        <p:spPr>
          <a:xfrm>
            <a:off x="4849170" y="1001125"/>
            <a:ext cx="20268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01</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2945562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2143995" y="511261"/>
            <a:ext cx="161013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AGENDA</a:t>
            </a:r>
            <a:endParaRPr dirty="0"/>
          </a:p>
        </p:txBody>
      </p:sp>
      <p:graphicFrame>
        <p:nvGraphicFramePr>
          <p:cNvPr id="647" name="Google Shape;647;p33"/>
          <p:cNvGraphicFramePr/>
          <p:nvPr/>
        </p:nvGraphicFramePr>
        <p:xfrm>
          <a:off x="438511" y="1404112"/>
          <a:ext cx="8266978" cy="3383220"/>
        </p:xfrm>
        <a:graphic>
          <a:graphicData uri="http://schemas.openxmlformats.org/drawingml/2006/table">
            <a:tbl>
              <a:tblPr>
                <a:noFill/>
                <a:tableStyleId>{95E397FE-706D-4E7D-AA01-638484C1D090}</a:tableStyleId>
              </a:tblPr>
              <a:tblGrid>
                <a:gridCol w="1674068">
                  <a:extLst>
                    <a:ext uri="{9D8B030D-6E8A-4147-A177-3AD203B41FA5}">
                      <a16:colId xmlns:a16="http://schemas.microsoft.com/office/drawing/2014/main" val="20000"/>
                    </a:ext>
                  </a:extLst>
                </a:gridCol>
                <a:gridCol w="2007476">
                  <a:extLst>
                    <a:ext uri="{9D8B030D-6E8A-4147-A177-3AD203B41FA5}">
                      <a16:colId xmlns:a16="http://schemas.microsoft.com/office/drawing/2014/main" val="20001"/>
                    </a:ext>
                  </a:extLst>
                </a:gridCol>
                <a:gridCol w="1534511">
                  <a:extLst>
                    <a:ext uri="{9D8B030D-6E8A-4147-A177-3AD203B41FA5}">
                      <a16:colId xmlns:a16="http://schemas.microsoft.com/office/drawing/2014/main" val="20002"/>
                    </a:ext>
                  </a:extLst>
                </a:gridCol>
                <a:gridCol w="1504858">
                  <a:extLst>
                    <a:ext uri="{9D8B030D-6E8A-4147-A177-3AD203B41FA5}">
                      <a16:colId xmlns:a16="http://schemas.microsoft.com/office/drawing/2014/main" val="20003"/>
                    </a:ext>
                  </a:extLst>
                </a:gridCol>
                <a:gridCol w="1546065">
                  <a:extLst>
                    <a:ext uri="{9D8B030D-6E8A-4147-A177-3AD203B41FA5}">
                      <a16:colId xmlns:a16="http://schemas.microsoft.com/office/drawing/2014/main" val="20004"/>
                    </a:ext>
                  </a:extLst>
                </a:gridCol>
              </a:tblGrid>
              <a:tr h="590962">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M1</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M2</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M3</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M4</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lgn="ctr">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3000" b="1" dirty="0">
                          <a:solidFill>
                            <a:srgbClr val="F3F3F3"/>
                          </a:solidFill>
                          <a:latin typeface="Rajdhani"/>
                          <a:ea typeface="Rajdhani"/>
                          <a:cs typeface="Rajdhani"/>
                          <a:sym typeface="Rajdhani"/>
                        </a:rPr>
                        <a:t>RETO</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lgn="ctr">
                      <a:solidFill>
                        <a:srgbClr val="F3F3F3"/>
                      </a:solidFill>
                      <a:prstDash val="solid"/>
                      <a:round/>
                      <a:headEnd type="none" w="sm" len="sm"/>
                      <a:tailEnd type="none" w="sm" len="sm"/>
                    </a:lnB>
                    <a:solidFill>
                      <a:srgbClr val="F3F3F3">
                        <a:alpha val="26570"/>
                      </a:srgbClr>
                    </a:solidFill>
                  </a:tcPr>
                </a:tc>
                <a:extLst>
                  <a:ext uri="{0D108BD9-81ED-4DB2-BD59-A6C34878D82A}">
                    <a16:rowId xmlns:a16="http://schemas.microsoft.com/office/drawing/2014/main" val="10000"/>
                  </a:ext>
                </a:extLst>
              </a:tr>
              <a:tr h="2701642">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Extracción</a:t>
                      </a:r>
                      <a:r>
                        <a:rPr lang="en-US" sz="1200" b="1" baseline="0" dirty="0">
                          <a:solidFill>
                            <a:srgbClr val="F3F3F3"/>
                          </a:solidFill>
                          <a:latin typeface="Fira Sans Condensed Light"/>
                          <a:ea typeface="Fira Sans Condensed Light"/>
                          <a:cs typeface="Fira Sans Condensed Light"/>
                          <a:sym typeface="Fira Sans Condensed Light"/>
                        </a:rPr>
                        <a:t> de datos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aseline="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err="1">
                          <a:solidFill>
                            <a:srgbClr val="F3F3F3"/>
                          </a:solidFill>
                          <a:latin typeface="Fira Sans Condensed Light"/>
                          <a:ea typeface="Fira Sans Condensed Light"/>
                          <a:cs typeface="Fira Sans Condensed Light"/>
                          <a:sym typeface="Fira Sans Condensed Light"/>
                        </a:rPr>
                        <a:t>Presencial</a:t>
                      </a:r>
                      <a:r>
                        <a:rPr lang="en-US" sz="1200" b="1" baseline="0" dirty="0">
                          <a:solidFill>
                            <a:srgbClr val="F3F3F3"/>
                          </a:solidFill>
                          <a:latin typeface="Fira Sans Condensed Light"/>
                          <a:ea typeface="Fira Sans Condensed Light"/>
                          <a:cs typeface="Fira Sans Condensed Light"/>
                          <a:sym typeface="Fira Sans Condensed Light"/>
                        </a:rPr>
                        <a:t>:</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Martes 15:10 a 17:00, </a:t>
                      </a:r>
                      <a:endParaRPr lang="en-U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err="1">
                          <a:solidFill>
                            <a:srgbClr val="F3F3F3"/>
                          </a:solidFill>
                          <a:latin typeface="Fira Sans Condensed Light"/>
                          <a:ea typeface="Fira Sans Condensed Light"/>
                          <a:cs typeface="Fira Sans Condensed Light"/>
                          <a:sym typeface="Fira Sans Condensed Light"/>
                        </a:rPr>
                        <a:t>Miércoles</a:t>
                      </a:r>
                      <a:r>
                        <a:rPr lang="en-US" sz="1200" baseline="0" dirty="0">
                          <a:solidFill>
                            <a:srgbClr val="F3F3F3"/>
                          </a:solidFill>
                          <a:latin typeface="Fira Sans Condensed Light"/>
                          <a:ea typeface="Fira Sans Condensed Light"/>
                          <a:cs typeface="Fira Sans Condensed Light"/>
                          <a:sym typeface="Fira Sans Condensed Light"/>
                        </a:rPr>
                        <a:t> 15:10 a 17:00, Jueves 17:10 a 19:00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aseline="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a:solidFill>
                            <a:srgbClr val="F3F3F3"/>
                          </a:solidFill>
                          <a:latin typeface="Fira Sans Condensed Light"/>
                          <a:ea typeface="Fira Sans Condensed Light"/>
                          <a:cs typeface="Fira Sans Condensed Light"/>
                          <a:sym typeface="Fira Sans Condensed Light"/>
                        </a:rPr>
                        <a:t>Virtual:</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 Viernes 17:10 a 19:00 (</a:t>
                      </a:r>
                      <a:r>
                        <a:rPr lang="en-US" sz="1200" baseline="0" dirty="0" err="1">
                          <a:solidFill>
                            <a:srgbClr val="F3F3F3"/>
                          </a:solidFill>
                          <a:latin typeface="Fira Sans Condensed Light"/>
                          <a:ea typeface="Fira Sans Condensed Light"/>
                          <a:cs typeface="Fira Sans Condensed Light"/>
                          <a:sym typeface="Fira Sans Condensed Light"/>
                        </a:rPr>
                        <a:t>sesion</a:t>
                      </a:r>
                      <a:r>
                        <a:rPr lang="en-US" sz="1200" baseline="0" dirty="0">
                          <a:solidFill>
                            <a:srgbClr val="F3F3F3"/>
                          </a:solidFill>
                          <a:latin typeface="Fira Sans Condensed Light"/>
                          <a:ea typeface="Fira Sans Condensed Light"/>
                          <a:cs typeface="Fira Sans Condensed Light"/>
                          <a:sym typeface="Fira Sans Condensed Light"/>
                        </a:rPr>
                        <a:t> de </a:t>
                      </a:r>
                      <a:r>
                        <a:rPr lang="en-US" sz="1200" baseline="0" dirty="0" err="1">
                          <a:solidFill>
                            <a:srgbClr val="F3F3F3"/>
                          </a:solidFill>
                          <a:latin typeface="Fira Sans Condensed Light"/>
                          <a:ea typeface="Fira Sans Condensed Light"/>
                          <a:cs typeface="Fira Sans Condensed Light"/>
                          <a:sym typeface="Fira Sans Condensed Light"/>
                        </a:rPr>
                        <a:t>dudas</a:t>
                      </a:r>
                      <a:r>
                        <a:rPr lang="en-US" sz="1200" baseline="0" dirty="0">
                          <a:solidFill>
                            <a:srgbClr val="F3F3F3"/>
                          </a:solidFill>
                          <a:latin typeface="Fira Sans Condensed Light"/>
                          <a:ea typeface="Fira Sans Condensed Light"/>
                          <a:cs typeface="Fira Sans Condensed Light"/>
                          <a:sym typeface="Fira Sans Condensed Light"/>
                        </a:rPr>
                        <a:t>)</a:t>
                      </a: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Alfredo García </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Limpieza</a:t>
                      </a:r>
                      <a:r>
                        <a:rPr lang="en-US" sz="1200" b="1" baseline="0" dirty="0">
                          <a:solidFill>
                            <a:srgbClr val="F3F3F3"/>
                          </a:solidFill>
                          <a:latin typeface="Fira Sans Condensed Light"/>
                          <a:ea typeface="Fira Sans Condensed Light"/>
                          <a:cs typeface="Fira Sans Condensed Light"/>
                          <a:sym typeface="Fira Sans Condensed Light"/>
                        </a:rPr>
                        <a:t> y </a:t>
                      </a:r>
                      <a:r>
                        <a:rPr lang="en-US" sz="1200" b="1" baseline="0" dirty="0" err="1">
                          <a:solidFill>
                            <a:srgbClr val="F3F3F3"/>
                          </a:solidFill>
                          <a:latin typeface="Fira Sans Condensed Light"/>
                          <a:ea typeface="Fira Sans Condensed Light"/>
                          <a:cs typeface="Fira Sans Condensed Light"/>
                          <a:sym typeface="Fira Sans Condensed Light"/>
                        </a:rPr>
                        <a:t>manejo</a:t>
                      </a:r>
                      <a:r>
                        <a:rPr lang="en-US" sz="1200" b="1" baseline="0" dirty="0">
                          <a:solidFill>
                            <a:srgbClr val="F3F3F3"/>
                          </a:solidFill>
                          <a:latin typeface="Fira Sans Condensed Light"/>
                          <a:ea typeface="Fira Sans Condensed Light"/>
                          <a:cs typeface="Fira Sans Condensed Light"/>
                          <a:sym typeface="Fira Sans Condensed Light"/>
                        </a:rPr>
                        <a:t> de </a:t>
                      </a:r>
                      <a:r>
                        <a:rPr lang="en-US" sz="1200" b="1" baseline="0" dirty="0" err="1">
                          <a:solidFill>
                            <a:srgbClr val="F3F3F3"/>
                          </a:solidFill>
                          <a:latin typeface="Fira Sans Condensed Light"/>
                          <a:ea typeface="Fira Sans Condensed Light"/>
                          <a:cs typeface="Fira Sans Condensed Light"/>
                          <a:sym typeface="Fira Sans Condensed Light"/>
                        </a:rPr>
                        <a:t>datos</a:t>
                      </a:r>
                      <a:endParaRPr lang="en-US" sz="1200" b="1"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err="1">
                          <a:solidFill>
                            <a:srgbClr val="F3F3F3"/>
                          </a:solidFill>
                          <a:latin typeface="Fira Sans Condensed Light"/>
                          <a:ea typeface="Fira Sans Condensed Light"/>
                          <a:cs typeface="Fira Sans Condensed Light"/>
                          <a:sym typeface="Fira Sans Condensed Light"/>
                        </a:rPr>
                        <a:t>Presencial</a:t>
                      </a:r>
                      <a:r>
                        <a:rPr lang="en-US" sz="1200" b="1" baseline="0" dirty="0">
                          <a:solidFill>
                            <a:srgbClr val="F3F3F3"/>
                          </a:solidFill>
                          <a:latin typeface="Fira Sans Condensed Light"/>
                          <a:ea typeface="Fira Sans Condensed Light"/>
                          <a:cs typeface="Fira Sans Condensed Light"/>
                          <a:sym typeface="Fira Sans Condensed Light"/>
                        </a:rPr>
                        <a:t>:</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Martes 15:10 a 17:00, </a:t>
                      </a:r>
                      <a:endParaRPr lang="en-U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err="1">
                          <a:solidFill>
                            <a:srgbClr val="F3F3F3"/>
                          </a:solidFill>
                          <a:latin typeface="Fira Sans Condensed Light"/>
                          <a:ea typeface="Fira Sans Condensed Light"/>
                          <a:cs typeface="Fira Sans Condensed Light"/>
                          <a:sym typeface="Fira Sans Condensed Light"/>
                        </a:rPr>
                        <a:t>Miércoles</a:t>
                      </a:r>
                      <a:r>
                        <a:rPr lang="en-US" sz="1200" baseline="0" dirty="0">
                          <a:solidFill>
                            <a:srgbClr val="F3F3F3"/>
                          </a:solidFill>
                          <a:latin typeface="Fira Sans Condensed Light"/>
                          <a:ea typeface="Fira Sans Condensed Light"/>
                          <a:cs typeface="Fira Sans Condensed Light"/>
                          <a:sym typeface="Fira Sans Condensed Light"/>
                        </a:rPr>
                        <a:t> 15:10 a 17:00,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Jueves 17:10 a 19:00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aseline="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a:solidFill>
                            <a:srgbClr val="F3F3F3"/>
                          </a:solidFill>
                          <a:latin typeface="Fira Sans Condensed Light"/>
                          <a:ea typeface="Fira Sans Condensed Light"/>
                          <a:cs typeface="Fira Sans Condensed Light"/>
                          <a:sym typeface="Fira Sans Condensed Light"/>
                        </a:rPr>
                        <a:t>Virtual:</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 Viernes 17:10 a 19:00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a:t>
                      </a:r>
                      <a:r>
                        <a:rPr lang="en-US" sz="1200" baseline="0" dirty="0" err="1">
                          <a:solidFill>
                            <a:srgbClr val="F3F3F3"/>
                          </a:solidFill>
                          <a:latin typeface="Fira Sans Condensed Light"/>
                          <a:ea typeface="Fira Sans Condensed Light"/>
                          <a:cs typeface="Fira Sans Condensed Light"/>
                          <a:sym typeface="Fira Sans Condensed Light"/>
                        </a:rPr>
                        <a:t>sesion</a:t>
                      </a:r>
                      <a:r>
                        <a:rPr lang="en-US" sz="1200" baseline="0" dirty="0">
                          <a:solidFill>
                            <a:srgbClr val="F3F3F3"/>
                          </a:solidFill>
                          <a:latin typeface="Fira Sans Condensed Light"/>
                          <a:ea typeface="Fira Sans Condensed Light"/>
                          <a:cs typeface="Fira Sans Condensed Light"/>
                          <a:sym typeface="Fira Sans Condensed Light"/>
                        </a:rPr>
                        <a:t> de </a:t>
                      </a:r>
                      <a:r>
                        <a:rPr lang="en-US" sz="1200" baseline="0" dirty="0" err="1">
                          <a:solidFill>
                            <a:srgbClr val="F3F3F3"/>
                          </a:solidFill>
                          <a:latin typeface="Fira Sans Condensed Light"/>
                          <a:ea typeface="Fira Sans Condensed Light"/>
                          <a:cs typeface="Fira Sans Condensed Light"/>
                          <a:sym typeface="Fira Sans Condensed Light"/>
                        </a:rPr>
                        <a:t>dudas</a:t>
                      </a:r>
                      <a:r>
                        <a:rPr lang="en-US" sz="1200" baseline="0" dirty="0">
                          <a:solidFill>
                            <a:srgbClr val="F3F3F3"/>
                          </a:solidFill>
                          <a:latin typeface="Fira Sans Condensed Light"/>
                          <a:ea typeface="Fira Sans Condensed Light"/>
                          <a:cs typeface="Fira Sans Condensed Light"/>
                          <a:sym typeface="Fira Sans Condensed Light"/>
                        </a:rPr>
                        <a:t>)</a:t>
                      </a: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a:t>
                      </a: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Alfredo</a:t>
                      </a: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 García </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Modelos</a:t>
                      </a:r>
                      <a:r>
                        <a:rPr lang="en-US" sz="1200" b="1" dirty="0">
                          <a:solidFill>
                            <a:srgbClr val="F3F3F3"/>
                          </a:solidFill>
                          <a:latin typeface="Fira Sans Condensed Light"/>
                          <a:ea typeface="Fira Sans Condensed Light"/>
                          <a:cs typeface="Fira Sans Condensed Light"/>
                          <a:sym typeface="Fira Sans Condensed Light"/>
                        </a:rPr>
                        <a:t> de bases de </a:t>
                      </a:r>
                      <a:r>
                        <a:rPr lang="en-US" sz="1200" b="1" dirty="0" err="1">
                          <a:solidFill>
                            <a:srgbClr val="F3F3F3"/>
                          </a:solidFill>
                          <a:latin typeface="Fira Sans Condensed Light"/>
                          <a:ea typeface="Fira Sans Condensed Light"/>
                          <a:cs typeface="Fira Sans Condensed Light"/>
                          <a:sym typeface="Fira Sans Condensed Light"/>
                        </a:rPr>
                        <a:t>datos</a:t>
                      </a: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María Luisa Gómez</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Transformación</a:t>
                      </a:r>
                      <a:r>
                        <a:rPr lang="en-US" sz="1200" b="1" dirty="0">
                          <a:solidFill>
                            <a:srgbClr val="F3F3F3"/>
                          </a:solidFill>
                          <a:latin typeface="Fira Sans Condensed Light"/>
                          <a:ea typeface="Fira Sans Condensed Light"/>
                          <a:cs typeface="Fira Sans Condensed Light"/>
                          <a:sym typeface="Fira Sans Condensed Light"/>
                        </a:rPr>
                        <a:t> digital</a:t>
                      </a: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María Luisa Gómez</a:t>
                      </a:r>
                    </a:p>
                  </a:txBody>
                  <a:tcPr marL="91425" marR="91425" marT="91425" marB="91425" anchor="ctr">
                    <a:lnL w="19050" cap="flat" cmpd="sng">
                      <a:solidFill>
                        <a:srgbClr val="F3F3F3"/>
                      </a:solidFill>
                      <a:prstDash val="solid"/>
                      <a:round/>
                      <a:headEnd type="none" w="sm" len="sm"/>
                      <a:tailEnd type="none" w="sm" len="sm"/>
                    </a:lnL>
                    <a:lnR w="19050" cap="flat" cmpd="sng" algn="ctr">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1200" b="1" dirty="0">
                          <a:solidFill>
                            <a:srgbClr val="F3F3F3"/>
                          </a:solidFill>
                          <a:latin typeface="Fira Sans Condensed Light"/>
                          <a:ea typeface="Fira Sans Condensed Light"/>
                          <a:cs typeface="Fira Sans Condensed Light"/>
                          <a:sym typeface="Fira Sans Condensed Light"/>
                        </a:rPr>
                        <a:t>Extracción, transformación y cargado a base de datos.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s-ES" sz="120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rgbClr val="F3F3F3"/>
                          </a:solidFill>
                          <a:latin typeface="Fira Sans Condensed Light"/>
                          <a:ea typeface="Fira Sans Condensed Light"/>
                          <a:cs typeface="Fira Sans Condensed Light"/>
                          <a:sym typeface="Fira Sans Condensed Light"/>
                        </a:rPr>
                        <a:t>Facilitadores: Socio  Formador,</a:t>
                      </a:r>
                      <a:r>
                        <a:rPr lang="es-ES" sz="1200" baseline="0" dirty="0">
                          <a:solidFill>
                            <a:srgbClr val="F3F3F3"/>
                          </a:solidFill>
                          <a:latin typeface="Fira Sans Condensed Light"/>
                          <a:ea typeface="Fira Sans Condensed Light"/>
                          <a:cs typeface="Fira Sans Condensed Light"/>
                          <a:sym typeface="Fira Sans Condensed Light"/>
                        </a:rPr>
                        <a:t> </a:t>
                      </a:r>
                      <a:r>
                        <a:rPr lang="es-ES" sz="1200" dirty="0">
                          <a:solidFill>
                            <a:srgbClr val="F3F3F3"/>
                          </a:solidFill>
                          <a:latin typeface="Fira Sans Condensed Light"/>
                          <a:ea typeface="Fira Sans Condensed Light"/>
                          <a:cs typeface="Fira Sans Condensed Light"/>
                          <a:sym typeface="Fira Sans Condensed Light"/>
                        </a:rPr>
                        <a:t>María Luisa Gómez </a:t>
                      </a:r>
                      <a:r>
                        <a:rPr lang="es-ES" sz="1200" baseline="0" dirty="0">
                          <a:solidFill>
                            <a:srgbClr val="F3F3F3"/>
                          </a:solidFill>
                          <a:latin typeface="Fira Sans Condensed Light"/>
                          <a:ea typeface="Fira Sans Condensed Light"/>
                          <a:cs typeface="Fira Sans Condensed Light"/>
                          <a:sym typeface="Fira Sans Condensed Light"/>
                        </a:rPr>
                        <a:t>y Alfredo </a:t>
                      </a:r>
                      <a:r>
                        <a:rPr lang="es-ES" sz="1200" dirty="0">
                          <a:solidFill>
                            <a:srgbClr val="F3F3F3"/>
                          </a:solidFill>
                          <a:latin typeface="Fira Sans Condensed Light"/>
                          <a:ea typeface="Fira Sans Condensed Light"/>
                          <a:cs typeface="Fira Sans Condensed Light"/>
                          <a:sym typeface="Fira Sans Condensed Light"/>
                        </a:rPr>
                        <a:t>García </a:t>
                      </a: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lgn="ctr">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extLst>
                  <a:ext uri="{0D108BD9-81ED-4DB2-BD59-A6C34878D82A}">
                    <a16:rowId xmlns:a16="http://schemas.microsoft.com/office/drawing/2014/main" val="10001"/>
                  </a:ext>
                </a:extLst>
              </a:tr>
            </a:tbl>
          </a:graphicData>
        </a:graphic>
      </p:graphicFrame>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pic>
        <p:nvPicPr>
          <p:cNvPr id="30722" name="Picture 2" descr="Trucos para organizar mejor la agenda de trabajo | Organizar tareas"/>
          <p:cNvPicPr>
            <a:picLocks noChangeAspect="1" noChangeArrowheads="1"/>
          </p:cNvPicPr>
          <p:nvPr/>
        </p:nvPicPr>
        <p:blipFill>
          <a:blip r:embed="rId4"/>
          <a:srcRect/>
          <a:stretch>
            <a:fillRect/>
          </a:stretch>
        </p:blipFill>
        <p:spPr bwMode="auto">
          <a:xfrm>
            <a:off x="438511" y="365697"/>
            <a:ext cx="1414807" cy="874608"/>
          </a:xfrm>
          <a:prstGeom prst="rect">
            <a:avLst/>
          </a:prstGeom>
          <a:noFill/>
        </p:spPr>
      </p:pic>
      <p:cxnSp>
        <p:nvCxnSpPr>
          <p:cNvPr id="8" name="Google Shape;137;p27"/>
          <p:cNvCxnSpPr/>
          <p:nvPr/>
        </p:nvCxnSpPr>
        <p:spPr>
          <a:xfrm>
            <a:off x="2049722" y="487701"/>
            <a:ext cx="0" cy="63060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142461" y="5012016"/>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5">
          <a:extLst>
            <a:ext uri="{FF2B5EF4-FFF2-40B4-BE49-F238E27FC236}">
              <a16:creationId xmlns:a16="http://schemas.microsoft.com/office/drawing/2014/main" id="{114D7D67-1758-DC0C-35BE-FA96DAB2D667}"/>
            </a:ext>
          </a:extLst>
        </p:cNvPr>
        <p:cNvGrpSpPr/>
        <p:nvPr/>
      </p:nvGrpSpPr>
      <p:grpSpPr>
        <a:xfrm>
          <a:off x="0" y="0"/>
          <a:ext cx="0" cy="0"/>
          <a:chOff x="0" y="0"/>
          <a:chExt cx="0" cy="0"/>
        </a:xfrm>
      </p:grpSpPr>
      <p:sp>
        <p:nvSpPr>
          <p:cNvPr id="646" name="Google Shape;646;p33">
            <a:extLst>
              <a:ext uri="{FF2B5EF4-FFF2-40B4-BE49-F238E27FC236}">
                <a16:creationId xmlns:a16="http://schemas.microsoft.com/office/drawing/2014/main" id="{5E7F04DB-B0EA-7B3C-24C7-AB1AC9C9DF67}"/>
              </a:ext>
            </a:extLst>
          </p:cNvPr>
          <p:cNvSpPr txBox="1">
            <a:spLocks noGrp="1"/>
          </p:cNvSpPr>
          <p:nvPr>
            <p:ph type="title"/>
          </p:nvPr>
        </p:nvSpPr>
        <p:spPr>
          <a:xfrm>
            <a:off x="2143995" y="511261"/>
            <a:ext cx="3594651"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CONTENIDOS DE APRENDIZAJE</a:t>
            </a:r>
            <a:endParaRPr dirty="0"/>
          </a:p>
        </p:txBody>
      </p:sp>
      <p:pic>
        <p:nvPicPr>
          <p:cNvPr id="6" name="Picture 4" descr="The Learning Gate | Tec de Monterrey">
            <a:extLst>
              <a:ext uri="{FF2B5EF4-FFF2-40B4-BE49-F238E27FC236}">
                <a16:creationId xmlns:a16="http://schemas.microsoft.com/office/drawing/2014/main" id="{F475D967-D0D2-49AE-A5A7-6235ECF9C53E}"/>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pic>
        <p:nvPicPr>
          <p:cNvPr id="30722" name="Picture 2" descr="Trucos para organizar mejor la agenda de trabajo | Organizar tareas">
            <a:extLst>
              <a:ext uri="{FF2B5EF4-FFF2-40B4-BE49-F238E27FC236}">
                <a16:creationId xmlns:a16="http://schemas.microsoft.com/office/drawing/2014/main" id="{C525E370-8E96-BA14-6401-7F7EACF99C2A}"/>
              </a:ext>
            </a:extLst>
          </p:cNvPr>
          <p:cNvPicPr>
            <a:picLocks noChangeAspect="1" noChangeArrowheads="1"/>
          </p:cNvPicPr>
          <p:nvPr/>
        </p:nvPicPr>
        <p:blipFill>
          <a:blip r:embed="rId4"/>
          <a:srcRect/>
          <a:stretch>
            <a:fillRect/>
          </a:stretch>
        </p:blipFill>
        <p:spPr bwMode="auto">
          <a:xfrm>
            <a:off x="438511" y="365697"/>
            <a:ext cx="1414807" cy="874608"/>
          </a:xfrm>
          <a:prstGeom prst="rect">
            <a:avLst/>
          </a:prstGeom>
          <a:noFill/>
        </p:spPr>
      </p:pic>
      <p:cxnSp>
        <p:nvCxnSpPr>
          <p:cNvPr id="8" name="Google Shape;137;p27">
            <a:extLst>
              <a:ext uri="{FF2B5EF4-FFF2-40B4-BE49-F238E27FC236}">
                <a16:creationId xmlns:a16="http://schemas.microsoft.com/office/drawing/2014/main" id="{87D03635-BA78-82E7-2CF5-96B0D99D69C9}"/>
              </a:ext>
            </a:extLst>
          </p:cNvPr>
          <p:cNvCxnSpPr/>
          <p:nvPr/>
        </p:nvCxnSpPr>
        <p:spPr>
          <a:xfrm>
            <a:off x="2049722" y="487701"/>
            <a:ext cx="0" cy="63060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a:extLst>
              <a:ext uri="{FF2B5EF4-FFF2-40B4-BE49-F238E27FC236}">
                <a16:creationId xmlns:a16="http://schemas.microsoft.com/office/drawing/2014/main" id="{776B98F5-D8BD-974C-A573-56808A4BF65D}"/>
              </a:ext>
            </a:extLst>
          </p:cNvPr>
          <p:cNvSpPr txBox="1">
            <a:spLocks/>
          </p:cNvSpPr>
          <p:nvPr/>
        </p:nvSpPr>
        <p:spPr>
          <a:xfrm>
            <a:off x="142461" y="5012016"/>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767DBE4E-CC40-9985-9BED-FA5487314EB1}"/>
              </a:ext>
            </a:extLst>
          </p:cNvPr>
          <p:cNvPicPr>
            <a:picLocks noChangeAspect="1"/>
          </p:cNvPicPr>
          <p:nvPr/>
        </p:nvPicPr>
        <p:blipFill>
          <a:blip r:embed="rId5"/>
          <a:stretch>
            <a:fillRect/>
          </a:stretch>
        </p:blipFill>
        <p:spPr>
          <a:xfrm>
            <a:off x="1498134" y="1526730"/>
            <a:ext cx="5848598" cy="3363282"/>
          </a:xfrm>
          <a:prstGeom prst="rect">
            <a:avLst/>
          </a:prstGeom>
        </p:spPr>
      </p:pic>
    </p:spTree>
    <p:extLst>
      <p:ext uri="{BB962C8B-B14F-4D97-AF65-F5344CB8AC3E}">
        <p14:creationId xmlns:p14="http://schemas.microsoft.com/office/powerpoint/2010/main" val="1258095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39938" name="Picture 2" descr="Analítica de Datos Aplicada a Riesgos Laborales y Seguridad y Salud en el  Trabajo | Universidad de Bogotá Jorge Tadeo Lozano"/>
          <p:cNvPicPr>
            <a:picLocks noChangeAspect="1" noChangeArrowheads="1"/>
          </p:cNvPicPr>
          <p:nvPr/>
        </p:nvPicPr>
        <p:blipFill>
          <a:blip r:embed="rId3"/>
          <a:srcRect/>
          <a:stretch>
            <a:fillRect/>
          </a:stretch>
        </p:blipFill>
        <p:spPr bwMode="auto">
          <a:xfrm>
            <a:off x="-305" y="-40"/>
            <a:ext cx="9144000" cy="5143500"/>
          </a:xfrm>
          <a:prstGeom prst="rect">
            <a:avLst/>
          </a:prstGeom>
          <a:noFill/>
        </p:spPr>
      </p:pic>
      <p:sp>
        <p:nvSpPr>
          <p:cNvPr id="699" name="Google Shape;699;p36"/>
          <p:cNvSpPr txBox="1">
            <a:spLocks noGrp="1"/>
          </p:cNvSpPr>
          <p:nvPr>
            <p:ph type="title"/>
          </p:nvPr>
        </p:nvSpPr>
        <p:spPr>
          <a:xfrm>
            <a:off x="1066941" y="509825"/>
            <a:ext cx="432486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ANALÍTICA DE DATOS</a:t>
            </a:r>
            <a:endParaRPr dirty="0"/>
          </a:p>
        </p:txBody>
      </p:sp>
      <p:sp>
        <p:nvSpPr>
          <p:cNvPr id="700" name="Google Shape;700;p36"/>
          <p:cNvSpPr txBox="1">
            <a:spLocks noGrp="1"/>
          </p:cNvSpPr>
          <p:nvPr>
            <p:ph type="subTitle" idx="4294967295"/>
          </p:nvPr>
        </p:nvSpPr>
        <p:spPr>
          <a:xfrm>
            <a:off x="409516" y="3551274"/>
            <a:ext cx="2252610" cy="1210527"/>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Recuperación de varios tipos de datos de una o varias fuentes. Aplicando diversos tipos de herramientas y filtros.</a:t>
            </a:r>
          </a:p>
        </p:txBody>
      </p:sp>
      <p:sp>
        <p:nvSpPr>
          <p:cNvPr id="701" name="Google Shape;701;p36"/>
          <p:cNvSpPr txBox="1">
            <a:spLocks noGrp="1"/>
          </p:cNvSpPr>
          <p:nvPr>
            <p:ph type="subTitle" idx="4294967295"/>
          </p:nvPr>
        </p:nvSpPr>
        <p:spPr>
          <a:xfrm>
            <a:off x="3626068" y="3779475"/>
            <a:ext cx="1891861" cy="783900"/>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Cálculo de estadísticas básicas para describir la ubicación, escala y forma generales de los datos.</a:t>
            </a:r>
          </a:p>
        </p:txBody>
      </p:sp>
      <p:sp>
        <p:nvSpPr>
          <p:cNvPr id="702" name="Google Shape;702;p36"/>
          <p:cNvSpPr txBox="1">
            <a:spLocks noGrp="1"/>
          </p:cNvSpPr>
          <p:nvPr>
            <p:ph type="subTitle" idx="4294967295"/>
          </p:nvPr>
        </p:nvSpPr>
        <p:spPr>
          <a:xfrm>
            <a:off x="1387367" y="1125848"/>
            <a:ext cx="3142288"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3" name="Google Shape;703;p36"/>
          <p:cNvSpPr txBox="1">
            <a:spLocks noGrp="1"/>
          </p:cNvSpPr>
          <p:nvPr>
            <p:ph type="subTitle" idx="4294967295"/>
          </p:nvPr>
        </p:nvSpPr>
        <p:spPr>
          <a:xfrm>
            <a:off x="6897400" y="3779475"/>
            <a:ext cx="1532400" cy="783900"/>
          </a:xfrm>
          <a:prstGeom prst="rect">
            <a:avLst/>
          </a:prstGeom>
        </p:spPr>
        <p:txBody>
          <a:bodyPr spcFirstLastPara="1" wrap="square" lIns="91425" tIns="91425" rIns="91425" bIns="0" anchor="t" anchorCtr="0">
            <a:noAutofit/>
          </a:bodyPr>
          <a:lstStyle/>
          <a:p>
            <a:pPr marL="0" lvl="0" indent="0" algn="ctr" rtl="0">
              <a:lnSpc>
                <a:spcPct val="100000"/>
              </a:lnSpc>
              <a:spcBef>
                <a:spcPts val="0"/>
              </a:spcBef>
              <a:spcAft>
                <a:spcPts val="1600"/>
              </a:spcAft>
              <a:buNone/>
            </a:pPr>
            <a:r>
              <a:rPr lang="en" sz="1400" dirty="0">
                <a:solidFill>
                  <a:srgbClr val="F3F3F3"/>
                </a:solidFill>
              </a:rPr>
              <a:t>Busqueda de correlación de los datos.</a:t>
            </a:r>
            <a:endParaRPr sz="1400" dirty="0">
              <a:solidFill>
                <a:srgbClr val="F3F3F3"/>
              </a:solidFill>
            </a:endParaRPr>
          </a:p>
        </p:txBody>
      </p:sp>
      <p:sp>
        <p:nvSpPr>
          <p:cNvPr id="704" name="Google Shape;704;p36"/>
          <p:cNvSpPr txBox="1">
            <a:spLocks noGrp="1"/>
          </p:cNvSpPr>
          <p:nvPr>
            <p:ph type="subTitle" idx="4294967295"/>
          </p:nvPr>
        </p:nvSpPr>
        <p:spPr>
          <a:xfrm>
            <a:off x="4858350" y="1421791"/>
            <a:ext cx="2574321"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Representación gráfica de datos para identificar patrones y tendencias.</a:t>
            </a:r>
          </a:p>
        </p:txBody>
      </p:sp>
      <p:sp>
        <p:nvSpPr>
          <p:cNvPr id="705" name="Google Shape;705;p36"/>
          <p:cNvSpPr txBox="1">
            <a:spLocks noGrp="1"/>
          </p:cNvSpPr>
          <p:nvPr>
            <p:ph type="subTitle" idx="4294967295"/>
          </p:nvPr>
        </p:nvSpPr>
        <p:spPr>
          <a:xfrm>
            <a:off x="1954923" y="2013705"/>
            <a:ext cx="2096586"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PRE-PROCESAMIENTO</a:t>
            </a:r>
          </a:p>
        </p:txBody>
      </p:sp>
      <p:sp>
        <p:nvSpPr>
          <p:cNvPr id="706" name="Google Shape;706;p36"/>
          <p:cNvSpPr txBox="1">
            <a:spLocks noGrp="1"/>
          </p:cNvSpPr>
          <p:nvPr>
            <p:ph type="subTitle" idx="4294967295"/>
          </p:nvPr>
        </p:nvSpPr>
        <p:spPr>
          <a:xfrm>
            <a:off x="5288600" y="2125814"/>
            <a:ext cx="1658400"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VISUALIZACIÓN</a:t>
            </a:r>
          </a:p>
        </p:txBody>
      </p:sp>
      <p:sp>
        <p:nvSpPr>
          <p:cNvPr id="707" name="Google Shape;707;p36"/>
          <p:cNvSpPr txBox="1">
            <a:spLocks noGrp="1"/>
          </p:cNvSpPr>
          <p:nvPr>
            <p:ph type="subTitle" idx="4294967295"/>
          </p:nvPr>
        </p:nvSpPr>
        <p:spPr>
          <a:xfrm>
            <a:off x="325821" y="3283565"/>
            <a:ext cx="2378346"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EXTRACCIÓN DE DATOS</a:t>
            </a:r>
            <a:endParaRPr sz="1800" b="1" dirty="0">
              <a:solidFill>
                <a:srgbClr val="F3F3F3"/>
              </a:solidFill>
              <a:latin typeface="Rajdhani"/>
              <a:ea typeface="Rajdhani"/>
              <a:cs typeface="Rajdhani"/>
              <a:sym typeface="Rajdhani"/>
            </a:endParaRPr>
          </a:p>
        </p:txBody>
      </p:sp>
      <p:sp>
        <p:nvSpPr>
          <p:cNvPr id="708" name="Google Shape;708;p36"/>
          <p:cNvSpPr txBox="1">
            <a:spLocks noGrp="1"/>
          </p:cNvSpPr>
          <p:nvPr>
            <p:ph type="subTitle" idx="4294967295"/>
          </p:nvPr>
        </p:nvSpPr>
        <p:spPr>
          <a:xfrm>
            <a:off x="6834400" y="3401014"/>
            <a:ext cx="1658400"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CORRELACIÓN</a:t>
            </a:r>
            <a:endParaRPr sz="1800" b="1" dirty="0">
              <a:solidFill>
                <a:srgbClr val="F3F3F3"/>
              </a:solidFill>
              <a:latin typeface="Rajdhani"/>
              <a:ea typeface="Rajdhani"/>
              <a:cs typeface="Rajdhani"/>
              <a:sym typeface="Rajdhani"/>
            </a:endParaRPr>
          </a:p>
        </p:txBody>
      </p:sp>
      <p:sp>
        <p:nvSpPr>
          <p:cNvPr id="709" name="Google Shape;709;p36"/>
          <p:cNvSpPr txBox="1">
            <a:spLocks noGrp="1"/>
          </p:cNvSpPr>
          <p:nvPr>
            <p:ph type="subTitle" idx="4294967295"/>
          </p:nvPr>
        </p:nvSpPr>
        <p:spPr>
          <a:xfrm>
            <a:off x="3394842" y="3348462"/>
            <a:ext cx="2280745"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Resumen o Extracción de Características</a:t>
            </a:r>
          </a:p>
        </p:txBody>
      </p:sp>
      <p:sp>
        <p:nvSpPr>
          <p:cNvPr id="710" name="Google Shape;710;p36"/>
          <p:cNvSpPr/>
          <p:nvPr/>
        </p:nvSpPr>
        <p:spPr>
          <a:xfrm>
            <a:off x="11942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36"/>
          <p:cNvSpPr/>
          <p:nvPr/>
        </p:nvSpPr>
        <p:spPr>
          <a:xfrm>
            <a:off x="27399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36"/>
          <p:cNvSpPr/>
          <p:nvPr/>
        </p:nvSpPr>
        <p:spPr>
          <a:xfrm>
            <a:off x="42856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36"/>
          <p:cNvSpPr/>
          <p:nvPr/>
        </p:nvSpPr>
        <p:spPr>
          <a:xfrm>
            <a:off x="58313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36"/>
          <p:cNvSpPr/>
          <p:nvPr/>
        </p:nvSpPr>
        <p:spPr>
          <a:xfrm>
            <a:off x="73770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15" name="Google Shape;715;p36"/>
          <p:cNvCxnSpPr>
            <a:stCxn id="710" idx="6"/>
            <a:endCxn id="711" idx="2"/>
          </p:cNvCxnSpPr>
          <p:nvPr/>
        </p:nvCxnSpPr>
        <p:spPr>
          <a:xfrm>
            <a:off x="17669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6" name="Google Shape;716;p36"/>
          <p:cNvCxnSpPr>
            <a:stCxn id="711" idx="6"/>
            <a:endCxn id="712" idx="2"/>
          </p:cNvCxnSpPr>
          <p:nvPr/>
        </p:nvCxnSpPr>
        <p:spPr>
          <a:xfrm>
            <a:off x="33126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7" name="Google Shape;717;p36"/>
          <p:cNvCxnSpPr>
            <a:stCxn id="712" idx="6"/>
            <a:endCxn id="713" idx="2"/>
          </p:cNvCxnSpPr>
          <p:nvPr/>
        </p:nvCxnSpPr>
        <p:spPr>
          <a:xfrm>
            <a:off x="48583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8" name="Google Shape;718;p36"/>
          <p:cNvCxnSpPr>
            <a:stCxn id="713" idx="6"/>
            <a:endCxn id="714" idx="2"/>
          </p:cNvCxnSpPr>
          <p:nvPr/>
        </p:nvCxnSpPr>
        <p:spPr>
          <a:xfrm>
            <a:off x="6404050" y="2962725"/>
            <a:ext cx="972900" cy="0"/>
          </a:xfrm>
          <a:prstGeom prst="straightConnector1">
            <a:avLst/>
          </a:prstGeom>
          <a:noFill/>
          <a:ln w="19050" cap="flat" cmpd="sng">
            <a:solidFill>
              <a:srgbClr val="F3F3F3"/>
            </a:solidFill>
            <a:prstDash val="solid"/>
            <a:round/>
            <a:headEnd type="none" w="med" len="med"/>
            <a:tailEnd type="none" w="med" len="med"/>
          </a:ln>
        </p:spPr>
      </p:cxnSp>
      <p:grpSp>
        <p:nvGrpSpPr>
          <p:cNvPr id="2" name="Google Shape;719;p36"/>
          <p:cNvGrpSpPr/>
          <p:nvPr/>
        </p:nvGrpSpPr>
        <p:grpSpPr>
          <a:xfrm>
            <a:off x="1332734" y="2826965"/>
            <a:ext cx="288452" cy="275353"/>
            <a:chOff x="4126815" y="2760704"/>
            <a:chExt cx="380393" cy="363118"/>
          </a:xfrm>
        </p:grpSpPr>
        <p:sp>
          <p:nvSpPr>
            <p:cNvPr id="720" name="Google Shape;720;p36"/>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36"/>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36"/>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36"/>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 name="Google Shape;724;p36"/>
          <p:cNvGrpSpPr/>
          <p:nvPr/>
        </p:nvGrpSpPr>
        <p:grpSpPr>
          <a:xfrm>
            <a:off x="2885622" y="2824148"/>
            <a:ext cx="281276" cy="280987"/>
            <a:chOff x="2497275" y="2744159"/>
            <a:chExt cx="370930" cy="370549"/>
          </a:xfrm>
        </p:grpSpPr>
        <p:sp>
          <p:nvSpPr>
            <p:cNvPr id="725" name="Google Shape;725;p36"/>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36"/>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36"/>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36"/>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36"/>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36"/>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 name="Google Shape;732;p36"/>
          <p:cNvGrpSpPr/>
          <p:nvPr/>
        </p:nvGrpSpPr>
        <p:grpSpPr>
          <a:xfrm>
            <a:off x="4417196" y="2834313"/>
            <a:ext cx="309505" cy="260656"/>
            <a:chOff x="2171474" y="3369229"/>
            <a:chExt cx="408156" cy="343737"/>
          </a:xfrm>
        </p:grpSpPr>
        <p:sp>
          <p:nvSpPr>
            <p:cNvPr id="733" name="Google Shape;733;p36"/>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36"/>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5" name="Google Shape;735;p36"/>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6" name="Google Shape;736;p36"/>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 name="Google Shape;10847;p59"/>
          <p:cNvGrpSpPr/>
          <p:nvPr/>
        </p:nvGrpSpPr>
        <p:grpSpPr>
          <a:xfrm>
            <a:off x="7474663" y="2771373"/>
            <a:ext cx="377474" cy="335748"/>
            <a:chOff x="854261" y="2908813"/>
            <a:chExt cx="377474" cy="335748"/>
          </a:xfrm>
        </p:grpSpPr>
        <p:sp>
          <p:nvSpPr>
            <p:cNvPr id="49" name="Google Shape;10848;p59"/>
            <p:cNvSpPr/>
            <p:nvPr/>
          </p:nvSpPr>
          <p:spPr>
            <a:xfrm>
              <a:off x="896337" y="3079695"/>
              <a:ext cx="47391" cy="17091"/>
            </a:xfrm>
            <a:custGeom>
              <a:avLst/>
              <a:gdLst/>
              <a:ahLst/>
              <a:cxnLst/>
              <a:rect l="l" t="t" r="r" b="b"/>
              <a:pathLst>
                <a:path w="1489" h="537" extrusionOk="0">
                  <a:moveTo>
                    <a:pt x="179" y="1"/>
                  </a:moveTo>
                  <a:cubicBezTo>
                    <a:pt x="96" y="1"/>
                    <a:pt x="0" y="72"/>
                    <a:pt x="0" y="179"/>
                  </a:cubicBezTo>
                  <a:cubicBezTo>
                    <a:pt x="0" y="263"/>
                    <a:pt x="84" y="358"/>
                    <a:pt x="179" y="358"/>
                  </a:cubicBezTo>
                  <a:cubicBezTo>
                    <a:pt x="381" y="358"/>
                    <a:pt x="941" y="382"/>
                    <a:pt x="1227" y="525"/>
                  </a:cubicBezTo>
                  <a:cubicBezTo>
                    <a:pt x="1251" y="537"/>
                    <a:pt x="1274" y="537"/>
                    <a:pt x="1298" y="537"/>
                  </a:cubicBezTo>
                  <a:cubicBezTo>
                    <a:pt x="1358" y="537"/>
                    <a:pt x="1417" y="501"/>
                    <a:pt x="1453" y="441"/>
                  </a:cubicBezTo>
                  <a:cubicBezTo>
                    <a:pt x="1489" y="358"/>
                    <a:pt x="1465" y="251"/>
                    <a:pt x="1370" y="203"/>
                  </a:cubicBezTo>
                  <a:cubicBezTo>
                    <a:pt x="977" y="1"/>
                    <a:pt x="21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0849;p59"/>
            <p:cNvSpPr/>
            <p:nvPr/>
          </p:nvSpPr>
          <p:spPr>
            <a:xfrm>
              <a:off x="878514" y="3191855"/>
              <a:ext cx="11426" cy="52706"/>
            </a:xfrm>
            <a:custGeom>
              <a:avLst/>
              <a:gdLst/>
              <a:ahLst/>
              <a:cxnLst/>
              <a:rect l="l" t="t" r="r" b="b"/>
              <a:pathLst>
                <a:path w="359" h="1656" extrusionOk="0">
                  <a:moveTo>
                    <a:pt x="179" y="1"/>
                  </a:moveTo>
                  <a:cubicBezTo>
                    <a:pt x="84" y="1"/>
                    <a:pt x="1" y="72"/>
                    <a:pt x="1" y="180"/>
                  </a:cubicBezTo>
                  <a:lnTo>
                    <a:pt x="1" y="1477"/>
                  </a:lnTo>
                  <a:cubicBezTo>
                    <a:pt x="1" y="1561"/>
                    <a:pt x="72" y="1656"/>
                    <a:pt x="179" y="1656"/>
                  </a:cubicBezTo>
                  <a:cubicBezTo>
                    <a:pt x="287" y="1656"/>
                    <a:pt x="358" y="1585"/>
                    <a:pt x="358" y="1477"/>
                  </a:cubicBezTo>
                  <a:lnTo>
                    <a:pt x="358" y="180"/>
                  </a:lnTo>
                  <a:cubicBezTo>
                    <a:pt x="358" y="72"/>
                    <a:pt x="287"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0850;p59"/>
            <p:cNvSpPr/>
            <p:nvPr/>
          </p:nvSpPr>
          <p:spPr>
            <a:xfrm>
              <a:off x="854261" y="3050159"/>
              <a:ext cx="219451" cy="194052"/>
            </a:xfrm>
            <a:custGeom>
              <a:avLst/>
              <a:gdLst/>
              <a:ahLst/>
              <a:cxnLst/>
              <a:rect l="l" t="t" r="r" b="b"/>
              <a:pathLst>
                <a:path w="6895" h="6097" extrusionOk="0">
                  <a:moveTo>
                    <a:pt x="6406" y="679"/>
                  </a:moveTo>
                  <a:lnTo>
                    <a:pt x="6466" y="929"/>
                  </a:lnTo>
                  <a:cubicBezTo>
                    <a:pt x="6490" y="1000"/>
                    <a:pt x="6478" y="1072"/>
                    <a:pt x="6418" y="1119"/>
                  </a:cubicBezTo>
                  <a:lnTo>
                    <a:pt x="6311" y="1226"/>
                  </a:lnTo>
                  <a:lnTo>
                    <a:pt x="6073" y="988"/>
                  </a:lnTo>
                  <a:lnTo>
                    <a:pt x="6406" y="679"/>
                  </a:lnTo>
                  <a:close/>
                  <a:moveTo>
                    <a:pt x="3192" y="345"/>
                  </a:moveTo>
                  <a:lnTo>
                    <a:pt x="3192" y="1060"/>
                  </a:lnTo>
                  <a:cubicBezTo>
                    <a:pt x="3192" y="1179"/>
                    <a:pt x="3156" y="1298"/>
                    <a:pt x="3108" y="1405"/>
                  </a:cubicBezTo>
                  <a:lnTo>
                    <a:pt x="3025" y="1584"/>
                  </a:lnTo>
                  <a:cubicBezTo>
                    <a:pt x="3013" y="1607"/>
                    <a:pt x="3013" y="1619"/>
                    <a:pt x="3013" y="1655"/>
                  </a:cubicBezTo>
                  <a:lnTo>
                    <a:pt x="3013" y="2024"/>
                  </a:lnTo>
                  <a:cubicBezTo>
                    <a:pt x="2989" y="2286"/>
                    <a:pt x="2894" y="2524"/>
                    <a:pt x="2715" y="2703"/>
                  </a:cubicBezTo>
                  <a:cubicBezTo>
                    <a:pt x="2537" y="2881"/>
                    <a:pt x="2275" y="2965"/>
                    <a:pt x="2025" y="2965"/>
                  </a:cubicBezTo>
                  <a:cubicBezTo>
                    <a:pt x="1525" y="2953"/>
                    <a:pt x="1120" y="2500"/>
                    <a:pt x="1120" y="1988"/>
                  </a:cubicBezTo>
                  <a:lnTo>
                    <a:pt x="1120" y="1655"/>
                  </a:lnTo>
                  <a:cubicBezTo>
                    <a:pt x="1120" y="1619"/>
                    <a:pt x="1120" y="1596"/>
                    <a:pt x="1108" y="1584"/>
                  </a:cubicBezTo>
                  <a:lnTo>
                    <a:pt x="1001" y="1369"/>
                  </a:lnTo>
                  <a:cubicBezTo>
                    <a:pt x="953" y="1298"/>
                    <a:pt x="941" y="1203"/>
                    <a:pt x="941" y="1119"/>
                  </a:cubicBezTo>
                  <a:lnTo>
                    <a:pt x="941" y="1107"/>
                  </a:lnTo>
                  <a:cubicBezTo>
                    <a:pt x="941" y="691"/>
                    <a:pt x="1287" y="345"/>
                    <a:pt x="1703" y="345"/>
                  </a:cubicBezTo>
                  <a:close/>
                  <a:moveTo>
                    <a:pt x="2442" y="3227"/>
                  </a:moveTo>
                  <a:cubicBezTo>
                    <a:pt x="2454" y="3298"/>
                    <a:pt x="2477" y="3334"/>
                    <a:pt x="2489" y="3381"/>
                  </a:cubicBezTo>
                  <a:lnTo>
                    <a:pt x="2323" y="3548"/>
                  </a:lnTo>
                  <a:cubicBezTo>
                    <a:pt x="2251" y="3620"/>
                    <a:pt x="2156" y="3655"/>
                    <a:pt x="2059" y="3655"/>
                  </a:cubicBezTo>
                  <a:cubicBezTo>
                    <a:pt x="1962" y="3655"/>
                    <a:pt x="1864" y="3620"/>
                    <a:pt x="1787" y="3548"/>
                  </a:cubicBezTo>
                  <a:lnTo>
                    <a:pt x="1644" y="3393"/>
                  </a:lnTo>
                  <a:cubicBezTo>
                    <a:pt x="1656" y="3358"/>
                    <a:pt x="1668" y="3286"/>
                    <a:pt x="1668" y="3227"/>
                  </a:cubicBezTo>
                  <a:cubicBezTo>
                    <a:pt x="1775" y="3262"/>
                    <a:pt x="1894" y="3286"/>
                    <a:pt x="2013" y="3286"/>
                  </a:cubicBezTo>
                  <a:lnTo>
                    <a:pt x="2061" y="3286"/>
                  </a:lnTo>
                  <a:cubicBezTo>
                    <a:pt x="2192" y="3286"/>
                    <a:pt x="2323" y="3274"/>
                    <a:pt x="2442" y="3227"/>
                  </a:cubicBezTo>
                  <a:close/>
                  <a:moveTo>
                    <a:pt x="1680" y="0"/>
                  </a:moveTo>
                  <a:cubicBezTo>
                    <a:pt x="1072" y="0"/>
                    <a:pt x="584" y="500"/>
                    <a:pt x="584" y="1107"/>
                  </a:cubicBezTo>
                  <a:lnTo>
                    <a:pt x="584" y="1119"/>
                  </a:lnTo>
                  <a:cubicBezTo>
                    <a:pt x="584" y="1250"/>
                    <a:pt x="608" y="1405"/>
                    <a:pt x="668" y="1524"/>
                  </a:cubicBezTo>
                  <a:lnTo>
                    <a:pt x="763" y="1703"/>
                  </a:lnTo>
                  <a:lnTo>
                    <a:pt x="763" y="1988"/>
                  </a:lnTo>
                  <a:cubicBezTo>
                    <a:pt x="763" y="2429"/>
                    <a:pt x="977" y="2834"/>
                    <a:pt x="1311" y="3072"/>
                  </a:cubicBezTo>
                  <a:lnTo>
                    <a:pt x="1311" y="3215"/>
                  </a:lnTo>
                  <a:cubicBezTo>
                    <a:pt x="1311" y="3310"/>
                    <a:pt x="1251" y="3381"/>
                    <a:pt x="1156" y="3417"/>
                  </a:cubicBezTo>
                  <a:lnTo>
                    <a:pt x="537" y="3596"/>
                  </a:lnTo>
                  <a:cubicBezTo>
                    <a:pt x="227" y="3679"/>
                    <a:pt x="1" y="3965"/>
                    <a:pt x="1" y="4286"/>
                  </a:cubicBezTo>
                  <a:lnTo>
                    <a:pt x="1" y="5917"/>
                  </a:lnTo>
                  <a:cubicBezTo>
                    <a:pt x="1" y="6001"/>
                    <a:pt x="72" y="6096"/>
                    <a:pt x="179" y="6096"/>
                  </a:cubicBezTo>
                  <a:cubicBezTo>
                    <a:pt x="287" y="6096"/>
                    <a:pt x="358" y="6013"/>
                    <a:pt x="358" y="5917"/>
                  </a:cubicBezTo>
                  <a:lnTo>
                    <a:pt x="358" y="4310"/>
                  </a:lnTo>
                  <a:cubicBezTo>
                    <a:pt x="358" y="4143"/>
                    <a:pt x="477" y="3977"/>
                    <a:pt x="644" y="3929"/>
                  </a:cubicBezTo>
                  <a:lnTo>
                    <a:pt x="1263" y="3751"/>
                  </a:lnTo>
                  <a:cubicBezTo>
                    <a:pt x="1322" y="3739"/>
                    <a:pt x="1370" y="3715"/>
                    <a:pt x="1418" y="3679"/>
                  </a:cubicBezTo>
                  <a:lnTo>
                    <a:pt x="1513" y="3786"/>
                  </a:lnTo>
                  <a:cubicBezTo>
                    <a:pt x="1668" y="3929"/>
                    <a:pt x="1846" y="3989"/>
                    <a:pt x="2037" y="3989"/>
                  </a:cubicBezTo>
                  <a:cubicBezTo>
                    <a:pt x="2227" y="3989"/>
                    <a:pt x="2406" y="3917"/>
                    <a:pt x="2561" y="3786"/>
                  </a:cubicBezTo>
                  <a:lnTo>
                    <a:pt x="2727" y="3620"/>
                  </a:lnTo>
                  <a:cubicBezTo>
                    <a:pt x="2799" y="3655"/>
                    <a:pt x="2870" y="3679"/>
                    <a:pt x="2966" y="3679"/>
                  </a:cubicBezTo>
                  <a:lnTo>
                    <a:pt x="3001" y="3679"/>
                  </a:lnTo>
                  <a:cubicBezTo>
                    <a:pt x="3144" y="3679"/>
                    <a:pt x="3275" y="3620"/>
                    <a:pt x="3382" y="3524"/>
                  </a:cubicBezTo>
                  <a:lnTo>
                    <a:pt x="5823" y="1226"/>
                  </a:lnTo>
                  <a:lnTo>
                    <a:pt x="6061" y="1465"/>
                  </a:lnTo>
                  <a:lnTo>
                    <a:pt x="3239" y="4274"/>
                  </a:lnTo>
                  <a:cubicBezTo>
                    <a:pt x="3061" y="4453"/>
                    <a:pt x="2977" y="4679"/>
                    <a:pt x="2977" y="4917"/>
                  </a:cubicBezTo>
                  <a:lnTo>
                    <a:pt x="2977" y="5906"/>
                  </a:lnTo>
                  <a:cubicBezTo>
                    <a:pt x="2977" y="6001"/>
                    <a:pt x="3049" y="6096"/>
                    <a:pt x="3156" y="6096"/>
                  </a:cubicBezTo>
                  <a:cubicBezTo>
                    <a:pt x="3239" y="6096"/>
                    <a:pt x="3335" y="6013"/>
                    <a:pt x="3335" y="5906"/>
                  </a:cubicBezTo>
                  <a:lnTo>
                    <a:pt x="3335" y="4917"/>
                  </a:lnTo>
                  <a:cubicBezTo>
                    <a:pt x="3335" y="4763"/>
                    <a:pt x="3394" y="4620"/>
                    <a:pt x="3501" y="4513"/>
                  </a:cubicBezTo>
                  <a:lnTo>
                    <a:pt x="6656" y="1357"/>
                  </a:lnTo>
                  <a:cubicBezTo>
                    <a:pt x="6787" y="1226"/>
                    <a:pt x="6847" y="1024"/>
                    <a:pt x="6799" y="834"/>
                  </a:cubicBezTo>
                  <a:lnTo>
                    <a:pt x="6704" y="405"/>
                  </a:lnTo>
                  <a:lnTo>
                    <a:pt x="6823" y="298"/>
                  </a:lnTo>
                  <a:cubicBezTo>
                    <a:pt x="6895" y="238"/>
                    <a:pt x="6895" y="119"/>
                    <a:pt x="6823" y="60"/>
                  </a:cubicBezTo>
                  <a:cubicBezTo>
                    <a:pt x="6793" y="24"/>
                    <a:pt x="6749" y="6"/>
                    <a:pt x="6704" y="6"/>
                  </a:cubicBezTo>
                  <a:cubicBezTo>
                    <a:pt x="6659" y="6"/>
                    <a:pt x="6615" y="24"/>
                    <a:pt x="6585" y="60"/>
                  </a:cubicBezTo>
                  <a:lnTo>
                    <a:pt x="3156" y="3274"/>
                  </a:lnTo>
                  <a:cubicBezTo>
                    <a:pt x="3132" y="3310"/>
                    <a:pt x="3073" y="3334"/>
                    <a:pt x="3025" y="3334"/>
                  </a:cubicBezTo>
                  <a:lnTo>
                    <a:pt x="2977" y="3334"/>
                  </a:lnTo>
                  <a:cubicBezTo>
                    <a:pt x="2870" y="3334"/>
                    <a:pt x="2787" y="3250"/>
                    <a:pt x="2787" y="3143"/>
                  </a:cubicBezTo>
                  <a:lnTo>
                    <a:pt x="2787" y="3084"/>
                  </a:lnTo>
                  <a:cubicBezTo>
                    <a:pt x="2846" y="3036"/>
                    <a:pt x="2906" y="3000"/>
                    <a:pt x="2942" y="2953"/>
                  </a:cubicBezTo>
                  <a:cubicBezTo>
                    <a:pt x="3204" y="2715"/>
                    <a:pt x="3335" y="2381"/>
                    <a:pt x="3335" y="2024"/>
                  </a:cubicBezTo>
                  <a:lnTo>
                    <a:pt x="3335" y="1703"/>
                  </a:lnTo>
                  <a:lnTo>
                    <a:pt x="3406" y="1572"/>
                  </a:lnTo>
                  <a:cubicBezTo>
                    <a:pt x="3477" y="1417"/>
                    <a:pt x="3525" y="1238"/>
                    <a:pt x="3525" y="1072"/>
                  </a:cubicBezTo>
                  <a:lnTo>
                    <a:pt x="3525" y="179"/>
                  </a:lnTo>
                  <a:cubicBezTo>
                    <a:pt x="3525" y="95"/>
                    <a:pt x="3454" y="0"/>
                    <a:pt x="3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0851;p59"/>
            <p:cNvSpPr/>
            <p:nvPr/>
          </p:nvSpPr>
          <p:spPr>
            <a:xfrm>
              <a:off x="1008115" y="2908813"/>
              <a:ext cx="223620" cy="188355"/>
            </a:xfrm>
            <a:custGeom>
              <a:avLst/>
              <a:gdLst/>
              <a:ahLst/>
              <a:cxnLst/>
              <a:rect l="l" t="t" r="r" b="b"/>
              <a:pathLst>
                <a:path w="7026" h="5918" extrusionOk="0">
                  <a:moveTo>
                    <a:pt x="560" y="0"/>
                  </a:moveTo>
                  <a:cubicBezTo>
                    <a:pt x="263" y="0"/>
                    <a:pt x="1" y="238"/>
                    <a:pt x="1" y="548"/>
                  </a:cubicBezTo>
                  <a:lnTo>
                    <a:pt x="1" y="5251"/>
                  </a:lnTo>
                  <a:cubicBezTo>
                    <a:pt x="1" y="5334"/>
                    <a:pt x="84" y="5429"/>
                    <a:pt x="179" y="5429"/>
                  </a:cubicBezTo>
                  <a:cubicBezTo>
                    <a:pt x="287" y="5429"/>
                    <a:pt x="358" y="5358"/>
                    <a:pt x="358" y="5251"/>
                  </a:cubicBezTo>
                  <a:lnTo>
                    <a:pt x="358" y="548"/>
                  </a:lnTo>
                  <a:cubicBezTo>
                    <a:pt x="358" y="441"/>
                    <a:pt x="453" y="357"/>
                    <a:pt x="560" y="357"/>
                  </a:cubicBezTo>
                  <a:lnTo>
                    <a:pt x="6478" y="357"/>
                  </a:lnTo>
                  <a:cubicBezTo>
                    <a:pt x="6585" y="357"/>
                    <a:pt x="6668" y="441"/>
                    <a:pt x="6668" y="548"/>
                  </a:cubicBezTo>
                  <a:lnTo>
                    <a:pt x="6668" y="5370"/>
                  </a:lnTo>
                  <a:cubicBezTo>
                    <a:pt x="6668" y="5477"/>
                    <a:pt x="6585" y="5560"/>
                    <a:pt x="6478" y="5560"/>
                  </a:cubicBezTo>
                  <a:lnTo>
                    <a:pt x="2525" y="5560"/>
                  </a:lnTo>
                  <a:cubicBezTo>
                    <a:pt x="2430" y="5560"/>
                    <a:pt x="2346" y="5632"/>
                    <a:pt x="2346" y="5739"/>
                  </a:cubicBezTo>
                  <a:cubicBezTo>
                    <a:pt x="2346" y="5846"/>
                    <a:pt x="2418" y="5917"/>
                    <a:pt x="2525" y="5917"/>
                  </a:cubicBezTo>
                  <a:lnTo>
                    <a:pt x="6478" y="5917"/>
                  </a:lnTo>
                  <a:cubicBezTo>
                    <a:pt x="6775" y="5917"/>
                    <a:pt x="7025" y="5679"/>
                    <a:pt x="7025" y="5370"/>
                  </a:cubicBezTo>
                  <a:lnTo>
                    <a:pt x="7025" y="548"/>
                  </a:lnTo>
                  <a:cubicBezTo>
                    <a:pt x="7025" y="226"/>
                    <a:pt x="6787" y="0"/>
                    <a:pt x="64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0852;p59"/>
            <p:cNvSpPr/>
            <p:nvPr/>
          </p:nvSpPr>
          <p:spPr>
            <a:xfrm>
              <a:off x="1037301" y="2944046"/>
              <a:ext cx="165248" cy="105763"/>
            </a:xfrm>
            <a:custGeom>
              <a:avLst/>
              <a:gdLst/>
              <a:ahLst/>
              <a:cxnLst/>
              <a:rect l="l" t="t" r="r" b="b"/>
              <a:pathLst>
                <a:path w="5192" h="3323" extrusionOk="0">
                  <a:moveTo>
                    <a:pt x="4084" y="0"/>
                  </a:moveTo>
                  <a:cubicBezTo>
                    <a:pt x="4001" y="0"/>
                    <a:pt x="3906" y="84"/>
                    <a:pt x="3906" y="179"/>
                  </a:cubicBezTo>
                  <a:cubicBezTo>
                    <a:pt x="3906" y="286"/>
                    <a:pt x="3989" y="358"/>
                    <a:pt x="4084" y="358"/>
                  </a:cubicBezTo>
                  <a:lnTo>
                    <a:pt x="4596" y="358"/>
                  </a:lnTo>
                  <a:lnTo>
                    <a:pt x="2691" y="2263"/>
                  </a:lnTo>
                  <a:lnTo>
                    <a:pt x="1882" y="1465"/>
                  </a:lnTo>
                  <a:cubicBezTo>
                    <a:pt x="1846" y="1429"/>
                    <a:pt x="1801" y="1411"/>
                    <a:pt x="1758" y="1411"/>
                  </a:cubicBezTo>
                  <a:cubicBezTo>
                    <a:pt x="1715" y="1411"/>
                    <a:pt x="1673" y="1429"/>
                    <a:pt x="1644" y="1465"/>
                  </a:cubicBezTo>
                  <a:lnTo>
                    <a:pt x="72" y="3036"/>
                  </a:lnTo>
                  <a:cubicBezTo>
                    <a:pt x="1" y="3120"/>
                    <a:pt x="1" y="3215"/>
                    <a:pt x="72" y="3275"/>
                  </a:cubicBezTo>
                  <a:cubicBezTo>
                    <a:pt x="96" y="3310"/>
                    <a:pt x="143" y="3322"/>
                    <a:pt x="191" y="3322"/>
                  </a:cubicBezTo>
                  <a:cubicBezTo>
                    <a:pt x="239" y="3322"/>
                    <a:pt x="274" y="3310"/>
                    <a:pt x="310" y="3275"/>
                  </a:cubicBezTo>
                  <a:lnTo>
                    <a:pt x="1763" y="1822"/>
                  </a:lnTo>
                  <a:lnTo>
                    <a:pt x="2572" y="2620"/>
                  </a:lnTo>
                  <a:cubicBezTo>
                    <a:pt x="2608" y="2661"/>
                    <a:pt x="2653" y="2682"/>
                    <a:pt x="2696" y="2682"/>
                  </a:cubicBezTo>
                  <a:cubicBezTo>
                    <a:pt x="2739" y="2682"/>
                    <a:pt x="2781" y="2661"/>
                    <a:pt x="2810" y="2620"/>
                  </a:cubicBezTo>
                  <a:lnTo>
                    <a:pt x="4835" y="596"/>
                  </a:lnTo>
                  <a:lnTo>
                    <a:pt x="4835" y="1108"/>
                  </a:lnTo>
                  <a:cubicBezTo>
                    <a:pt x="4835" y="1191"/>
                    <a:pt x="4906" y="1286"/>
                    <a:pt x="5013" y="1286"/>
                  </a:cubicBezTo>
                  <a:cubicBezTo>
                    <a:pt x="5120" y="1286"/>
                    <a:pt x="5192" y="1215"/>
                    <a:pt x="5192" y="1108"/>
                  </a:cubicBezTo>
                  <a:lnTo>
                    <a:pt x="5192" y="179"/>
                  </a:lnTo>
                  <a:cubicBezTo>
                    <a:pt x="5192" y="84"/>
                    <a:pt x="5120" y="0"/>
                    <a:pt x="50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 name="Google Shape;10333;p58"/>
          <p:cNvGrpSpPr/>
          <p:nvPr/>
        </p:nvGrpSpPr>
        <p:grpSpPr>
          <a:xfrm>
            <a:off x="5938210" y="2774479"/>
            <a:ext cx="379489" cy="366046"/>
            <a:chOff x="1284212" y="1963766"/>
            <a:chExt cx="379489" cy="366046"/>
          </a:xfrm>
        </p:grpSpPr>
        <p:sp>
          <p:nvSpPr>
            <p:cNvPr id="55" name="Google Shape;10334;p58"/>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2"/>
                </a:solidFill>
              </a:endParaRPr>
            </a:p>
          </p:txBody>
        </p:sp>
        <p:sp>
          <p:nvSpPr>
            <p:cNvPr id="56" name="Google Shape;10335;p58"/>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4"/>
                </a:solidFill>
              </a:endParaRPr>
            </a:p>
          </p:txBody>
        </p:sp>
      </p:grpSp>
      <p:pic>
        <p:nvPicPr>
          <p:cNvPr id="48"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a:off x="1029794" y="473489"/>
            <a:ext cx="0" cy="726300"/>
          </a:xfrm>
          <a:prstGeom prst="straightConnector1">
            <a:avLst/>
          </a:prstGeom>
          <a:noFill/>
          <a:ln w="19050" cap="flat" cmpd="sng">
            <a:solidFill>
              <a:srgbClr val="F3F3F3"/>
            </a:solidFill>
            <a:prstDash val="solid"/>
            <a:round/>
            <a:headEnd type="oval" w="med" len="med"/>
            <a:tailEnd type="oval" w="med" len="med"/>
          </a:ln>
        </p:spPr>
      </p:cxnSp>
      <p:grpSp>
        <p:nvGrpSpPr>
          <p:cNvPr id="57" name="Google Shape;260;p31"/>
          <p:cNvGrpSpPr/>
          <p:nvPr/>
        </p:nvGrpSpPr>
        <p:grpSpPr>
          <a:xfrm>
            <a:off x="501355" y="604619"/>
            <a:ext cx="379958" cy="379958"/>
            <a:chOff x="1190625" y="238125"/>
            <a:chExt cx="5219200" cy="5219200"/>
          </a:xfrm>
        </p:grpSpPr>
        <p:sp>
          <p:nvSpPr>
            <p:cNvPr id="58" name="Google Shape;261;p31"/>
            <p:cNvSpPr/>
            <p:nvPr/>
          </p:nvSpPr>
          <p:spPr>
            <a:xfrm>
              <a:off x="2188775"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262;p31"/>
            <p:cNvSpPr/>
            <p:nvPr/>
          </p:nvSpPr>
          <p:spPr>
            <a:xfrm>
              <a:off x="5258300"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263;p31"/>
            <p:cNvSpPr/>
            <p:nvPr/>
          </p:nvSpPr>
          <p:spPr>
            <a:xfrm>
              <a:off x="2188775"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264;p31"/>
            <p:cNvSpPr/>
            <p:nvPr/>
          </p:nvSpPr>
          <p:spPr>
            <a:xfrm>
              <a:off x="5258300"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65;p31"/>
            <p:cNvSpPr/>
            <p:nvPr/>
          </p:nvSpPr>
          <p:spPr>
            <a:xfrm>
              <a:off x="2188775" y="1236275"/>
              <a:ext cx="3222875" cy="3222875"/>
            </a:xfrm>
            <a:custGeom>
              <a:avLst/>
              <a:gdLst/>
              <a:ahLst/>
              <a:cxnLst/>
              <a:rect l="l" t="t" r="r" b="b"/>
              <a:pathLst>
                <a:path w="128915" h="128915" extrusionOk="0">
                  <a:moveTo>
                    <a:pt x="110517" y="6133"/>
                  </a:moveTo>
                  <a:lnTo>
                    <a:pt x="110517" y="18398"/>
                  </a:lnTo>
                  <a:lnTo>
                    <a:pt x="122782" y="18398"/>
                  </a:lnTo>
                  <a:lnTo>
                    <a:pt x="122782" y="110517"/>
                  </a:lnTo>
                  <a:lnTo>
                    <a:pt x="110517" y="110517"/>
                  </a:lnTo>
                  <a:lnTo>
                    <a:pt x="110517" y="122782"/>
                  </a:lnTo>
                  <a:lnTo>
                    <a:pt x="18398" y="122782"/>
                  </a:lnTo>
                  <a:lnTo>
                    <a:pt x="18398" y="110517"/>
                  </a:lnTo>
                  <a:lnTo>
                    <a:pt x="6133" y="110517"/>
                  </a:lnTo>
                  <a:lnTo>
                    <a:pt x="6133" y="18398"/>
                  </a:lnTo>
                  <a:lnTo>
                    <a:pt x="18398" y="18398"/>
                  </a:lnTo>
                  <a:lnTo>
                    <a:pt x="18398" y="6133"/>
                  </a:lnTo>
                  <a:close/>
                  <a:moveTo>
                    <a:pt x="12266" y="1"/>
                  </a:moveTo>
                  <a:lnTo>
                    <a:pt x="12266" y="12266"/>
                  </a:lnTo>
                  <a:lnTo>
                    <a:pt x="1" y="12266"/>
                  </a:lnTo>
                  <a:lnTo>
                    <a:pt x="1" y="116649"/>
                  </a:lnTo>
                  <a:lnTo>
                    <a:pt x="12266" y="116649"/>
                  </a:lnTo>
                  <a:lnTo>
                    <a:pt x="12266" y="128914"/>
                  </a:lnTo>
                  <a:lnTo>
                    <a:pt x="116649" y="128914"/>
                  </a:lnTo>
                  <a:lnTo>
                    <a:pt x="116649" y="116649"/>
                  </a:lnTo>
                  <a:lnTo>
                    <a:pt x="128914" y="116649"/>
                  </a:lnTo>
                  <a:lnTo>
                    <a:pt x="128914" y="12266"/>
                  </a:lnTo>
                  <a:lnTo>
                    <a:pt x="116649" y="12266"/>
                  </a:lnTo>
                  <a:lnTo>
                    <a:pt x="116649"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266;p31"/>
            <p:cNvSpPr/>
            <p:nvPr/>
          </p:nvSpPr>
          <p:spPr>
            <a:xfrm>
              <a:off x="2495400"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267;p31"/>
            <p:cNvSpPr/>
            <p:nvPr/>
          </p:nvSpPr>
          <p:spPr>
            <a:xfrm>
              <a:off x="2802025"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268;p31"/>
            <p:cNvSpPr/>
            <p:nvPr/>
          </p:nvSpPr>
          <p:spPr>
            <a:xfrm>
              <a:off x="31094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269;p31"/>
            <p:cNvSpPr/>
            <p:nvPr/>
          </p:nvSpPr>
          <p:spPr>
            <a:xfrm>
              <a:off x="3416100"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270;p31"/>
            <p:cNvSpPr/>
            <p:nvPr/>
          </p:nvSpPr>
          <p:spPr>
            <a:xfrm>
              <a:off x="3723550"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271;p31"/>
            <p:cNvSpPr/>
            <p:nvPr/>
          </p:nvSpPr>
          <p:spPr>
            <a:xfrm>
              <a:off x="4030175" y="1849525"/>
              <a:ext cx="154150" cy="154150"/>
            </a:xfrm>
            <a:custGeom>
              <a:avLst/>
              <a:gdLst/>
              <a:ahLst/>
              <a:cxnLst/>
              <a:rect l="l" t="t" r="r" b="b"/>
              <a:pathLst>
                <a:path w="6166" h="6166" extrusionOk="0">
                  <a:moveTo>
                    <a:pt x="0" y="1"/>
                  </a:moveTo>
                  <a:lnTo>
                    <a:pt x="0"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272;p31"/>
            <p:cNvSpPr/>
            <p:nvPr/>
          </p:nvSpPr>
          <p:spPr>
            <a:xfrm>
              <a:off x="4337625"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273;p31"/>
            <p:cNvSpPr/>
            <p:nvPr/>
          </p:nvSpPr>
          <p:spPr>
            <a:xfrm>
              <a:off x="4644250" y="1849525"/>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274;p31"/>
            <p:cNvSpPr/>
            <p:nvPr/>
          </p:nvSpPr>
          <p:spPr>
            <a:xfrm>
              <a:off x="2802025"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275;p31"/>
            <p:cNvSpPr/>
            <p:nvPr/>
          </p:nvSpPr>
          <p:spPr>
            <a:xfrm>
              <a:off x="3109475" y="15429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276;p31"/>
            <p:cNvSpPr/>
            <p:nvPr/>
          </p:nvSpPr>
          <p:spPr>
            <a:xfrm>
              <a:off x="3416100"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277;p31"/>
            <p:cNvSpPr/>
            <p:nvPr/>
          </p:nvSpPr>
          <p:spPr>
            <a:xfrm>
              <a:off x="3723550"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278;p31"/>
            <p:cNvSpPr/>
            <p:nvPr/>
          </p:nvSpPr>
          <p:spPr>
            <a:xfrm>
              <a:off x="4030175" y="1542900"/>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279;p31"/>
            <p:cNvSpPr/>
            <p:nvPr/>
          </p:nvSpPr>
          <p:spPr>
            <a:xfrm>
              <a:off x="4337625"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280;p31"/>
            <p:cNvSpPr/>
            <p:nvPr/>
          </p:nvSpPr>
          <p:spPr>
            <a:xfrm>
              <a:off x="4644250" y="1542900"/>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281;p31"/>
            <p:cNvSpPr/>
            <p:nvPr/>
          </p:nvSpPr>
          <p:spPr>
            <a:xfrm>
              <a:off x="49516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282;p31"/>
            <p:cNvSpPr/>
            <p:nvPr/>
          </p:nvSpPr>
          <p:spPr>
            <a:xfrm>
              <a:off x="2495400"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283;p31"/>
            <p:cNvSpPr/>
            <p:nvPr/>
          </p:nvSpPr>
          <p:spPr>
            <a:xfrm>
              <a:off x="2802025" y="21569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284;p31"/>
            <p:cNvSpPr/>
            <p:nvPr/>
          </p:nvSpPr>
          <p:spPr>
            <a:xfrm>
              <a:off x="4644250" y="2771050"/>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285;p31"/>
            <p:cNvSpPr/>
            <p:nvPr/>
          </p:nvSpPr>
          <p:spPr>
            <a:xfrm>
              <a:off x="4644250" y="2463600"/>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286;p31"/>
            <p:cNvSpPr/>
            <p:nvPr/>
          </p:nvSpPr>
          <p:spPr>
            <a:xfrm>
              <a:off x="4644250" y="3077675"/>
              <a:ext cx="154150" cy="154150"/>
            </a:xfrm>
            <a:custGeom>
              <a:avLst/>
              <a:gdLst/>
              <a:ahLst/>
              <a:cxnLst/>
              <a:rect l="l" t="t" r="r" b="b"/>
              <a:pathLst>
                <a:path w="6166" h="6166" extrusionOk="0">
                  <a:moveTo>
                    <a:pt x="0" y="0"/>
                  </a:moveTo>
                  <a:lnTo>
                    <a:pt x="0" y="6166"/>
                  </a:lnTo>
                  <a:lnTo>
                    <a:pt x="6165" y="6166"/>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287;p31"/>
            <p:cNvSpPr/>
            <p:nvPr/>
          </p:nvSpPr>
          <p:spPr>
            <a:xfrm>
              <a:off x="4644250" y="3385125"/>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288;p31"/>
            <p:cNvSpPr/>
            <p:nvPr/>
          </p:nvSpPr>
          <p:spPr>
            <a:xfrm>
              <a:off x="4951675"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289;p31"/>
            <p:cNvSpPr/>
            <p:nvPr/>
          </p:nvSpPr>
          <p:spPr>
            <a:xfrm>
              <a:off x="4951675"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290;p31"/>
            <p:cNvSpPr/>
            <p:nvPr/>
          </p:nvSpPr>
          <p:spPr>
            <a:xfrm>
              <a:off x="4951675"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291;p31"/>
            <p:cNvSpPr/>
            <p:nvPr/>
          </p:nvSpPr>
          <p:spPr>
            <a:xfrm>
              <a:off x="4951675"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292;p31"/>
            <p:cNvSpPr/>
            <p:nvPr/>
          </p:nvSpPr>
          <p:spPr>
            <a:xfrm>
              <a:off x="4644250" y="21569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293;p31"/>
            <p:cNvSpPr/>
            <p:nvPr/>
          </p:nvSpPr>
          <p:spPr>
            <a:xfrm>
              <a:off x="4951675"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294;p31"/>
            <p:cNvSpPr/>
            <p:nvPr/>
          </p:nvSpPr>
          <p:spPr>
            <a:xfrm>
              <a:off x="2495400"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295;p31"/>
            <p:cNvSpPr/>
            <p:nvPr/>
          </p:nvSpPr>
          <p:spPr>
            <a:xfrm>
              <a:off x="2802025"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296;p31"/>
            <p:cNvSpPr/>
            <p:nvPr/>
          </p:nvSpPr>
          <p:spPr>
            <a:xfrm>
              <a:off x="31094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297;p31"/>
            <p:cNvSpPr/>
            <p:nvPr/>
          </p:nvSpPr>
          <p:spPr>
            <a:xfrm>
              <a:off x="3416100"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298;p31"/>
            <p:cNvSpPr/>
            <p:nvPr/>
          </p:nvSpPr>
          <p:spPr>
            <a:xfrm>
              <a:off x="3723550"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299;p31"/>
            <p:cNvSpPr/>
            <p:nvPr/>
          </p:nvSpPr>
          <p:spPr>
            <a:xfrm>
              <a:off x="4030175" y="3691750"/>
              <a:ext cx="154150" cy="154150"/>
            </a:xfrm>
            <a:custGeom>
              <a:avLst/>
              <a:gdLst/>
              <a:ahLst/>
              <a:cxnLst/>
              <a:rect l="l" t="t" r="r" b="b"/>
              <a:pathLst>
                <a:path w="6166" h="6166" extrusionOk="0">
                  <a:moveTo>
                    <a:pt x="0" y="0"/>
                  </a:moveTo>
                  <a:lnTo>
                    <a:pt x="0"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300;p31"/>
            <p:cNvSpPr/>
            <p:nvPr/>
          </p:nvSpPr>
          <p:spPr>
            <a:xfrm>
              <a:off x="2495400"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301;p31"/>
            <p:cNvSpPr/>
            <p:nvPr/>
          </p:nvSpPr>
          <p:spPr>
            <a:xfrm>
              <a:off x="2802025" y="3385125"/>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302;p31"/>
            <p:cNvSpPr/>
            <p:nvPr/>
          </p:nvSpPr>
          <p:spPr>
            <a:xfrm>
              <a:off x="4337625"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303;p31"/>
            <p:cNvSpPr/>
            <p:nvPr/>
          </p:nvSpPr>
          <p:spPr>
            <a:xfrm>
              <a:off x="4644250" y="3691750"/>
              <a:ext cx="154150" cy="154150"/>
            </a:xfrm>
            <a:custGeom>
              <a:avLst/>
              <a:gdLst/>
              <a:ahLst/>
              <a:cxnLst/>
              <a:rect l="l" t="t" r="r" b="b"/>
              <a:pathLst>
                <a:path w="6166" h="6166" extrusionOk="0">
                  <a:moveTo>
                    <a:pt x="0" y="0"/>
                  </a:moveTo>
                  <a:lnTo>
                    <a:pt x="0" y="6165"/>
                  </a:lnTo>
                  <a:lnTo>
                    <a:pt x="6165" y="6165"/>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304;p31"/>
            <p:cNvSpPr/>
            <p:nvPr/>
          </p:nvSpPr>
          <p:spPr>
            <a:xfrm>
              <a:off x="2802025"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305;p31"/>
            <p:cNvSpPr/>
            <p:nvPr/>
          </p:nvSpPr>
          <p:spPr>
            <a:xfrm>
              <a:off x="3109475" y="39991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306;p31"/>
            <p:cNvSpPr/>
            <p:nvPr/>
          </p:nvSpPr>
          <p:spPr>
            <a:xfrm>
              <a:off x="2802025" y="2771050"/>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307;p31"/>
            <p:cNvSpPr/>
            <p:nvPr/>
          </p:nvSpPr>
          <p:spPr>
            <a:xfrm>
              <a:off x="2802025" y="2463600"/>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308;p31"/>
            <p:cNvSpPr/>
            <p:nvPr/>
          </p:nvSpPr>
          <p:spPr>
            <a:xfrm>
              <a:off x="2802025" y="3077675"/>
              <a:ext cx="154150" cy="154150"/>
            </a:xfrm>
            <a:custGeom>
              <a:avLst/>
              <a:gdLst/>
              <a:ahLst/>
              <a:cxnLst/>
              <a:rect l="l" t="t" r="r" b="b"/>
              <a:pathLst>
                <a:path w="6166" h="6166" extrusionOk="0">
                  <a:moveTo>
                    <a:pt x="1" y="0"/>
                  </a:moveTo>
                  <a:lnTo>
                    <a:pt x="1" y="6166"/>
                  </a:lnTo>
                  <a:lnTo>
                    <a:pt x="6166" y="6166"/>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309;p31"/>
            <p:cNvSpPr/>
            <p:nvPr/>
          </p:nvSpPr>
          <p:spPr>
            <a:xfrm>
              <a:off x="2495400"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310;p31"/>
            <p:cNvSpPr/>
            <p:nvPr/>
          </p:nvSpPr>
          <p:spPr>
            <a:xfrm>
              <a:off x="2495400"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311;p31"/>
            <p:cNvSpPr/>
            <p:nvPr/>
          </p:nvSpPr>
          <p:spPr>
            <a:xfrm>
              <a:off x="2495400"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312;p31"/>
            <p:cNvSpPr/>
            <p:nvPr/>
          </p:nvSpPr>
          <p:spPr>
            <a:xfrm>
              <a:off x="3416100"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313;p31"/>
            <p:cNvSpPr/>
            <p:nvPr/>
          </p:nvSpPr>
          <p:spPr>
            <a:xfrm>
              <a:off x="3723550"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314;p31"/>
            <p:cNvSpPr/>
            <p:nvPr/>
          </p:nvSpPr>
          <p:spPr>
            <a:xfrm>
              <a:off x="4030175" y="3999175"/>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315;p31"/>
            <p:cNvSpPr/>
            <p:nvPr/>
          </p:nvSpPr>
          <p:spPr>
            <a:xfrm>
              <a:off x="4337625"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316;p31"/>
            <p:cNvSpPr/>
            <p:nvPr/>
          </p:nvSpPr>
          <p:spPr>
            <a:xfrm>
              <a:off x="4644250" y="39991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317;p31"/>
            <p:cNvSpPr/>
            <p:nvPr/>
          </p:nvSpPr>
          <p:spPr>
            <a:xfrm>
              <a:off x="49516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318;p31"/>
            <p:cNvSpPr/>
            <p:nvPr/>
          </p:nvSpPr>
          <p:spPr>
            <a:xfrm>
              <a:off x="1728025" y="775525"/>
              <a:ext cx="4144375" cy="4144375"/>
            </a:xfrm>
            <a:custGeom>
              <a:avLst/>
              <a:gdLst/>
              <a:ahLst/>
              <a:cxnLst/>
              <a:rect l="l" t="t" r="r" b="b"/>
              <a:pathLst>
                <a:path w="165775" h="165775" extrusionOk="0">
                  <a:moveTo>
                    <a:pt x="154097" y="12298"/>
                  </a:moveTo>
                  <a:lnTo>
                    <a:pt x="154097" y="154292"/>
                  </a:lnTo>
                  <a:lnTo>
                    <a:pt x="12102" y="154292"/>
                  </a:lnTo>
                  <a:lnTo>
                    <a:pt x="12102" y="12298"/>
                  </a:lnTo>
                  <a:close/>
                  <a:moveTo>
                    <a:pt x="14810" y="0"/>
                  </a:moveTo>
                  <a:lnTo>
                    <a:pt x="14810" y="6166"/>
                  </a:lnTo>
                  <a:lnTo>
                    <a:pt x="5970" y="6166"/>
                  </a:lnTo>
                  <a:lnTo>
                    <a:pt x="5970" y="19181"/>
                  </a:lnTo>
                  <a:lnTo>
                    <a:pt x="0" y="19181"/>
                  </a:lnTo>
                  <a:lnTo>
                    <a:pt x="0" y="25314"/>
                  </a:lnTo>
                  <a:lnTo>
                    <a:pt x="5970" y="25314"/>
                  </a:lnTo>
                  <a:lnTo>
                    <a:pt x="5970" y="37579"/>
                  </a:lnTo>
                  <a:lnTo>
                    <a:pt x="0" y="37579"/>
                  </a:lnTo>
                  <a:lnTo>
                    <a:pt x="0" y="43711"/>
                  </a:lnTo>
                  <a:lnTo>
                    <a:pt x="5970" y="43711"/>
                  </a:lnTo>
                  <a:lnTo>
                    <a:pt x="5970" y="55944"/>
                  </a:lnTo>
                  <a:lnTo>
                    <a:pt x="0" y="55944"/>
                  </a:lnTo>
                  <a:lnTo>
                    <a:pt x="0" y="62109"/>
                  </a:lnTo>
                  <a:lnTo>
                    <a:pt x="5970" y="62109"/>
                  </a:lnTo>
                  <a:lnTo>
                    <a:pt x="5970" y="74341"/>
                  </a:lnTo>
                  <a:lnTo>
                    <a:pt x="0" y="74341"/>
                  </a:lnTo>
                  <a:lnTo>
                    <a:pt x="0" y="80474"/>
                  </a:lnTo>
                  <a:lnTo>
                    <a:pt x="5970" y="80474"/>
                  </a:lnTo>
                  <a:lnTo>
                    <a:pt x="5970" y="92739"/>
                  </a:lnTo>
                  <a:lnTo>
                    <a:pt x="0" y="92739"/>
                  </a:lnTo>
                  <a:lnTo>
                    <a:pt x="0" y="98871"/>
                  </a:lnTo>
                  <a:lnTo>
                    <a:pt x="5970" y="98871"/>
                  </a:lnTo>
                  <a:lnTo>
                    <a:pt x="5970" y="111136"/>
                  </a:lnTo>
                  <a:lnTo>
                    <a:pt x="0" y="111136"/>
                  </a:lnTo>
                  <a:lnTo>
                    <a:pt x="0" y="117269"/>
                  </a:lnTo>
                  <a:lnTo>
                    <a:pt x="5970" y="117269"/>
                  </a:lnTo>
                  <a:lnTo>
                    <a:pt x="5970" y="129501"/>
                  </a:lnTo>
                  <a:lnTo>
                    <a:pt x="0" y="129501"/>
                  </a:lnTo>
                  <a:lnTo>
                    <a:pt x="0" y="135634"/>
                  </a:lnTo>
                  <a:lnTo>
                    <a:pt x="5970" y="135634"/>
                  </a:lnTo>
                  <a:lnTo>
                    <a:pt x="5970" y="147899"/>
                  </a:lnTo>
                  <a:lnTo>
                    <a:pt x="0" y="147899"/>
                  </a:lnTo>
                  <a:lnTo>
                    <a:pt x="0" y="154031"/>
                  </a:lnTo>
                  <a:lnTo>
                    <a:pt x="5970" y="154031"/>
                  </a:lnTo>
                  <a:lnTo>
                    <a:pt x="5970" y="160425"/>
                  </a:lnTo>
                  <a:lnTo>
                    <a:pt x="15332" y="160425"/>
                  </a:lnTo>
                  <a:lnTo>
                    <a:pt x="15332" y="165775"/>
                  </a:lnTo>
                  <a:lnTo>
                    <a:pt x="21497" y="165775"/>
                  </a:lnTo>
                  <a:lnTo>
                    <a:pt x="21497" y="160425"/>
                  </a:lnTo>
                  <a:lnTo>
                    <a:pt x="33729" y="160425"/>
                  </a:lnTo>
                  <a:lnTo>
                    <a:pt x="33729" y="165775"/>
                  </a:lnTo>
                  <a:lnTo>
                    <a:pt x="39862" y="165775"/>
                  </a:lnTo>
                  <a:lnTo>
                    <a:pt x="39862" y="160425"/>
                  </a:lnTo>
                  <a:lnTo>
                    <a:pt x="52127" y="160425"/>
                  </a:lnTo>
                  <a:lnTo>
                    <a:pt x="52127" y="165775"/>
                  </a:lnTo>
                  <a:lnTo>
                    <a:pt x="58260" y="165775"/>
                  </a:lnTo>
                  <a:lnTo>
                    <a:pt x="58260" y="160425"/>
                  </a:lnTo>
                  <a:lnTo>
                    <a:pt x="70492" y="160425"/>
                  </a:lnTo>
                  <a:lnTo>
                    <a:pt x="70492" y="165775"/>
                  </a:lnTo>
                  <a:lnTo>
                    <a:pt x="76657" y="165775"/>
                  </a:lnTo>
                  <a:lnTo>
                    <a:pt x="76657" y="160425"/>
                  </a:lnTo>
                  <a:lnTo>
                    <a:pt x="88890" y="160425"/>
                  </a:lnTo>
                  <a:lnTo>
                    <a:pt x="88890" y="165775"/>
                  </a:lnTo>
                  <a:lnTo>
                    <a:pt x="95022" y="165775"/>
                  </a:lnTo>
                  <a:lnTo>
                    <a:pt x="95022" y="160425"/>
                  </a:lnTo>
                  <a:lnTo>
                    <a:pt x="107287" y="160425"/>
                  </a:lnTo>
                  <a:lnTo>
                    <a:pt x="107287" y="165775"/>
                  </a:lnTo>
                  <a:lnTo>
                    <a:pt x="113420" y="165775"/>
                  </a:lnTo>
                  <a:lnTo>
                    <a:pt x="113420" y="160425"/>
                  </a:lnTo>
                  <a:lnTo>
                    <a:pt x="125685" y="160425"/>
                  </a:lnTo>
                  <a:lnTo>
                    <a:pt x="125685" y="165775"/>
                  </a:lnTo>
                  <a:lnTo>
                    <a:pt x="131817" y="165775"/>
                  </a:lnTo>
                  <a:lnTo>
                    <a:pt x="131817" y="160425"/>
                  </a:lnTo>
                  <a:lnTo>
                    <a:pt x="144050" y="160425"/>
                  </a:lnTo>
                  <a:lnTo>
                    <a:pt x="144050" y="165775"/>
                  </a:lnTo>
                  <a:lnTo>
                    <a:pt x="150182" y="165775"/>
                  </a:lnTo>
                  <a:lnTo>
                    <a:pt x="150182" y="160425"/>
                  </a:lnTo>
                  <a:lnTo>
                    <a:pt x="160229" y="160425"/>
                  </a:lnTo>
                  <a:lnTo>
                    <a:pt x="160229" y="150215"/>
                  </a:lnTo>
                  <a:lnTo>
                    <a:pt x="165775" y="150215"/>
                  </a:lnTo>
                  <a:lnTo>
                    <a:pt x="165775" y="144050"/>
                  </a:lnTo>
                  <a:lnTo>
                    <a:pt x="160229" y="144050"/>
                  </a:lnTo>
                  <a:lnTo>
                    <a:pt x="160229" y="131817"/>
                  </a:lnTo>
                  <a:lnTo>
                    <a:pt x="165775" y="131817"/>
                  </a:lnTo>
                  <a:lnTo>
                    <a:pt x="165775" y="125685"/>
                  </a:lnTo>
                  <a:lnTo>
                    <a:pt x="160229" y="125685"/>
                  </a:lnTo>
                  <a:lnTo>
                    <a:pt x="160229" y="113420"/>
                  </a:lnTo>
                  <a:lnTo>
                    <a:pt x="165775" y="113420"/>
                  </a:lnTo>
                  <a:lnTo>
                    <a:pt x="165775" y="107287"/>
                  </a:lnTo>
                  <a:lnTo>
                    <a:pt x="160229" y="107287"/>
                  </a:lnTo>
                  <a:lnTo>
                    <a:pt x="160229" y="95022"/>
                  </a:lnTo>
                  <a:lnTo>
                    <a:pt x="165775" y="95022"/>
                  </a:lnTo>
                  <a:lnTo>
                    <a:pt x="165775" y="88890"/>
                  </a:lnTo>
                  <a:lnTo>
                    <a:pt x="160229" y="88890"/>
                  </a:lnTo>
                  <a:lnTo>
                    <a:pt x="160229" y="76657"/>
                  </a:lnTo>
                  <a:lnTo>
                    <a:pt x="165775" y="76657"/>
                  </a:lnTo>
                  <a:lnTo>
                    <a:pt x="165775" y="70525"/>
                  </a:lnTo>
                  <a:lnTo>
                    <a:pt x="160229" y="70525"/>
                  </a:lnTo>
                  <a:lnTo>
                    <a:pt x="160229" y="58260"/>
                  </a:lnTo>
                  <a:lnTo>
                    <a:pt x="165775" y="58260"/>
                  </a:lnTo>
                  <a:lnTo>
                    <a:pt x="165775" y="52127"/>
                  </a:lnTo>
                  <a:lnTo>
                    <a:pt x="160229" y="52127"/>
                  </a:lnTo>
                  <a:lnTo>
                    <a:pt x="160229" y="39862"/>
                  </a:lnTo>
                  <a:lnTo>
                    <a:pt x="165775" y="39862"/>
                  </a:lnTo>
                  <a:lnTo>
                    <a:pt x="165775" y="33729"/>
                  </a:lnTo>
                  <a:lnTo>
                    <a:pt x="160229" y="33729"/>
                  </a:lnTo>
                  <a:lnTo>
                    <a:pt x="160229" y="21497"/>
                  </a:lnTo>
                  <a:lnTo>
                    <a:pt x="165775" y="21497"/>
                  </a:lnTo>
                  <a:lnTo>
                    <a:pt x="165775" y="15332"/>
                  </a:lnTo>
                  <a:lnTo>
                    <a:pt x="160229" y="15332"/>
                  </a:lnTo>
                  <a:lnTo>
                    <a:pt x="160229" y="6166"/>
                  </a:lnTo>
                  <a:lnTo>
                    <a:pt x="149660" y="6166"/>
                  </a:lnTo>
                  <a:lnTo>
                    <a:pt x="149660" y="0"/>
                  </a:lnTo>
                  <a:lnTo>
                    <a:pt x="143528" y="0"/>
                  </a:lnTo>
                  <a:lnTo>
                    <a:pt x="143528" y="6166"/>
                  </a:lnTo>
                  <a:lnTo>
                    <a:pt x="131263" y="6166"/>
                  </a:lnTo>
                  <a:lnTo>
                    <a:pt x="131263" y="0"/>
                  </a:lnTo>
                  <a:lnTo>
                    <a:pt x="125130" y="0"/>
                  </a:lnTo>
                  <a:lnTo>
                    <a:pt x="125130" y="6166"/>
                  </a:lnTo>
                  <a:lnTo>
                    <a:pt x="112898" y="6166"/>
                  </a:lnTo>
                  <a:lnTo>
                    <a:pt x="112898" y="0"/>
                  </a:lnTo>
                  <a:lnTo>
                    <a:pt x="106733" y="0"/>
                  </a:lnTo>
                  <a:lnTo>
                    <a:pt x="106733" y="6166"/>
                  </a:lnTo>
                  <a:lnTo>
                    <a:pt x="94500" y="6166"/>
                  </a:lnTo>
                  <a:lnTo>
                    <a:pt x="94500" y="0"/>
                  </a:lnTo>
                  <a:lnTo>
                    <a:pt x="88368" y="0"/>
                  </a:lnTo>
                  <a:lnTo>
                    <a:pt x="88368" y="6166"/>
                  </a:lnTo>
                  <a:lnTo>
                    <a:pt x="76103" y="6166"/>
                  </a:lnTo>
                  <a:lnTo>
                    <a:pt x="76103" y="0"/>
                  </a:lnTo>
                  <a:lnTo>
                    <a:pt x="69970" y="0"/>
                  </a:lnTo>
                  <a:lnTo>
                    <a:pt x="69970" y="6166"/>
                  </a:lnTo>
                  <a:lnTo>
                    <a:pt x="57738" y="6166"/>
                  </a:lnTo>
                  <a:lnTo>
                    <a:pt x="57738" y="0"/>
                  </a:lnTo>
                  <a:lnTo>
                    <a:pt x="51572" y="0"/>
                  </a:lnTo>
                  <a:lnTo>
                    <a:pt x="51572" y="6166"/>
                  </a:lnTo>
                  <a:lnTo>
                    <a:pt x="39340" y="6166"/>
                  </a:lnTo>
                  <a:lnTo>
                    <a:pt x="39340" y="0"/>
                  </a:lnTo>
                  <a:lnTo>
                    <a:pt x="33208" y="0"/>
                  </a:lnTo>
                  <a:lnTo>
                    <a:pt x="33208" y="6166"/>
                  </a:lnTo>
                  <a:lnTo>
                    <a:pt x="20942" y="6166"/>
                  </a:lnTo>
                  <a:lnTo>
                    <a:pt x="20942"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319;p31"/>
            <p:cNvSpPr/>
            <p:nvPr/>
          </p:nvSpPr>
          <p:spPr>
            <a:xfrm>
              <a:off x="3416100" y="2463600"/>
              <a:ext cx="460775" cy="768225"/>
            </a:xfrm>
            <a:custGeom>
              <a:avLst/>
              <a:gdLst/>
              <a:ahLst/>
              <a:cxnLst/>
              <a:rect l="l" t="t" r="r" b="b"/>
              <a:pathLst>
                <a:path w="18431" h="30729" extrusionOk="0">
                  <a:moveTo>
                    <a:pt x="12298" y="6166"/>
                  </a:moveTo>
                  <a:lnTo>
                    <a:pt x="12298" y="15789"/>
                  </a:lnTo>
                  <a:lnTo>
                    <a:pt x="6166" y="15789"/>
                  </a:lnTo>
                  <a:lnTo>
                    <a:pt x="6166" y="6166"/>
                  </a:lnTo>
                  <a:close/>
                  <a:moveTo>
                    <a:pt x="1" y="1"/>
                  </a:moveTo>
                  <a:lnTo>
                    <a:pt x="1" y="30729"/>
                  </a:lnTo>
                  <a:lnTo>
                    <a:pt x="6166" y="30729"/>
                  </a:lnTo>
                  <a:lnTo>
                    <a:pt x="6166" y="21921"/>
                  </a:lnTo>
                  <a:lnTo>
                    <a:pt x="12298" y="21921"/>
                  </a:lnTo>
                  <a:lnTo>
                    <a:pt x="12298" y="30729"/>
                  </a:lnTo>
                  <a:lnTo>
                    <a:pt x="18431" y="30729"/>
                  </a:lnTo>
                  <a:lnTo>
                    <a:pt x="18431"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320;p31"/>
            <p:cNvSpPr/>
            <p:nvPr/>
          </p:nvSpPr>
          <p:spPr>
            <a:xfrm>
              <a:off x="4030175" y="2463600"/>
              <a:ext cx="159050" cy="777200"/>
            </a:xfrm>
            <a:custGeom>
              <a:avLst/>
              <a:gdLst/>
              <a:ahLst/>
              <a:cxnLst/>
              <a:rect l="l" t="t" r="r" b="b"/>
              <a:pathLst>
                <a:path w="6362" h="31088" extrusionOk="0">
                  <a:moveTo>
                    <a:pt x="6166" y="1"/>
                  </a:moveTo>
                  <a:lnTo>
                    <a:pt x="0" y="33"/>
                  </a:lnTo>
                  <a:lnTo>
                    <a:pt x="229" y="31087"/>
                  </a:lnTo>
                  <a:lnTo>
                    <a:pt x="6361" y="31055"/>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321;p31"/>
            <p:cNvSpPr/>
            <p:nvPr/>
          </p:nvSpPr>
          <p:spPr>
            <a:xfrm>
              <a:off x="209825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322;p31"/>
            <p:cNvSpPr/>
            <p:nvPr/>
          </p:nvSpPr>
          <p:spPr>
            <a:xfrm>
              <a:off x="2558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323;p31"/>
            <p:cNvSpPr/>
            <p:nvPr/>
          </p:nvSpPr>
          <p:spPr>
            <a:xfrm>
              <a:off x="3017325" y="238125"/>
              <a:ext cx="154150" cy="384100"/>
            </a:xfrm>
            <a:custGeom>
              <a:avLst/>
              <a:gdLst/>
              <a:ahLst/>
              <a:cxnLst/>
              <a:rect l="l" t="t" r="r" b="b"/>
              <a:pathLst>
                <a:path w="6166" h="15364" extrusionOk="0">
                  <a:moveTo>
                    <a:pt x="0" y="0"/>
                  </a:moveTo>
                  <a:lnTo>
                    <a:pt x="0"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324;p31"/>
            <p:cNvSpPr/>
            <p:nvPr/>
          </p:nvSpPr>
          <p:spPr>
            <a:xfrm>
              <a:off x="3477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325;p31"/>
            <p:cNvSpPr/>
            <p:nvPr/>
          </p:nvSpPr>
          <p:spPr>
            <a:xfrm>
              <a:off x="3937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326;p31"/>
            <p:cNvSpPr/>
            <p:nvPr/>
          </p:nvSpPr>
          <p:spPr>
            <a:xfrm>
              <a:off x="4396325" y="238125"/>
              <a:ext cx="154150" cy="384100"/>
            </a:xfrm>
            <a:custGeom>
              <a:avLst/>
              <a:gdLst/>
              <a:ahLst/>
              <a:cxnLst/>
              <a:rect l="l" t="t" r="r" b="b"/>
              <a:pathLst>
                <a:path w="6166" h="15364"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327;p31"/>
            <p:cNvSpPr/>
            <p:nvPr/>
          </p:nvSpPr>
          <p:spPr>
            <a:xfrm>
              <a:off x="4856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328;p31"/>
            <p:cNvSpPr/>
            <p:nvPr/>
          </p:nvSpPr>
          <p:spPr>
            <a:xfrm>
              <a:off x="5316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329;p31"/>
            <p:cNvSpPr/>
            <p:nvPr/>
          </p:nvSpPr>
          <p:spPr>
            <a:xfrm>
              <a:off x="1190625" y="4472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330;p31"/>
            <p:cNvSpPr/>
            <p:nvPr/>
          </p:nvSpPr>
          <p:spPr>
            <a:xfrm>
              <a:off x="1190625" y="4013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331;p31"/>
            <p:cNvSpPr/>
            <p:nvPr/>
          </p:nvSpPr>
          <p:spPr>
            <a:xfrm>
              <a:off x="1190625" y="3553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332;p31"/>
            <p:cNvSpPr/>
            <p:nvPr/>
          </p:nvSpPr>
          <p:spPr>
            <a:xfrm>
              <a:off x="1190625" y="3093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333;p31"/>
            <p:cNvSpPr/>
            <p:nvPr/>
          </p:nvSpPr>
          <p:spPr>
            <a:xfrm>
              <a:off x="1190625" y="2634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334;p31"/>
            <p:cNvSpPr/>
            <p:nvPr/>
          </p:nvSpPr>
          <p:spPr>
            <a:xfrm>
              <a:off x="1190625" y="2174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335;p31"/>
            <p:cNvSpPr/>
            <p:nvPr/>
          </p:nvSpPr>
          <p:spPr>
            <a:xfrm>
              <a:off x="1190625" y="1714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336;p31"/>
            <p:cNvSpPr/>
            <p:nvPr/>
          </p:nvSpPr>
          <p:spPr>
            <a:xfrm>
              <a:off x="1190625" y="1255025"/>
              <a:ext cx="384100" cy="153350"/>
            </a:xfrm>
            <a:custGeom>
              <a:avLst/>
              <a:gdLst/>
              <a:ahLst/>
              <a:cxnLst/>
              <a:rect l="l" t="t" r="r" b="b"/>
              <a:pathLst>
                <a:path w="15364" h="6134" extrusionOk="0">
                  <a:moveTo>
                    <a:pt x="0" y="1"/>
                  </a:moveTo>
                  <a:lnTo>
                    <a:pt x="0" y="6134"/>
                  </a:lnTo>
                  <a:lnTo>
                    <a:pt x="15364" y="6134"/>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337;p31"/>
            <p:cNvSpPr/>
            <p:nvPr/>
          </p:nvSpPr>
          <p:spPr>
            <a:xfrm>
              <a:off x="532925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338;p31"/>
            <p:cNvSpPr/>
            <p:nvPr/>
          </p:nvSpPr>
          <p:spPr>
            <a:xfrm>
              <a:off x="4870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339;p31"/>
            <p:cNvSpPr/>
            <p:nvPr/>
          </p:nvSpPr>
          <p:spPr>
            <a:xfrm>
              <a:off x="4410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340;p31"/>
            <p:cNvSpPr/>
            <p:nvPr/>
          </p:nvSpPr>
          <p:spPr>
            <a:xfrm>
              <a:off x="3950250"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341;p31"/>
            <p:cNvSpPr/>
            <p:nvPr/>
          </p:nvSpPr>
          <p:spPr>
            <a:xfrm>
              <a:off x="3491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342;p31"/>
            <p:cNvSpPr/>
            <p:nvPr/>
          </p:nvSpPr>
          <p:spPr>
            <a:xfrm>
              <a:off x="3031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343;p31"/>
            <p:cNvSpPr/>
            <p:nvPr/>
          </p:nvSpPr>
          <p:spPr>
            <a:xfrm>
              <a:off x="257125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344;p31"/>
            <p:cNvSpPr/>
            <p:nvPr/>
          </p:nvSpPr>
          <p:spPr>
            <a:xfrm>
              <a:off x="211130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345;p31"/>
            <p:cNvSpPr/>
            <p:nvPr/>
          </p:nvSpPr>
          <p:spPr>
            <a:xfrm>
              <a:off x="6025700" y="115880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346;p31"/>
            <p:cNvSpPr/>
            <p:nvPr/>
          </p:nvSpPr>
          <p:spPr>
            <a:xfrm>
              <a:off x="6025700" y="161875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347;p31"/>
            <p:cNvSpPr/>
            <p:nvPr/>
          </p:nvSpPr>
          <p:spPr>
            <a:xfrm>
              <a:off x="6025700" y="2078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348;p31"/>
            <p:cNvSpPr/>
            <p:nvPr/>
          </p:nvSpPr>
          <p:spPr>
            <a:xfrm>
              <a:off x="6025700" y="2538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349;p31"/>
            <p:cNvSpPr/>
            <p:nvPr/>
          </p:nvSpPr>
          <p:spPr>
            <a:xfrm>
              <a:off x="6025700" y="2997750"/>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350;p31"/>
            <p:cNvSpPr/>
            <p:nvPr/>
          </p:nvSpPr>
          <p:spPr>
            <a:xfrm>
              <a:off x="6025700" y="3457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351;p31"/>
            <p:cNvSpPr/>
            <p:nvPr/>
          </p:nvSpPr>
          <p:spPr>
            <a:xfrm>
              <a:off x="6025700" y="3917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352;p31"/>
            <p:cNvSpPr/>
            <p:nvPr/>
          </p:nvSpPr>
          <p:spPr>
            <a:xfrm>
              <a:off x="6025700" y="437675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0"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rot="16200000" flipH="1">
            <a:off x="4356537" y="3231930"/>
            <a:ext cx="2564526" cy="10510"/>
          </a:xfrm>
          <a:prstGeom prst="straightConnector1">
            <a:avLst/>
          </a:prstGeom>
          <a:noFill/>
          <a:ln w="19050" cap="flat" cmpd="sng">
            <a:solidFill>
              <a:srgbClr val="F3F3F3"/>
            </a:solidFill>
            <a:prstDash val="solid"/>
            <a:round/>
            <a:headEnd type="oval" w="med" len="med"/>
            <a:tailEnd type="oval" w="med" len="med"/>
          </a:ln>
        </p:spPr>
      </p:cxnSp>
      <p:pic>
        <p:nvPicPr>
          <p:cNvPr id="46082" name="Picture 2" descr="Como empezar a analizar datos con Python usando Google Colab | by Gustavo  Juantorena | Medium"/>
          <p:cNvPicPr>
            <a:picLocks noChangeAspect="1" noChangeArrowheads="1"/>
          </p:cNvPicPr>
          <p:nvPr/>
        </p:nvPicPr>
        <p:blipFill>
          <a:blip r:embed="rId4"/>
          <a:srcRect/>
          <a:stretch>
            <a:fillRect/>
          </a:stretch>
        </p:blipFill>
        <p:spPr bwMode="auto">
          <a:xfrm>
            <a:off x="344761" y="2019463"/>
            <a:ext cx="5083632" cy="2258247"/>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GOOGLE COLAB</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5673449" y="1813864"/>
            <a:ext cx="32813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Google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Colaboratory</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err="1">
                <a:solidFill>
                  <a:schemeClr val="accent4"/>
                </a:solidFill>
                <a:latin typeface="Fira Sans Condensed Light" panose="020B0604020202020204" charset="0"/>
                <a:cs typeface="Times New Roman" panose="02020603050405020304" pitchFamily="18" charset="0"/>
              </a:rPr>
              <a:t>Colab</a:t>
            </a:r>
            <a:r>
              <a:rPr lang="es-ES" sz="1600" dirty="0">
                <a:solidFill>
                  <a:schemeClr val="accent4"/>
                </a:solidFill>
                <a:latin typeface="Fira Sans Condensed Light" panose="020B0604020202020204" charset="0"/>
                <a:cs typeface="Times New Roman" panose="02020603050405020304" pitchFamily="18" charset="0"/>
              </a:rPr>
              <a:t>, también conocido como "</a:t>
            </a:r>
            <a:r>
              <a:rPr lang="es-ES" sz="1600" dirty="0" err="1">
                <a:solidFill>
                  <a:schemeClr val="accent4"/>
                </a:solidFill>
                <a:latin typeface="Fira Sans Condensed Light" panose="020B0604020202020204" charset="0"/>
                <a:cs typeface="Times New Roman" panose="02020603050405020304" pitchFamily="18" charset="0"/>
              </a:rPr>
              <a:t>Colaboratory</a:t>
            </a:r>
            <a:r>
              <a:rPr lang="es-ES" sz="1600" dirty="0">
                <a:solidFill>
                  <a:schemeClr val="accent4"/>
                </a:solidFill>
                <a:latin typeface="Fira Sans Condensed Light" panose="020B0604020202020204" charset="0"/>
                <a:cs typeface="Times New Roman" panose="02020603050405020304" pitchFamily="18" charset="0"/>
              </a:rPr>
              <a:t>", te permite programar y ejecutar </a:t>
            </a:r>
            <a:r>
              <a:rPr lang="es-ES" sz="1600" dirty="0" err="1">
                <a:solidFill>
                  <a:schemeClr val="accent4"/>
                </a:solidFill>
                <a:latin typeface="Fira Sans Condensed Light" panose="020B0604020202020204" charset="0"/>
                <a:cs typeface="Times New Roman" panose="02020603050405020304" pitchFamily="18" charset="0"/>
              </a:rPr>
              <a:t>Python</a:t>
            </a:r>
            <a:r>
              <a:rPr lang="es-ES" sz="1600" dirty="0">
                <a:solidFill>
                  <a:schemeClr val="accent4"/>
                </a:solidFill>
                <a:latin typeface="Fira Sans Condensed Light" panose="020B0604020202020204" charset="0"/>
                <a:cs typeface="Times New Roman" panose="02020603050405020304" pitchFamily="18" charset="0"/>
              </a:rPr>
              <a:t> utilizando la </a:t>
            </a:r>
            <a:r>
              <a:rPr lang="es-ES" sz="1600" dirty="0" err="1">
                <a:solidFill>
                  <a:schemeClr val="accent4"/>
                </a:solidFill>
                <a:latin typeface="Fira Sans Condensed Light" panose="020B0604020202020204" charset="0"/>
                <a:cs typeface="Times New Roman" panose="02020603050405020304" pitchFamily="18" charset="0"/>
              </a:rPr>
              <a:t>notebook</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Jupyter</a:t>
            </a:r>
            <a:r>
              <a:rPr lang="es-ES" sz="1600" dirty="0">
                <a:solidFill>
                  <a:schemeClr val="accent4"/>
                </a:solidFill>
                <a:latin typeface="Fira Sans Condensed Light" panose="020B0604020202020204" charset="0"/>
                <a:cs typeface="Times New Roman" panose="02020603050405020304" pitchFamily="18" charset="0"/>
              </a:rPr>
              <a:t> en tu navegador con las siguientes ventajas:</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chemeClr val="accent4"/>
                </a:solidFill>
                <a:latin typeface="Fira Sans Condensed Light" panose="020B0604020202020204" charset="0"/>
                <a:cs typeface="Times New Roman" panose="02020603050405020304" pitchFamily="18" charset="0"/>
              </a:rPr>
              <a:t>-</a:t>
            </a:r>
            <a:r>
              <a:rPr lang="es-ES" sz="1600" dirty="0">
                <a:solidFill>
                  <a:schemeClr val="accent4"/>
                </a:solidFill>
                <a:latin typeface="Fira Sans Condensed Light" panose="020B0604020202020204" charset="0"/>
                <a:cs typeface="Times New Roman" panose="02020603050405020304" pitchFamily="18" charset="0"/>
              </a:rPr>
              <a:t>No requiere configuración</a:t>
            </a:r>
          </a:p>
          <a:p>
            <a:pPr algn="just"/>
            <a:r>
              <a:rPr lang="es-ES" sz="1600" dirty="0">
                <a:solidFill>
                  <a:schemeClr val="accent4"/>
                </a:solidFill>
                <a:latin typeface="Fira Sans Condensed Light" panose="020B0604020202020204" charset="0"/>
                <a:cs typeface="Times New Roman" panose="02020603050405020304" pitchFamily="18" charset="0"/>
              </a:rPr>
              <a:t>-Da acceso gratuito a </a:t>
            </a:r>
            <a:r>
              <a:rPr lang="es-ES" sz="1600" dirty="0" err="1">
                <a:solidFill>
                  <a:schemeClr val="accent4"/>
                </a:solidFill>
                <a:latin typeface="Fira Sans Condensed Light" panose="020B0604020202020204" charset="0"/>
                <a:cs typeface="Times New Roman" panose="02020603050405020304" pitchFamily="18" charset="0"/>
              </a:rPr>
              <a:t>GPUs</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-Permite compartir contenido fácilmente</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GOOGLE COLAB</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428787" y="206610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Instalar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librerias</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requeridas</a:t>
            </a:r>
          </a:p>
          <a:p>
            <a:pPr algn="just"/>
            <a:r>
              <a:rPr lang="es-ES" sz="1600" dirty="0">
                <a:solidFill>
                  <a:schemeClr val="accent4"/>
                </a:solidFill>
                <a:latin typeface="Fira Sans Condensed Light" panose="020B0604020202020204" charset="0"/>
                <a:cs typeface="Times New Roman" panose="02020603050405020304" pitchFamily="18" charset="0"/>
              </a:rPr>
              <a:t>!</a:t>
            </a:r>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pandas</a:t>
            </a:r>
          </a:p>
          <a:p>
            <a:pPr algn="just"/>
            <a:r>
              <a:rPr lang="es-ES" sz="1600" dirty="0">
                <a:solidFill>
                  <a:schemeClr val="accent4"/>
                </a:solidFill>
                <a:latin typeface="Fira Sans Condensed Light" panose="020B0604020202020204" charset="0"/>
                <a:cs typeface="Times New Roman" panose="02020603050405020304" pitchFamily="18" charset="0"/>
              </a:rPr>
              <a:t>!</a:t>
            </a:r>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numpy</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a:t>
            </a:r>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matplotlib</a:t>
            </a:r>
            <a:endParaRPr lang="es-ES" dirty="0">
              <a:solidFill>
                <a:srgbClr val="F3F3F3"/>
              </a:solidFill>
              <a:latin typeface="Fira Sans Condensed Light"/>
              <a:ea typeface="Fira Sans Condensed Light"/>
              <a:cs typeface="Fira Sans Condensed Light"/>
              <a:sym typeface="Fira Sans Condensed Light"/>
            </a:endParaRPr>
          </a:p>
        </p:txBody>
      </p:sp>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050" name="Picture 2" descr="NumPy: Funciones basicas de algebra - ▷ Cursos de Programación de 0 a  Experto © Garantizados"/>
          <p:cNvPicPr>
            <a:picLocks noChangeAspect="1" noChangeArrowheads="1"/>
          </p:cNvPicPr>
          <p:nvPr/>
        </p:nvPicPr>
        <p:blipFill>
          <a:blip r:embed="rId4"/>
          <a:srcRect/>
          <a:stretch>
            <a:fillRect/>
          </a:stretch>
        </p:blipFill>
        <p:spPr bwMode="auto">
          <a:xfrm>
            <a:off x="6952016" y="2020913"/>
            <a:ext cx="1833364" cy="1131067"/>
          </a:xfrm>
          <a:prstGeom prst="rect">
            <a:avLst/>
          </a:prstGeom>
          <a:noFill/>
        </p:spPr>
      </p:pic>
      <p:pic>
        <p:nvPicPr>
          <p:cNvPr id="2052" name="Picture 4" descr="Pandas - EcuRed"/>
          <p:cNvPicPr>
            <a:picLocks noChangeAspect="1" noChangeArrowheads="1"/>
          </p:cNvPicPr>
          <p:nvPr/>
        </p:nvPicPr>
        <p:blipFill>
          <a:blip r:embed="rId5"/>
          <a:srcRect/>
          <a:stretch>
            <a:fillRect/>
          </a:stretch>
        </p:blipFill>
        <p:spPr bwMode="auto">
          <a:xfrm>
            <a:off x="3816180" y="2005602"/>
            <a:ext cx="2745279" cy="1147196"/>
          </a:xfrm>
          <a:prstGeom prst="rect">
            <a:avLst/>
          </a:prstGeom>
          <a:noFill/>
        </p:spPr>
      </p:pic>
      <p:pic>
        <p:nvPicPr>
          <p:cNvPr id="2054" name="Picture 6" descr="Caso práctico con Matplotlib y Geopandas - Adictos al trabajo Tutoriales"/>
          <p:cNvPicPr>
            <a:picLocks noChangeAspect="1" noChangeArrowheads="1"/>
          </p:cNvPicPr>
          <p:nvPr/>
        </p:nvPicPr>
        <p:blipFill>
          <a:blip r:embed="rId6"/>
          <a:srcRect/>
          <a:stretch>
            <a:fillRect/>
          </a:stretch>
        </p:blipFill>
        <p:spPr bwMode="auto">
          <a:xfrm>
            <a:off x="3817883" y="3471043"/>
            <a:ext cx="2750706" cy="1051035"/>
          </a:xfrm>
          <a:prstGeom prst="rect">
            <a:avLst/>
          </a:prstGeom>
          <a:noFill/>
        </p:spPr>
      </p:pic>
      <p:pic>
        <p:nvPicPr>
          <p:cNvPr id="2056" name="Picture 8" descr="Create python jupyter notebooks by Naazneen_jatu | Fiverr"/>
          <p:cNvPicPr>
            <a:picLocks noChangeAspect="1" noChangeArrowheads="1"/>
          </p:cNvPicPr>
          <p:nvPr/>
        </p:nvPicPr>
        <p:blipFill>
          <a:blip r:embed="rId7"/>
          <a:srcRect/>
          <a:stretch>
            <a:fillRect/>
          </a:stretch>
        </p:blipFill>
        <p:spPr bwMode="auto">
          <a:xfrm>
            <a:off x="6838485" y="3444877"/>
            <a:ext cx="2098687" cy="1061811"/>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GitHub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pic>
        <p:nvPicPr>
          <p:cNvPr id="2050" name="Picture 2" descr="Qué es GitHub y por qué es útil al aprender programación | HACK A BOSS"/>
          <p:cNvPicPr>
            <a:picLocks noChangeAspect="1" noChangeArrowheads="1"/>
          </p:cNvPicPr>
          <p:nvPr/>
        </p:nvPicPr>
        <p:blipFill>
          <a:blip r:embed="rId4"/>
          <a:srcRect/>
          <a:stretch>
            <a:fillRect/>
          </a:stretch>
        </p:blipFill>
        <p:spPr bwMode="auto">
          <a:xfrm>
            <a:off x="457165" y="1990704"/>
            <a:ext cx="4346064" cy="2444661"/>
          </a:xfrm>
          <a:prstGeom prst="rect">
            <a:avLst/>
          </a:prstGeom>
          <a:noFill/>
        </p:spPr>
      </p:pic>
      <p:cxnSp>
        <p:nvCxnSpPr>
          <p:cNvPr id="9" name="Google Shape;258;p31"/>
          <p:cNvCxnSpPr/>
          <p:nvPr/>
        </p:nvCxnSpPr>
        <p:spPr>
          <a:xfrm rot="16200000" flipH="1">
            <a:off x="3904592" y="3231930"/>
            <a:ext cx="2564526" cy="10510"/>
          </a:xfrm>
          <a:prstGeom prst="straightConnector1">
            <a:avLst/>
          </a:prstGeom>
          <a:noFill/>
          <a:ln w="19050" cap="flat" cmpd="sng">
            <a:solidFill>
              <a:srgbClr val="F3F3F3"/>
            </a:solidFill>
            <a:prstDash val="solid"/>
            <a:round/>
            <a:headEnd type="oval" w="med" len="med"/>
            <a:tailEnd type="oval" w="med" len="med"/>
          </a:ln>
        </p:spPr>
      </p:cxnSp>
      <p:sp>
        <p:nvSpPr>
          <p:cNvPr id="10" name="Google Shape;1603;p42"/>
          <p:cNvSpPr txBox="1"/>
          <p:nvPr/>
        </p:nvSpPr>
        <p:spPr>
          <a:xfrm>
            <a:off x="5433849" y="1624678"/>
            <a:ext cx="35209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GitHub</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a:solidFill>
                  <a:schemeClr val="accent4"/>
                </a:solidFill>
                <a:latin typeface="Fira Sans Condensed Light" panose="020B0604020202020204" charset="0"/>
                <a:cs typeface="Times New Roman" panose="02020603050405020304" pitchFamily="18" charset="0"/>
              </a:rPr>
              <a:t>El sistema de control de versiones </a:t>
            </a:r>
            <a:r>
              <a:rPr lang="es-ES" sz="1600" dirty="0" err="1">
                <a:solidFill>
                  <a:schemeClr val="accent4"/>
                </a:solidFill>
                <a:latin typeface="Fira Sans Condensed Light" panose="020B0604020202020204" charset="0"/>
                <a:cs typeface="Times New Roman" panose="02020603050405020304" pitchFamily="18" charset="0"/>
              </a:rPr>
              <a:t>Git</a:t>
            </a:r>
            <a:r>
              <a:rPr lang="es-ES" sz="1600" dirty="0">
                <a:solidFill>
                  <a:schemeClr val="accent4"/>
                </a:solidFill>
                <a:latin typeface="Fira Sans Condensed Light" panose="020B0604020202020204" charset="0"/>
                <a:cs typeface="Times New Roman" panose="02020603050405020304" pitchFamily="18" charset="0"/>
              </a:rPr>
              <a:t> fue diseñado por </a:t>
            </a:r>
            <a:r>
              <a:rPr lang="es-ES" sz="1600" dirty="0" err="1">
                <a:solidFill>
                  <a:schemeClr val="accent4"/>
                </a:solidFill>
                <a:latin typeface="Fira Sans Condensed Light" panose="020B0604020202020204" charset="0"/>
                <a:cs typeface="Times New Roman" panose="02020603050405020304" pitchFamily="18" charset="0"/>
              </a:rPr>
              <a:t>Linus</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Torvalds</a:t>
            </a:r>
            <a:r>
              <a:rPr lang="es-ES" sz="1600" dirty="0">
                <a:solidFill>
                  <a:schemeClr val="accent4"/>
                </a:solidFill>
                <a:latin typeface="Fira Sans Condensed Light" panose="020B0604020202020204" charset="0"/>
                <a:cs typeface="Times New Roman" panose="02020603050405020304" pitchFamily="18" charset="0"/>
              </a:rPr>
              <a:t>. Un sistema de gestión de versiones es utilizado por los desarrolladores para poder administrar su proyecto, ordenando el código de cada una de las nuevas versiones que sacan de sus aplicaciones para evitar confusiones. Así, al tener copias de cada una de las versiones de su aplicación, no se perderán los estados anteriores cuando se va a actualizar.</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chemeClr val="bg1">
                    <a:lumMod val="60000"/>
                    <a:lumOff val="40000"/>
                  </a:schemeClr>
                </a:solidFill>
                <a:latin typeface="Rajdhani"/>
                <a:ea typeface="Rajdhani"/>
                <a:cs typeface="Rajdhani"/>
                <a:sym typeface="Rajdhani"/>
              </a:rPr>
              <a:t>Python</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chemeClr val="bg1">
                    <a:lumMod val="60000"/>
                    <a:lumOff val="40000"/>
                  </a:schemeClr>
                </a:solidFill>
                <a:effectLst/>
                <a:uLnTx/>
                <a:uFillTx/>
                <a:latin typeface="Rajdhani"/>
                <a:ea typeface="Rajdhani"/>
                <a:cs typeface="Rajdhani"/>
                <a:sym typeface="Rajdhani"/>
              </a:rPr>
              <a:t>Interprete</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p:nvPr/>
        </p:nvCxnSpPr>
        <p:spPr>
          <a:xfrm rot="16200000" flipH="1">
            <a:off x="4067504" y="3573517"/>
            <a:ext cx="2196662" cy="1051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5444359" y="2402443"/>
            <a:ext cx="3520965" cy="2306191"/>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el intérprete de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python</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err="1">
                <a:solidFill>
                  <a:schemeClr val="accent4"/>
                </a:solidFill>
                <a:latin typeface="Fira Sans Condensed Light" panose="020B0604020202020204" charset="0"/>
                <a:cs typeface="Times New Roman" panose="02020603050405020304" pitchFamily="18" charset="0"/>
              </a:rPr>
              <a:t>Python</a:t>
            </a:r>
            <a:r>
              <a:rPr lang="es-ES" sz="1600" dirty="0">
                <a:solidFill>
                  <a:schemeClr val="accent4"/>
                </a:solidFill>
                <a:latin typeface="Fira Sans Condensed Light" panose="020B0604020202020204" charset="0"/>
                <a:cs typeface="Times New Roman" panose="02020603050405020304" pitchFamily="18" charset="0"/>
              </a:rPr>
              <a:t> es un lenguaje de alto nivel de programación interpretado cuya filosofía hace hincapié en la legibilidad de su código, se utiliza para desarrollar aplicaciones de todo tipo, ejemplos: </a:t>
            </a:r>
            <a:r>
              <a:rPr lang="es-ES" sz="1600" dirty="0" err="1">
                <a:solidFill>
                  <a:schemeClr val="accent4"/>
                </a:solidFill>
                <a:latin typeface="Fira Sans Condensed Light" panose="020B0604020202020204" charset="0"/>
                <a:cs typeface="Times New Roman" panose="02020603050405020304" pitchFamily="18" charset="0"/>
              </a:rPr>
              <a:t>Instagram</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Netflix</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Spotify</a:t>
            </a:r>
            <a:r>
              <a:rPr lang="es-ES" sz="1600" dirty="0">
                <a:solidFill>
                  <a:schemeClr val="accent4"/>
                </a:solidFill>
                <a:latin typeface="Fira Sans Condensed Light" panose="020B0604020202020204" charset="0"/>
                <a:cs typeface="Times New Roman" panose="02020603050405020304" pitchFamily="18" charset="0"/>
              </a:rPr>
              <a:t>, Panda 3D, entre otros.​ </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48132" name="Picture 4" descr="Los pickles de Python. Programación en Castellano."/>
          <p:cNvPicPr>
            <a:picLocks noChangeAspect="1" noChangeArrowheads="1"/>
          </p:cNvPicPr>
          <p:nvPr/>
        </p:nvPicPr>
        <p:blipFill>
          <a:blip r:embed="rId4"/>
          <a:srcRect/>
          <a:stretch>
            <a:fillRect/>
          </a:stretch>
        </p:blipFill>
        <p:spPr bwMode="auto">
          <a:xfrm>
            <a:off x="249723" y="2585545"/>
            <a:ext cx="4685635" cy="2032438"/>
          </a:xfrm>
          <a:prstGeom prst="rect">
            <a:avLst/>
          </a:prstGeom>
          <a:noFill/>
        </p:spPr>
      </p:pic>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Visual</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Studio Code (Editor)</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pic>
        <p:nvPicPr>
          <p:cNvPr id="48130" name="Picture 2" descr="Editor de código Visual Studio Code para el desarrollo web - Iván Andréi"/>
          <p:cNvPicPr>
            <a:picLocks noChangeAspect="1" noChangeArrowheads="1"/>
          </p:cNvPicPr>
          <p:nvPr/>
        </p:nvPicPr>
        <p:blipFill>
          <a:blip r:embed="rId4"/>
          <a:srcRect/>
          <a:stretch>
            <a:fillRect/>
          </a:stretch>
        </p:blipFill>
        <p:spPr bwMode="auto">
          <a:xfrm>
            <a:off x="583792" y="2449937"/>
            <a:ext cx="4072290" cy="2290229"/>
          </a:xfrm>
          <a:prstGeom prst="rect">
            <a:avLst/>
          </a:prstGeom>
          <a:noFill/>
        </p:spPr>
      </p:pic>
      <p:cxnSp>
        <p:nvCxnSpPr>
          <p:cNvPr id="18" name="Google Shape;258;p31"/>
          <p:cNvCxnSpPr/>
          <p:nvPr/>
        </p:nvCxnSpPr>
        <p:spPr>
          <a:xfrm rot="16200000" flipH="1">
            <a:off x="4067504" y="3573517"/>
            <a:ext cx="2196662" cy="1051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5444359" y="2402443"/>
            <a:ext cx="3520965" cy="2306191"/>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Visual Studio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a:solidFill>
                  <a:schemeClr val="accent4"/>
                </a:solidFill>
                <a:latin typeface="Fira Sans Condensed Light" panose="020B0604020202020204" charset="0"/>
                <a:cs typeface="Times New Roman" panose="02020603050405020304" pitchFamily="18" charset="0"/>
              </a:rPr>
              <a:t>Es un editor de código fuente desarrollado por Microsoft para Windows, Linux, </a:t>
            </a:r>
            <a:r>
              <a:rPr lang="es-ES" sz="1600" dirty="0" err="1">
                <a:solidFill>
                  <a:schemeClr val="accent4"/>
                </a:solidFill>
                <a:latin typeface="Fira Sans Condensed Light" panose="020B0604020202020204" charset="0"/>
                <a:cs typeface="Times New Roman" panose="02020603050405020304" pitchFamily="18" charset="0"/>
              </a:rPr>
              <a:t>macOS</a:t>
            </a:r>
            <a:r>
              <a:rPr lang="es-ES" sz="1600" dirty="0">
                <a:solidFill>
                  <a:schemeClr val="accent4"/>
                </a:solidFill>
                <a:latin typeface="Fira Sans Condensed Light" panose="020B0604020202020204" charset="0"/>
                <a:cs typeface="Times New Roman" panose="02020603050405020304" pitchFamily="18" charset="0"/>
              </a:rPr>
              <a:t> y Web. Incluye soporte para la depuración, control integrado de </a:t>
            </a:r>
            <a:r>
              <a:rPr lang="es-ES" sz="1600" dirty="0" err="1">
                <a:solidFill>
                  <a:schemeClr val="accent4"/>
                </a:solidFill>
                <a:latin typeface="Fira Sans Condensed Light" panose="020B0604020202020204" charset="0"/>
                <a:cs typeface="Times New Roman" panose="02020603050405020304" pitchFamily="18" charset="0"/>
              </a:rPr>
              <a:t>Git</a:t>
            </a:r>
            <a:r>
              <a:rPr lang="es-ES" sz="1600" dirty="0">
                <a:solidFill>
                  <a:schemeClr val="accent4"/>
                </a:solidFill>
                <a:latin typeface="Fira Sans Condensed Light" panose="020B0604020202020204" charset="0"/>
                <a:cs typeface="Times New Roman" panose="02020603050405020304" pitchFamily="18" charset="0"/>
              </a:rPr>
              <a:t>, resaltado de sintaxis, finalización inteligente de código, fragmentos y refactorización de código.</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Visual</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Studio Code (Editor)</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18171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Descargar Visual Studio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Ingresar a: https://code.visualstudio.com/</a:t>
            </a:r>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603;p42"/>
          <p:cNvSpPr txBox="1"/>
          <p:nvPr/>
        </p:nvSpPr>
        <p:spPr>
          <a:xfrm>
            <a:off x="423530" y="2786059"/>
            <a:ext cx="5467516" cy="55622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Elegir la versión apropiada para mi sistema operativo</a:t>
            </a:r>
          </a:p>
        </p:txBody>
      </p:sp>
      <p:sp>
        <p:nvSpPr>
          <p:cNvPr id="10" name="Google Shape;1603;p42"/>
          <p:cNvSpPr txBox="1"/>
          <p:nvPr/>
        </p:nvSpPr>
        <p:spPr>
          <a:xfrm>
            <a:off x="428787" y="3274791"/>
            <a:ext cx="5467516" cy="66659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 Agrega atajo al escritorio</a:t>
            </a:r>
          </a:p>
        </p:txBody>
      </p:sp>
      <p:sp>
        <p:nvSpPr>
          <p:cNvPr id="11" name="Google Shape;1603;p42"/>
          <p:cNvSpPr txBox="1"/>
          <p:nvPr/>
        </p:nvSpPr>
        <p:spPr>
          <a:xfrm>
            <a:off x="444551" y="3763523"/>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 Correr el programa </a:t>
            </a:r>
          </a:p>
        </p:txBody>
      </p:sp>
      <p:sp>
        <p:nvSpPr>
          <p:cNvPr id="12"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Clonar</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Git 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676913" y="3048000"/>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D8C85D11-44A0-3719-F941-CB9EE3F02FD0}"/>
              </a:ext>
            </a:extLst>
          </p:cNvPr>
          <p:cNvPicPr>
            <a:picLocks noChangeAspect="1"/>
          </p:cNvPicPr>
          <p:nvPr/>
        </p:nvPicPr>
        <p:blipFill rotWithShape="1">
          <a:blip r:embed="rId4"/>
          <a:srcRect r="41282" b="60119"/>
          <a:stretch/>
        </p:blipFill>
        <p:spPr>
          <a:xfrm>
            <a:off x="1242717" y="2106344"/>
            <a:ext cx="6658565" cy="2542652"/>
          </a:xfrm>
          <a:prstGeom prst="rect">
            <a:avLst/>
          </a:prstGeom>
        </p:spPr>
      </p:pic>
    </p:spTree>
    <p:extLst>
      <p:ext uri="{BB962C8B-B14F-4D97-AF65-F5344CB8AC3E}">
        <p14:creationId xmlns:p14="http://schemas.microsoft.com/office/powerpoint/2010/main" val="3203157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Clonar</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Git 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 name="Imagen 9">
            <a:extLst>
              <a:ext uri="{FF2B5EF4-FFF2-40B4-BE49-F238E27FC236}">
                <a16:creationId xmlns:a16="http://schemas.microsoft.com/office/drawing/2014/main" id="{3CA1A01A-2AF4-2DD7-7794-B77575F80B4D}"/>
              </a:ext>
            </a:extLst>
          </p:cNvPr>
          <p:cNvPicPr>
            <a:picLocks noChangeAspect="1"/>
          </p:cNvPicPr>
          <p:nvPr/>
        </p:nvPicPr>
        <p:blipFill>
          <a:blip r:embed="rId4"/>
          <a:stretch>
            <a:fillRect/>
          </a:stretch>
        </p:blipFill>
        <p:spPr>
          <a:xfrm>
            <a:off x="3082935" y="1864463"/>
            <a:ext cx="3681280" cy="2980582"/>
          </a:xfrm>
          <a:prstGeom prst="rect">
            <a:avLst/>
          </a:prstGeom>
        </p:spPr>
      </p:pic>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2965939" y="3094892"/>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0958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15975" y="11249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Seleccionar la carpeta donde se va a clonar el repositorio dentro de visual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studio</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View/Command pallet/Clone from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Hub/</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selecciona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el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repositorio</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clonar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o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ingresa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su</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URL</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027" name="Picture 3"/>
          <p:cNvPicPr>
            <a:picLocks noChangeAspect="1" noChangeArrowheads="1"/>
          </p:cNvPicPr>
          <p:nvPr/>
        </p:nvPicPr>
        <p:blipFill>
          <a:blip r:embed="rId4"/>
          <a:srcRect r="29722" b="54862"/>
          <a:stretch>
            <a:fillRect/>
          </a:stretch>
        </p:blipFill>
        <p:spPr bwMode="auto">
          <a:xfrm>
            <a:off x="792119" y="2144537"/>
            <a:ext cx="7489734" cy="2690364"/>
          </a:xfrm>
          <a:prstGeom prst="rect">
            <a:avLst/>
          </a:prstGeom>
          <a:noFill/>
          <a:ln w="9525">
            <a:noFill/>
            <a:miter lim="800000"/>
            <a:headEnd/>
            <a:tailEnd/>
          </a:ln>
          <a:effectLst/>
        </p:spPr>
      </p:pic>
      <p:sp>
        <p:nvSpPr>
          <p:cNvPr id="1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1122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Seleccionar la carpeta donde se va a clonar el repositorio dentro de visual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studio</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View/Command pallet/Clone from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Hub/</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selecciona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el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repositorio</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clonar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o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ingresa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su</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URL</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2050" name="Picture 2"/>
          <p:cNvPicPr>
            <a:picLocks noChangeAspect="1" noChangeArrowheads="1"/>
          </p:cNvPicPr>
          <p:nvPr/>
        </p:nvPicPr>
        <p:blipFill>
          <a:blip r:embed="rId4"/>
          <a:srcRect l="1855" t="17535" r="28258" b="22396"/>
          <a:stretch>
            <a:fillRect/>
          </a:stretch>
        </p:blipFill>
        <p:spPr bwMode="auto">
          <a:xfrm>
            <a:off x="1772193" y="2114483"/>
            <a:ext cx="5792081" cy="2798966"/>
          </a:xfrm>
          <a:prstGeom prst="rect">
            <a:avLst/>
          </a:prstGeom>
          <a:noFill/>
          <a:ln w="9525">
            <a:noFill/>
            <a:miter lim="800000"/>
            <a:headEnd/>
            <a:tailEnd/>
          </a:ln>
          <a:effectLst/>
        </p:spPr>
      </p:pic>
      <p:cxnSp>
        <p:nvCxnSpPr>
          <p:cNvPr id="10" name="9 Conector recto de flecha"/>
          <p:cNvCxnSpPr/>
          <p:nvPr/>
        </p:nvCxnSpPr>
        <p:spPr>
          <a:xfrm rot="10800000" flipV="1">
            <a:off x="6988991" y="3046548"/>
            <a:ext cx="1651000" cy="7112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17064" y="1089772"/>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Seleccionar la carpeta donde se va a clonar el repositorio dentro de visual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studio</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Presiona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Enter y se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abrir</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á el explorador de archivos y selecciona la carpeta destino del clon </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3074" name="Picture 2"/>
          <p:cNvPicPr>
            <a:picLocks noChangeAspect="1" noChangeArrowheads="1"/>
          </p:cNvPicPr>
          <p:nvPr/>
        </p:nvPicPr>
        <p:blipFill>
          <a:blip r:embed="rId4"/>
          <a:srcRect r="50317" b="37847"/>
          <a:stretch>
            <a:fillRect/>
          </a:stretch>
        </p:blipFill>
        <p:spPr bwMode="auto">
          <a:xfrm>
            <a:off x="2283459" y="2070749"/>
            <a:ext cx="4368801" cy="3072751"/>
          </a:xfrm>
          <a:prstGeom prst="rect">
            <a:avLst/>
          </a:prstGeom>
          <a:noFill/>
          <a:ln w="9525">
            <a:noFill/>
            <a:miter lim="800000"/>
            <a:headEnd/>
            <a:tailEnd/>
          </a:ln>
          <a:effectLst/>
        </p:spPr>
      </p:pic>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Seleccionar  la opción abrir el repositorio clonado</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Deben aparecer todos los archivos del repositorio clonado</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4098" name="Picture 2"/>
          <p:cNvPicPr>
            <a:picLocks noChangeAspect="1" noChangeArrowheads="1"/>
          </p:cNvPicPr>
          <p:nvPr/>
        </p:nvPicPr>
        <p:blipFill>
          <a:blip r:embed="rId4"/>
          <a:srcRect r="10786" b="51071"/>
          <a:stretch>
            <a:fillRect/>
          </a:stretch>
        </p:blipFill>
        <p:spPr bwMode="auto">
          <a:xfrm>
            <a:off x="205740" y="2107837"/>
            <a:ext cx="8662186" cy="2633980"/>
          </a:xfrm>
          <a:prstGeom prst="rect">
            <a:avLst/>
          </a:prstGeom>
          <a:noFill/>
          <a:ln w="9525">
            <a:noFill/>
            <a:miter lim="800000"/>
            <a:headEnd/>
            <a:tailEnd/>
          </a:ln>
          <a:effectLst/>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Crear nuevo archivo de trabajo en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Jupyter</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Notebook</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Nombre del archivo: 3 Extracción de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datos.ipynb</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5122" name="Picture 2"/>
          <p:cNvPicPr>
            <a:picLocks noChangeAspect="1" noChangeArrowheads="1"/>
          </p:cNvPicPr>
          <p:nvPr/>
        </p:nvPicPr>
        <p:blipFill>
          <a:blip r:embed="rId4"/>
          <a:srcRect b="48305"/>
          <a:stretch>
            <a:fillRect/>
          </a:stretch>
        </p:blipFill>
        <p:spPr bwMode="auto">
          <a:xfrm>
            <a:off x="-1" y="2070100"/>
            <a:ext cx="9147579" cy="2658654"/>
          </a:xfrm>
          <a:prstGeom prst="rect">
            <a:avLst/>
          </a:prstGeom>
          <a:noFill/>
          <a:ln w="9525">
            <a:noFill/>
            <a:miter lim="800000"/>
            <a:headEnd/>
            <a:tailEnd/>
          </a:ln>
          <a:effectLst/>
        </p:spPr>
      </p:pic>
      <p:cxnSp>
        <p:nvCxnSpPr>
          <p:cNvPr id="8" name="7 Conector recto de flecha"/>
          <p:cNvCxnSpPr/>
          <p:nvPr/>
        </p:nvCxnSpPr>
        <p:spPr>
          <a:xfrm rot="10800000">
            <a:off x="2070100" y="3251200"/>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Crear nuevo archivo de trabajo en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Jupyter</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Notebook</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Verifica que en tu carpeta del proyecto ya se haya creado el archivo: 3 Extracción de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datos.ipynb</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6146" name="Picture 2"/>
          <p:cNvPicPr>
            <a:picLocks noChangeAspect="1" noChangeArrowheads="1"/>
          </p:cNvPicPr>
          <p:nvPr/>
        </p:nvPicPr>
        <p:blipFill>
          <a:blip r:embed="rId4"/>
          <a:srcRect t="11111" r="16642" b="44905"/>
          <a:stretch>
            <a:fillRect/>
          </a:stretch>
        </p:blipFill>
        <p:spPr bwMode="auto">
          <a:xfrm>
            <a:off x="228600" y="2129391"/>
            <a:ext cx="8674100" cy="2573238"/>
          </a:xfrm>
          <a:prstGeom prst="rect">
            <a:avLst/>
          </a:prstGeom>
          <a:noFill/>
          <a:ln w="9525">
            <a:noFill/>
            <a:miter lim="800000"/>
            <a:headEnd/>
            <a:tailEnd/>
          </a:ln>
          <a:effectLst/>
        </p:spPr>
      </p:pic>
      <p:cxnSp>
        <p:nvCxnSpPr>
          <p:cNvPr id="8" name="7 Conector recto de flecha"/>
          <p:cNvCxnSpPr/>
          <p:nvPr/>
        </p:nvCxnSpPr>
        <p:spPr>
          <a:xfrm rot="10800000">
            <a:off x="2997200" y="3606800"/>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Editar nuestro archivo </a:t>
            </a:r>
          </a:p>
          <a:p>
            <a:pPr algn="just"/>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Despues</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de editar el archivo, verificar que tenemos una tarea pendiente en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7170" name="Picture 2"/>
          <p:cNvPicPr>
            <a:picLocks noChangeAspect="1" noChangeArrowheads="1"/>
          </p:cNvPicPr>
          <p:nvPr/>
        </p:nvPicPr>
        <p:blipFill>
          <a:blip r:embed="rId4"/>
          <a:srcRect r="26687" b="56150"/>
          <a:stretch>
            <a:fillRect/>
          </a:stretch>
        </p:blipFill>
        <p:spPr bwMode="auto">
          <a:xfrm>
            <a:off x="658385" y="2106230"/>
            <a:ext cx="7876310" cy="2648650"/>
          </a:xfrm>
          <a:prstGeom prst="rect">
            <a:avLst/>
          </a:prstGeom>
          <a:noFill/>
          <a:ln w="9525">
            <a:noFill/>
            <a:miter lim="800000"/>
            <a:headEnd/>
            <a:tailEnd/>
          </a:ln>
          <a:effectLst/>
        </p:spPr>
      </p:pic>
      <p:cxnSp>
        <p:nvCxnSpPr>
          <p:cNvPr id="8" name="7 Conector recto de flecha"/>
          <p:cNvCxnSpPr/>
          <p:nvPr/>
        </p:nvCxnSpPr>
        <p:spPr>
          <a:xfrm rot="10800000">
            <a:off x="930171" y="3212289"/>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Realizo mi primer COMMIT</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Edito los comentarios para los cambios realizados,  oprimo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Commit</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y selecciono “si” en la ventana emergente.</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8194" name="Picture 2"/>
          <p:cNvPicPr>
            <a:picLocks noChangeAspect="1" noChangeArrowheads="1"/>
          </p:cNvPicPr>
          <p:nvPr/>
        </p:nvPicPr>
        <p:blipFill>
          <a:blip r:embed="rId4"/>
          <a:srcRect r="4821" b="52665"/>
          <a:stretch>
            <a:fillRect/>
          </a:stretch>
        </p:blipFill>
        <p:spPr bwMode="auto">
          <a:xfrm>
            <a:off x="497540" y="2448268"/>
            <a:ext cx="8202707" cy="2293549"/>
          </a:xfrm>
          <a:prstGeom prst="rect">
            <a:avLst/>
          </a:prstGeom>
          <a:noFill/>
          <a:ln w="9525">
            <a:noFill/>
            <a:miter lim="800000"/>
            <a:headEnd/>
            <a:tailEnd/>
          </a:ln>
          <a:effectLst/>
        </p:spPr>
      </p:pic>
      <p:cxnSp>
        <p:nvCxnSpPr>
          <p:cNvPr id="8" name="7 Conector recto de flecha"/>
          <p:cNvCxnSpPr/>
          <p:nvPr/>
        </p:nvCxnSpPr>
        <p:spPr>
          <a:xfrm rot="10800000">
            <a:off x="2324847" y="3122705"/>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6.  Enviar los cambios realizados 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Hub</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con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Push</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 la sección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selecciono los tres punto y elijo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push</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9218" name="Picture 2"/>
          <p:cNvPicPr>
            <a:picLocks noChangeAspect="1" noChangeArrowheads="1"/>
          </p:cNvPicPr>
          <p:nvPr/>
        </p:nvPicPr>
        <p:blipFill>
          <a:blip r:embed="rId4"/>
          <a:srcRect r="4878" b="43578"/>
          <a:stretch>
            <a:fillRect/>
          </a:stretch>
        </p:blipFill>
        <p:spPr bwMode="auto">
          <a:xfrm>
            <a:off x="643091" y="2222081"/>
            <a:ext cx="7908322" cy="2637302"/>
          </a:xfrm>
          <a:prstGeom prst="rect">
            <a:avLst/>
          </a:prstGeom>
          <a:noFill/>
          <a:ln w="9525">
            <a:noFill/>
            <a:miter lim="800000"/>
            <a:headEnd/>
            <a:tailEnd/>
          </a:ln>
          <a:effectLst/>
        </p:spPr>
      </p:pic>
      <p:cxnSp>
        <p:nvCxnSpPr>
          <p:cNvPr id="8" name="7 Conector recto de flecha"/>
          <p:cNvCxnSpPr/>
          <p:nvPr/>
        </p:nvCxnSpPr>
        <p:spPr>
          <a:xfrm rot="10800000">
            <a:off x="2831742" y="3142583"/>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7.  Verifica que el archivo se cargo correctamente en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GitHub</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3 Extracción de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datos.ipynb</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0242" name="Picture 2"/>
          <p:cNvPicPr>
            <a:picLocks noChangeAspect="1" noChangeArrowheads="1"/>
          </p:cNvPicPr>
          <p:nvPr/>
        </p:nvPicPr>
        <p:blipFill>
          <a:blip r:embed="rId4"/>
          <a:srcRect t="11454" r="12265" b="33705"/>
          <a:stretch>
            <a:fillRect/>
          </a:stretch>
        </p:blipFill>
        <p:spPr bwMode="auto">
          <a:xfrm>
            <a:off x="708387" y="2024742"/>
            <a:ext cx="7808597" cy="2744243"/>
          </a:xfrm>
          <a:prstGeom prst="rect">
            <a:avLst/>
          </a:prstGeom>
          <a:noFill/>
          <a:ln w="9525">
            <a:noFill/>
            <a:miter lim="800000"/>
            <a:headEnd/>
            <a:tailEnd/>
          </a:ln>
          <a:effectLst/>
        </p:spPr>
      </p:pic>
      <p:cxnSp>
        <p:nvCxnSpPr>
          <p:cNvPr id="8" name="7 Conector recto de flecha"/>
          <p:cNvCxnSpPr/>
          <p:nvPr/>
        </p:nvCxnSpPr>
        <p:spPr>
          <a:xfrm rot="10800000" flipV="1">
            <a:off x="2648862" y="3683726"/>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8.  Modificar </a:t>
            </a:r>
            <a:r>
              <a:rPr lang="es-ES" sz="1600" b="1">
                <a:solidFill>
                  <a:schemeClr val="bg1">
                    <a:lumMod val="60000"/>
                    <a:lumOff val="40000"/>
                  </a:schemeClr>
                </a:solidFill>
                <a:latin typeface="Fira Sans Condensed Light" panose="020B0604020202020204" charset="0"/>
                <a:cs typeface="Times New Roman" panose="02020603050405020304" pitchFamily="18" charset="0"/>
              </a:rPr>
              <a:t>o crear archivo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desde GitHub</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Archivo: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MiClaseAnalítica</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1266" name="Picture 2"/>
          <p:cNvPicPr>
            <a:picLocks noChangeAspect="1" noChangeArrowheads="1"/>
          </p:cNvPicPr>
          <p:nvPr/>
        </p:nvPicPr>
        <p:blipFill>
          <a:blip r:embed="rId4"/>
          <a:srcRect t="25694" r="10181" b="19676"/>
          <a:stretch>
            <a:fillRect/>
          </a:stretch>
        </p:blipFill>
        <p:spPr bwMode="auto">
          <a:xfrm>
            <a:off x="573315" y="2037805"/>
            <a:ext cx="7897918" cy="2700746"/>
          </a:xfrm>
          <a:prstGeom prst="rect">
            <a:avLst/>
          </a:prstGeom>
          <a:noFill/>
          <a:ln w="9525">
            <a:noFill/>
            <a:miter lim="800000"/>
            <a:headEnd/>
            <a:tailEnd/>
          </a:ln>
          <a:effectLst/>
        </p:spPr>
      </p:pic>
      <p:cxnSp>
        <p:nvCxnSpPr>
          <p:cNvPr id="8" name="7 Conector recto de flecha"/>
          <p:cNvCxnSpPr/>
          <p:nvPr/>
        </p:nvCxnSpPr>
        <p:spPr>
          <a:xfrm rot="10800000" flipV="1">
            <a:off x="2191662" y="3618412"/>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9.  Sincronizar en Visual Studio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Oprimir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botón</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de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sincronizar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y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verificar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cambios</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2290" name="Picture 2"/>
          <p:cNvPicPr>
            <a:picLocks noChangeAspect="1" noChangeArrowheads="1"/>
          </p:cNvPicPr>
          <p:nvPr/>
        </p:nvPicPr>
        <p:blipFill>
          <a:blip r:embed="rId4"/>
          <a:srcRect t="49478" r="20175" b="6132"/>
          <a:stretch>
            <a:fillRect/>
          </a:stretch>
        </p:blipFill>
        <p:spPr bwMode="auto">
          <a:xfrm>
            <a:off x="332487" y="2116184"/>
            <a:ext cx="8471140" cy="2648494"/>
          </a:xfrm>
          <a:prstGeom prst="rect">
            <a:avLst/>
          </a:prstGeom>
          <a:noFill/>
          <a:ln w="9525">
            <a:noFill/>
            <a:miter lim="800000"/>
            <a:headEnd/>
            <a:tailEnd/>
          </a:ln>
          <a:effectLst/>
        </p:spPr>
      </p:pic>
      <p:cxnSp>
        <p:nvCxnSpPr>
          <p:cNvPr id="8" name="7 Conector recto de flecha"/>
          <p:cNvCxnSpPr/>
          <p:nvPr/>
        </p:nvCxnSpPr>
        <p:spPr>
          <a:xfrm rot="10800000" flipV="1">
            <a:off x="858512" y="3834571"/>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10.  Repetir ciclo varias veces para confirmar el sincronizado</a:t>
            </a:r>
          </a:p>
        </p:txBody>
      </p:sp>
      <p:pic>
        <p:nvPicPr>
          <p:cNvPr id="13314" name="Picture 2"/>
          <p:cNvPicPr>
            <a:picLocks noChangeAspect="1" noChangeArrowheads="1"/>
          </p:cNvPicPr>
          <p:nvPr/>
        </p:nvPicPr>
        <p:blipFill>
          <a:blip r:embed="rId4"/>
          <a:srcRect t="27143" r="17072" b="17355"/>
          <a:stretch>
            <a:fillRect/>
          </a:stretch>
        </p:blipFill>
        <p:spPr bwMode="auto">
          <a:xfrm>
            <a:off x="794110" y="1933303"/>
            <a:ext cx="7324924" cy="2756263"/>
          </a:xfrm>
          <a:prstGeom prst="rect">
            <a:avLst/>
          </a:prstGeom>
          <a:noFill/>
          <a:ln w="9525">
            <a:noFill/>
            <a:miter lim="800000"/>
            <a:headEnd/>
            <a:tailEnd/>
          </a:ln>
          <a:effectLst/>
        </p:spPr>
      </p:pic>
      <p:cxnSp>
        <p:nvCxnSpPr>
          <p:cNvPr id="8" name="7 Conector recto de flecha"/>
          <p:cNvCxnSpPr/>
          <p:nvPr/>
        </p:nvCxnSpPr>
        <p:spPr>
          <a:xfrm rot="10800000" flipV="1">
            <a:off x="6384100" y="1940457"/>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Ingresar al repositorio que se desea eliminar</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p:cNvPicPr>
            <a:picLocks noChangeAspect="1" noChangeArrowheads="1"/>
          </p:cNvPicPr>
          <p:nvPr/>
        </p:nvPicPr>
        <p:blipFill>
          <a:blip r:embed="rId4"/>
          <a:srcRect t="3781" r="-424" b="15789"/>
          <a:stretch>
            <a:fillRect/>
          </a:stretch>
        </p:blipFill>
        <p:spPr bwMode="auto">
          <a:xfrm>
            <a:off x="1375377" y="1981200"/>
            <a:ext cx="6155071" cy="2771554"/>
          </a:xfrm>
          <a:prstGeom prst="rect">
            <a:avLst/>
          </a:prstGeom>
          <a:noFill/>
          <a:ln w="9525">
            <a:noFill/>
            <a:miter lim="800000"/>
            <a:headEnd/>
            <a:tailEnd/>
          </a:ln>
          <a:effectLst/>
        </p:spPr>
      </p:pic>
      <p:cxnSp>
        <p:nvCxnSpPr>
          <p:cNvPr id="8" name="7 Conector recto de flecha"/>
          <p:cNvCxnSpPr/>
          <p:nvPr/>
        </p:nvCxnSpPr>
        <p:spPr>
          <a:xfrm rot="10800000">
            <a:off x="2303856" y="2687467"/>
            <a:ext cx="3227732" cy="858048"/>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Ingresar a la opción de ajuste</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050" name="Picture 2"/>
          <p:cNvPicPr>
            <a:picLocks noChangeAspect="1" noChangeArrowheads="1"/>
          </p:cNvPicPr>
          <p:nvPr/>
        </p:nvPicPr>
        <p:blipFill>
          <a:blip r:embed="rId4"/>
          <a:srcRect t="4427" r="878" b="29147"/>
          <a:stretch>
            <a:fillRect/>
          </a:stretch>
        </p:blipFill>
        <p:spPr bwMode="auto">
          <a:xfrm>
            <a:off x="952500" y="1981200"/>
            <a:ext cx="7280824" cy="2743200"/>
          </a:xfrm>
          <a:prstGeom prst="rect">
            <a:avLst/>
          </a:prstGeom>
          <a:noFill/>
          <a:ln w="9525">
            <a:noFill/>
            <a:miter lim="800000"/>
            <a:headEnd/>
            <a:tailEnd/>
          </a:ln>
          <a:effectLst/>
        </p:spPr>
      </p:pic>
      <p:cxnSp>
        <p:nvCxnSpPr>
          <p:cNvPr id="8" name="7 Conector recto de flecha"/>
          <p:cNvCxnSpPr/>
          <p:nvPr/>
        </p:nvCxnSpPr>
        <p:spPr>
          <a:xfrm rot="10800000">
            <a:off x="4647006" y="3106568"/>
            <a:ext cx="1696644" cy="836783"/>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En la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Danger</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Zone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seleccionar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Delete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this</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repository</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075" name="Picture 3"/>
          <p:cNvPicPr>
            <a:picLocks noChangeAspect="1" noChangeArrowheads="1"/>
          </p:cNvPicPr>
          <p:nvPr/>
        </p:nvPicPr>
        <p:blipFill>
          <a:blip r:embed="rId4"/>
          <a:srcRect t="3906" r="1830" b="23177"/>
          <a:stretch>
            <a:fillRect/>
          </a:stretch>
        </p:blipFill>
        <p:spPr bwMode="auto">
          <a:xfrm>
            <a:off x="1419225" y="2000250"/>
            <a:ext cx="6477749" cy="2705100"/>
          </a:xfrm>
          <a:prstGeom prst="rect">
            <a:avLst/>
          </a:prstGeom>
          <a:noFill/>
          <a:ln w="9525">
            <a:noFill/>
            <a:miter lim="800000"/>
            <a:headEnd/>
            <a:tailEnd/>
          </a:ln>
          <a:effectLst/>
        </p:spPr>
      </p:pic>
      <p:cxnSp>
        <p:nvCxnSpPr>
          <p:cNvPr id="8" name="7 Conector recto de flecha"/>
          <p:cNvCxnSpPr/>
          <p:nvPr/>
        </p:nvCxnSpPr>
        <p:spPr>
          <a:xfrm>
            <a:off x="4495800" y="3714750"/>
            <a:ext cx="1522806" cy="706269"/>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Redacta el texto  solicitado para confirmar e ingresa tu contraseña </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4098" name="Picture 2"/>
          <p:cNvPicPr>
            <a:picLocks noChangeAspect="1" noChangeArrowheads="1"/>
          </p:cNvPicPr>
          <p:nvPr/>
        </p:nvPicPr>
        <p:blipFill>
          <a:blip r:embed="rId4"/>
          <a:srcRect t="9735" b="29688"/>
          <a:stretch>
            <a:fillRect/>
          </a:stretch>
        </p:blipFill>
        <p:spPr bwMode="auto">
          <a:xfrm>
            <a:off x="571499" y="2019300"/>
            <a:ext cx="7886701" cy="2686050"/>
          </a:xfrm>
          <a:prstGeom prst="rect">
            <a:avLst/>
          </a:prstGeom>
          <a:noFill/>
          <a:ln w="9525">
            <a:noFill/>
            <a:miter lim="800000"/>
            <a:headEnd/>
            <a:tailEnd/>
          </a:ln>
          <a:effectLst/>
        </p:spPr>
      </p:pic>
      <p:cxnSp>
        <p:nvCxnSpPr>
          <p:cNvPr id="8" name="7 Conector recto de flecha"/>
          <p:cNvCxnSpPr/>
          <p:nvPr/>
        </p:nvCxnSpPr>
        <p:spPr>
          <a:xfrm>
            <a:off x="1714500" y="3238500"/>
            <a:ext cx="1522806" cy="706269"/>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87654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visualizar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el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historial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COMMITS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Ingresar al repositorio que se desea visualizar</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p:cNvPicPr>
            <a:picLocks noChangeAspect="1" noChangeArrowheads="1"/>
          </p:cNvPicPr>
          <p:nvPr/>
        </p:nvPicPr>
        <p:blipFill>
          <a:blip r:embed="rId4"/>
          <a:srcRect t="3781" r="-424" b="15789"/>
          <a:stretch>
            <a:fillRect/>
          </a:stretch>
        </p:blipFill>
        <p:spPr bwMode="auto">
          <a:xfrm>
            <a:off x="1375377" y="1981200"/>
            <a:ext cx="6155071" cy="2771554"/>
          </a:xfrm>
          <a:prstGeom prst="rect">
            <a:avLst/>
          </a:prstGeom>
          <a:noFill/>
          <a:ln w="9525">
            <a:noFill/>
            <a:miter lim="800000"/>
            <a:headEnd/>
            <a:tailEnd/>
          </a:ln>
          <a:effectLst/>
        </p:spPr>
      </p:pic>
      <p:cxnSp>
        <p:nvCxnSpPr>
          <p:cNvPr id="8" name="7 Conector recto de flecha"/>
          <p:cNvCxnSpPr/>
          <p:nvPr/>
        </p:nvCxnSpPr>
        <p:spPr>
          <a:xfrm rot="10800000">
            <a:off x="2303856" y="2687467"/>
            <a:ext cx="3227732" cy="858048"/>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87654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visualizar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el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historial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COMMITS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Ingresar al icono de cantidad de COMMITS</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p:cNvPicPr>
            <a:picLocks noChangeAspect="1" noChangeArrowheads="1"/>
          </p:cNvPicPr>
          <p:nvPr/>
        </p:nvPicPr>
        <p:blipFill>
          <a:blip r:embed="rId4"/>
          <a:srcRect t="4427" r="2928" b="19271"/>
          <a:stretch>
            <a:fillRect/>
          </a:stretch>
        </p:blipFill>
        <p:spPr bwMode="auto">
          <a:xfrm>
            <a:off x="1276350" y="1981200"/>
            <a:ext cx="6229350" cy="2752940"/>
          </a:xfrm>
          <a:prstGeom prst="rect">
            <a:avLst/>
          </a:prstGeom>
          <a:noFill/>
          <a:ln w="9525">
            <a:noFill/>
            <a:miter lim="800000"/>
            <a:headEnd/>
            <a:tailEnd/>
          </a:ln>
          <a:effectLst/>
        </p:spPr>
      </p:pic>
      <p:cxnSp>
        <p:nvCxnSpPr>
          <p:cNvPr id="8" name="7 Conector recto de flecha"/>
          <p:cNvCxnSpPr/>
          <p:nvPr/>
        </p:nvCxnSpPr>
        <p:spPr>
          <a:xfrm rot="10800000">
            <a:off x="5656656" y="3506618"/>
            <a:ext cx="2344344" cy="1008233"/>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-Extracción de datos </a:t>
            </a:r>
          </a:p>
          <a:p>
            <a:pPr marL="146050" lvl="0" indent="0">
              <a:buSzPts val="1300"/>
            </a:pPr>
            <a:r>
              <a:rPr lang="es-ES" dirty="0"/>
              <a:t>-Entendimiento de los datos</a:t>
            </a:r>
          </a:p>
          <a:p>
            <a:pPr marL="146050" lvl="0" indent="0">
              <a:buSzPts val="1300"/>
            </a:pPr>
            <a:r>
              <a:rPr lang="es-ES" dirty="0"/>
              <a:t> </a:t>
            </a:r>
            <a:endParaRPr dirty="0"/>
          </a:p>
        </p:txBody>
      </p:sp>
      <p:sp>
        <p:nvSpPr>
          <p:cNvPr id="176" name="Google Shape;176;p30"/>
          <p:cNvSpPr txBox="1">
            <a:spLocks noGrp="1"/>
          </p:cNvSpPr>
          <p:nvPr>
            <p:ph type="title" idx="2"/>
          </p:nvPr>
        </p:nvSpPr>
        <p:spPr>
          <a:xfrm>
            <a:off x="4849170" y="1001125"/>
            <a:ext cx="20268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02</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16485369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1960178" y="452645"/>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METODOLOGÍA CRISP DM</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1972511" y="435546"/>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174871" y="280386"/>
            <a:ext cx="1608094" cy="904553"/>
          </a:xfrm>
          <a:prstGeom prst="rect">
            <a:avLst/>
          </a:prstGeom>
          <a:noFill/>
        </p:spPr>
      </p:pic>
      <p:sp>
        <p:nvSpPr>
          <p:cNvPr id="7" name="Google Shape;136;p27"/>
          <p:cNvSpPr txBox="1">
            <a:spLocks/>
          </p:cNvSpPr>
          <p:nvPr/>
        </p:nvSpPr>
        <p:spPr>
          <a:xfrm>
            <a:off x="283779" y="499312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8" name="Picture 4">
            <a:extLst>
              <a:ext uri="{FF2B5EF4-FFF2-40B4-BE49-F238E27FC236}">
                <a16:creationId xmlns:a16="http://schemas.microsoft.com/office/drawing/2014/main" id="{C6907A6B-5948-3048-4E59-27D9DD901F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316639"/>
            <a:ext cx="9144000" cy="3546475"/>
          </a:xfrm>
          <a:prstGeom prst="rect">
            <a:avLst/>
          </a:prstGeom>
          <a:solidFill>
            <a:schemeClr val="bg1">
              <a:lumMod val="40000"/>
              <a:lumOff val="60000"/>
            </a:schemeClr>
          </a:solidFill>
        </p:spPr>
      </p:pic>
    </p:spTree>
    <p:extLst>
      <p:ext uri="{BB962C8B-B14F-4D97-AF65-F5344CB8AC3E}">
        <p14:creationId xmlns:p14="http://schemas.microsoft.com/office/powerpoint/2010/main" val="31377348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1026" name="Picture 2" descr="Filtrar datos—ArcGIS Insights | Documentación">
            <a:extLst>
              <a:ext uri="{FF2B5EF4-FFF2-40B4-BE49-F238E27FC236}">
                <a16:creationId xmlns:a16="http://schemas.microsoft.com/office/drawing/2014/main" id="{EBC3BAFE-71F7-6DE9-DB49-A91BDF4A2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9041" y="2770696"/>
            <a:ext cx="2876550" cy="2295525"/>
          </a:xfrm>
          <a:prstGeom prst="rect">
            <a:avLst/>
          </a:prstGeom>
          <a:noFill/>
          <a:extLst>
            <a:ext uri="{909E8E84-426E-40DD-AFC4-6F175D3DCCD1}">
              <a14:hiddenFill xmlns:a14="http://schemas.microsoft.com/office/drawing/2010/main">
                <a:solidFill>
                  <a:srgbClr val="FFFFFF"/>
                </a:solidFill>
              </a14:hiddenFill>
            </a:ext>
          </a:extLst>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Extracción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FILTROS DE DATOS</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Al consultar un conjunto de datos, como usuario de un portal de datos abiertos, posiblemente busque unos datos concretos acerca del conjunto de datos. Para encontrar esos datos específicos más fácilmente, en lugar de desplazarse por decenas o centenares de registros, dispone de varias opciones de filtro.</a:t>
            </a:r>
            <a:endParaRPr lang="es-ES" dirty="0">
              <a:solidFill>
                <a:srgbClr val="F3F3F3"/>
              </a:solidFill>
              <a:latin typeface="Fira Sans Condensed Light"/>
              <a:ea typeface="Fira Sans Condensed Light"/>
              <a:cs typeface="Fira Sans Condensed Light"/>
              <a:sym typeface="Fira Sans Condensed Light"/>
            </a:endParaRPr>
          </a:p>
        </p:txBody>
      </p:sp>
      <p:cxnSp>
        <p:nvCxnSpPr>
          <p:cNvPr id="8" name="7 Conector recto de flecha"/>
          <p:cNvCxnSpPr>
            <a:cxnSpLocks/>
          </p:cNvCxnSpPr>
          <p:nvPr/>
        </p:nvCxnSpPr>
        <p:spPr>
          <a:xfrm>
            <a:off x="2444486" y="4074366"/>
            <a:ext cx="1453662" cy="483623"/>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 name="Picture 4" descr="The Learning Gate | Tec de Monterrey">
            <a:extLst>
              <a:ext uri="{FF2B5EF4-FFF2-40B4-BE49-F238E27FC236}">
                <a16:creationId xmlns:a16="http://schemas.microsoft.com/office/drawing/2014/main" id="{47B43D3C-C886-D2BF-4BE5-A00114CCC9CC}"/>
              </a:ext>
            </a:extLst>
          </p:cNvPr>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Extracción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FILTROS DE DATOS</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Al consultar un conjunto de datos, como usuario de un portal de datos abiertos, posiblemente busque unos datos concretos acerca del conjunto de datos. Para encontrar esos datos específicos más fácilmente, en lugar de desplazarse por decenas o centenares de registros, dispone de varias opciones de filtro.</a:t>
            </a:r>
            <a:endParaRPr lang="es-ES" dirty="0">
              <a:solidFill>
                <a:srgbClr val="F3F3F3"/>
              </a:solidFill>
              <a:latin typeface="Fira Sans Condensed Light"/>
              <a:ea typeface="Fira Sans Condensed Light"/>
              <a:cs typeface="Fira Sans Condensed Light"/>
              <a:sym typeface="Fira Sans Condensed Light"/>
            </a:endParaRP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descr="Dataset filters">
            <a:extLst>
              <a:ext uri="{FF2B5EF4-FFF2-40B4-BE49-F238E27FC236}">
                <a16:creationId xmlns:a16="http://schemas.microsoft.com/office/drawing/2014/main" id="{C28334A7-4213-BBD8-7767-4CA3CEB8C0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612" b="57248"/>
          <a:stretch/>
        </p:blipFill>
        <p:spPr bwMode="auto">
          <a:xfrm>
            <a:off x="393701" y="3045207"/>
            <a:ext cx="2293937" cy="139596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Dataset filters">
            <a:extLst>
              <a:ext uri="{FF2B5EF4-FFF2-40B4-BE49-F238E27FC236}">
                <a16:creationId xmlns:a16="http://schemas.microsoft.com/office/drawing/2014/main" id="{76106C82-538F-D931-184B-EB99135684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64" t="44078" r="2112" b="23533"/>
          <a:stretch/>
        </p:blipFill>
        <p:spPr bwMode="auto">
          <a:xfrm>
            <a:off x="3406127" y="2944536"/>
            <a:ext cx="2211905" cy="166592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ataset filters">
            <a:extLst>
              <a:ext uri="{FF2B5EF4-FFF2-40B4-BE49-F238E27FC236}">
                <a16:creationId xmlns:a16="http://schemas.microsoft.com/office/drawing/2014/main" id="{14AA7B78-6B57-55CC-42DC-D7BDB459B6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1" t="76389" r="3798" b="678"/>
          <a:stretch/>
        </p:blipFill>
        <p:spPr bwMode="auto">
          <a:xfrm>
            <a:off x="6336522" y="3153403"/>
            <a:ext cx="2211905" cy="11795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The Learning Gate | Tec de Monterrey">
            <a:extLst>
              <a:ext uri="{FF2B5EF4-FFF2-40B4-BE49-F238E27FC236}">
                <a16:creationId xmlns:a16="http://schemas.microsoft.com/office/drawing/2014/main" id="{5D211701-7A0E-2907-CB31-3EB364D32904}"/>
              </a:ext>
            </a:extLst>
          </p:cNvPr>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Tree>
    <p:extLst>
      <p:ext uri="{BB962C8B-B14F-4D97-AF65-F5344CB8AC3E}">
        <p14:creationId xmlns:p14="http://schemas.microsoft.com/office/powerpoint/2010/main" val="29036108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1.1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Extracción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78522" y="1424343"/>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un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nuevo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Extracción</a:t>
            </a:r>
            <a:r>
              <a:rPr lang="en-US" sz="1600" b="1" dirty="0">
                <a:solidFill>
                  <a:schemeClr val="tx2"/>
                </a:solidFill>
                <a:latin typeface="Fira Sans Condensed Light" panose="020B0604020202020204" charset="0"/>
                <a:cs typeface="Times New Roman" panose="02020603050405020304" pitchFamily="18" charset="0"/>
              </a:rPr>
              <a:t> de Datos</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dentro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carpeta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Actividad</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1.1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Citas_Digital</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Agregar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tx2"/>
                </a:solidFill>
                <a:latin typeface="Fira Sans Condensed Light" panose="020B0604020202020204" charset="0"/>
                <a:cs typeface="Times New Roman" panose="02020603050405020304" pitchFamily="18" charset="0"/>
              </a:rPr>
              <a:t>Citas_Digital</a:t>
            </a:r>
            <a:r>
              <a:rPr lang="en-US" sz="1600" b="1" dirty="0">
                <a:solidFill>
                  <a:schemeClr val="tx2"/>
                </a:solidFill>
                <a:latin typeface="Fira Sans Condensed Light" panose="020B0604020202020204" charset="0"/>
                <a:cs typeface="Times New Roman" panose="02020603050405020304" pitchFamily="18" charset="0"/>
              </a:rPr>
              <a:t>.xlsx</a:t>
            </a: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Aplicar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los siguientes filtros en orden consecutivo:</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a:t>
            </a:r>
            <a:r>
              <a:rPr lang="es-ES" sz="1600" b="1" dirty="0">
                <a:solidFill>
                  <a:schemeClr val="tx2"/>
                </a:solidFill>
                <a:latin typeface="Fira Sans Condensed Light" panose="020B0604020202020204" charset="0"/>
                <a:cs typeface="Times New Roman" panose="02020603050405020304" pitchFamily="18" charset="0"/>
              </a:rPr>
              <a:t>Filtro por filas (0-673)</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a:t>
            </a:r>
            <a:r>
              <a:rPr lang="es-MX"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MX" sz="1600" b="1" dirty="0">
                <a:solidFill>
                  <a:schemeClr val="tx2"/>
                </a:solidFill>
                <a:latin typeface="Fira Sans Condensed Light" panose="020B0604020202020204" charset="0"/>
                <a:cs typeface="Times New Roman" panose="02020603050405020304" pitchFamily="18" charset="0"/>
              </a:rPr>
              <a:t>Filtro por columnas (0,1,2,4,5,6,7,8,9)</a:t>
            </a:r>
            <a:endParaRPr lang="en-U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a:t>
            </a:r>
            <a:r>
              <a:rPr lang="es-ES" sz="1600" b="1" dirty="0">
                <a:solidFill>
                  <a:schemeClr val="tx2"/>
                </a:solidFill>
                <a:latin typeface="Fira Sans Condensed Light" panose="020B0604020202020204" charset="0"/>
                <a:cs typeface="Times New Roman" panose="02020603050405020304" pitchFamily="18" charset="0"/>
              </a:rPr>
              <a:t>Convertir los datos de la variable “Potencial de compra” a tipo </a:t>
            </a:r>
            <a:r>
              <a:rPr lang="es-ES" sz="1600" b="1" dirty="0" err="1">
                <a:solidFill>
                  <a:schemeClr val="tx2"/>
                </a:solidFill>
                <a:latin typeface="Fira Sans Condensed Light" panose="020B0604020202020204" charset="0"/>
                <a:cs typeface="Times New Roman" panose="02020603050405020304" pitchFamily="18" charset="0"/>
              </a:rPr>
              <a:t>float</a:t>
            </a:r>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a:t>
            </a:r>
            <a:r>
              <a:rPr lang="es-ES" sz="1600" b="1" dirty="0">
                <a:solidFill>
                  <a:schemeClr val="tx2"/>
                </a:solidFill>
                <a:latin typeface="Fira Sans Condensed Light" panose="020B0604020202020204" charset="0"/>
                <a:cs typeface="Times New Roman" panose="02020603050405020304" pitchFamily="18" charset="0"/>
              </a:rPr>
              <a:t>Obtener el CSV General y nombrarlo </a:t>
            </a:r>
            <a:r>
              <a:rPr lang="es-ES" sz="1600" b="1" dirty="0">
                <a:solidFill>
                  <a:srgbClr val="13F513"/>
                </a:solidFill>
                <a:latin typeface="Fira Sans Condensed Light" panose="020B0604020202020204" charset="0"/>
                <a:cs typeface="Times New Roman" panose="02020603050405020304" pitchFamily="18" charset="0"/>
              </a:rPr>
              <a:t>“Citas_Digital_General.csv”  (1 entregable)</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a:t>
            </a:r>
            <a:r>
              <a:rPr lang="es-ES" sz="1600" b="1" dirty="0">
                <a:solidFill>
                  <a:schemeClr val="tx2"/>
                </a:solidFill>
                <a:latin typeface="Fira Sans Condensed Light" panose="020B0604020202020204" charset="0"/>
                <a:cs typeface="Times New Roman" panose="02020603050405020304" pitchFamily="18" charset="0"/>
              </a:rPr>
              <a:t>A partir del archivo “Citas_Digital_General.csv” realizar un filtro por filas para obtener un archivo .</a:t>
            </a:r>
            <a:r>
              <a:rPr lang="es-ES" sz="1600" b="1" dirty="0" err="1">
                <a:solidFill>
                  <a:schemeClr val="tx2"/>
                </a:solidFill>
                <a:latin typeface="Fira Sans Condensed Light" panose="020B0604020202020204" charset="0"/>
                <a:cs typeface="Times New Roman" panose="02020603050405020304" pitchFamily="18" charset="0"/>
              </a:rPr>
              <a:t>csv</a:t>
            </a:r>
            <a:r>
              <a:rPr lang="es-ES" sz="1600" b="1" dirty="0">
                <a:solidFill>
                  <a:schemeClr val="tx2"/>
                </a:solidFill>
                <a:latin typeface="Fira Sans Condensed Light" panose="020B0604020202020204" charset="0"/>
                <a:cs typeface="Times New Roman" panose="02020603050405020304" pitchFamily="18" charset="0"/>
              </a:rPr>
              <a:t> por cada mes (Desde abril 2025 hasta julio 2026) y nombrarlo con el mes y año correspondiente ejemplo: </a:t>
            </a:r>
            <a:r>
              <a:rPr lang="es-ES" sz="1600" b="1" dirty="0">
                <a:solidFill>
                  <a:srgbClr val="13F513"/>
                </a:solidFill>
                <a:latin typeface="Fira Sans Condensed Light" panose="020B0604020202020204" charset="0"/>
                <a:cs typeface="Times New Roman" panose="02020603050405020304" pitchFamily="18" charset="0"/>
              </a:rPr>
              <a:t>“Abril_2025.csv”</a:t>
            </a:r>
            <a:r>
              <a:rPr lang="es-ES" sz="1600" b="1" dirty="0">
                <a:solidFill>
                  <a:schemeClr val="tx2"/>
                </a:solidFill>
                <a:latin typeface="Fira Sans Condensed Light" panose="020B0604020202020204" charset="0"/>
                <a:cs typeface="Times New Roman" panose="02020603050405020304" pitchFamily="18" charset="0"/>
              </a:rPr>
              <a:t> </a:t>
            </a:r>
            <a:r>
              <a:rPr lang="es-ES" sz="1600" b="1" dirty="0">
                <a:solidFill>
                  <a:srgbClr val="13F513"/>
                </a:solidFill>
                <a:latin typeface="Fira Sans Condensed Light" panose="020B0604020202020204" charset="0"/>
                <a:cs typeface="Times New Roman" panose="02020603050405020304" pitchFamily="18" charset="0"/>
              </a:rPr>
              <a:t>(16 entregables)</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6482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5863349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1</a:t>
            </a:r>
            <a:r>
              <a:rPr lang="en-US" sz="3000" b="1" dirty="0">
                <a:solidFill>
                  <a:srgbClr val="F3F3F3"/>
                </a:solidFill>
                <a:latin typeface="Rajdhani"/>
                <a:ea typeface="Rajdhani"/>
                <a:cs typeface="Rajdhani"/>
                <a:sym typeface="Rajdhani"/>
              </a:rPr>
              <a:t>.1</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Extracción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78522" y="1424343"/>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Visual Studio Code o Google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Colab</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en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 </a:t>
            </a:r>
            <a:r>
              <a:rPr lang="es-ES" sz="1600" b="1" dirty="0">
                <a:solidFill>
                  <a:srgbClr val="13F513"/>
                </a:solidFill>
                <a:latin typeface="Fira Sans Condensed Light" panose="020B0604020202020204" charset="0"/>
                <a:cs typeface="Times New Roman" panose="02020603050405020304" pitchFamily="18" charset="0"/>
              </a:rPr>
              <a:t>(1 entregable)</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5. </a:t>
            </a:r>
            <a:r>
              <a:rPr lang="en-US" sz="1600" b="1" dirty="0" err="1">
                <a:solidFill>
                  <a:schemeClr val="tx2"/>
                </a:solidFill>
                <a:latin typeface="Fira Sans Condensed Light" panose="020B0604020202020204" charset="0"/>
                <a:cs typeface="Times New Roman" panose="02020603050405020304" pitchFamily="18" charset="0"/>
              </a:rPr>
              <a:t>Subir</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a:solidFill>
                  <a:schemeClr val="tx2"/>
                </a:solidFill>
                <a:latin typeface="Fira Sans Condensed Light" panose="020B0604020202020204" charset="0"/>
                <a:cs typeface="Times New Roman" panose="02020603050405020304" pitchFamily="18" charset="0"/>
              </a:rPr>
              <a:t>el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en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187262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dirty="0"/>
              <a:t>https://itesm.zoom.us/my/alfredo.garcia</a:t>
            </a:r>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17791</TotalTime>
  <Words>1874</Words>
  <Application>Microsoft Office PowerPoint</Application>
  <PresentationFormat>Presentación en pantalla (16:9)</PresentationFormat>
  <Paragraphs>345</Paragraphs>
  <Slides>41</Slides>
  <Notes>41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41</vt:i4>
      </vt:variant>
    </vt:vector>
  </HeadingPairs>
  <TitlesOfParts>
    <vt:vector size="47" baseType="lpstr">
      <vt:lpstr>Fira Sans Condensed Light</vt:lpstr>
      <vt:lpstr>Advent Pro Light</vt:lpstr>
      <vt:lpstr>Rajdhani</vt:lpstr>
      <vt:lpstr>Anton</vt:lpstr>
      <vt:lpstr>Arial</vt:lpstr>
      <vt:lpstr>Ai Tech Agency by Slidesgo</vt:lpstr>
      <vt:lpstr>Presentación de PowerPoint</vt:lpstr>
      <vt:lpstr>Bienvenida</vt:lpstr>
      <vt:lpstr>Presentación de PowerPoint</vt:lpstr>
      <vt:lpstr>CLASE ANTERIOR</vt:lpstr>
      <vt:lpstr>AGENDA</vt:lpstr>
      <vt:lpstr>CONTENIDOS DE APRENDIZAJE</vt:lpstr>
      <vt:lpstr>ANALÍTICA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ACTUAL</vt:lpstr>
      <vt:lpstr>METODOLOGÍA CRISP DM</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Garcia Suarez</cp:lastModifiedBy>
  <cp:revision>256</cp:revision>
  <dcterms:modified xsi:type="dcterms:W3CDTF">2026-08-14T03:28:14Z</dcterms:modified>
</cp:coreProperties>
</file>