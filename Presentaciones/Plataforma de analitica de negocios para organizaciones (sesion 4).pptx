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17"/>
  </p:notesMasterIdLst>
  <p:sldIdLst>
    <p:sldId id="256" r:id="rId2"/>
    <p:sldId id="357" r:id="rId3"/>
    <p:sldId id="358" r:id="rId4"/>
    <p:sldId id="365" r:id="rId5"/>
    <p:sldId id="436" r:id="rId6"/>
    <p:sldId id="446" r:id="rId7"/>
    <p:sldId id="407" r:id="rId8"/>
    <p:sldId id="408" r:id="rId9"/>
    <p:sldId id="448" r:id="rId10"/>
    <p:sldId id="409" r:id="rId11"/>
    <p:sldId id="410" r:id="rId12"/>
    <p:sldId id="411" r:id="rId13"/>
    <p:sldId id="449" r:id="rId14"/>
    <p:sldId id="425" r:id="rId15"/>
    <p:sldId id="280" r:id="rId16"/>
  </p:sldIdLst>
  <p:sldSz cx="9144000" cy="5143500" type="screen16x9"/>
  <p:notesSz cx="6858000" cy="9144000"/>
  <p:embeddedFontLst>
    <p:embeddedFont>
      <p:font typeface="Advent Pro Light" panose="020B0604020202020204" charset="0"/>
      <p:regular r:id="rId18"/>
      <p:bold r:id="rId19"/>
    </p:embeddedFont>
    <p:embeddedFont>
      <p:font typeface="Anton" pitchFamily="2" charset="0"/>
      <p:regular r:id="rId20"/>
    </p:embeddedFont>
    <p:embeddedFont>
      <p:font typeface="Fira Sans Condensed Light" panose="020B0403050000020004" pitchFamily="34" charset="0"/>
      <p:regular r:id="rId21"/>
      <p:bold r:id="rId22"/>
      <p:italic r:id="rId23"/>
      <p:boldItalic r:id="rId24"/>
    </p:embeddedFont>
    <p:embeddedFont>
      <p:font typeface="Rajdhani" panose="020B0604020202020204" charset="0"/>
      <p:regular r:id="rId25"/>
      <p:bold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E397FE-706D-4E7D-AA01-638484C1D090}">
  <a:tblStyle styleId="{95E397FE-706D-4E7D-AA01-638484C1D0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969" autoAdjust="0"/>
  </p:normalViewPr>
  <p:slideViewPr>
    <p:cSldViewPr snapToGrid="0">
      <p:cViewPr varScale="1">
        <p:scale>
          <a:sx n="91" d="100"/>
          <a:sy n="91" d="100"/>
        </p:scale>
        <p:origin x="78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457539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0075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26308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C130F45F-30C4-3C8C-C653-889F45B708B7}"/>
            </a:ext>
          </a:extLst>
        </p:cNvPr>
        <p:cNvGrpSpPr/>
        <p:nvPr/>
      </p:nvGrpSpPr>
      <p:grpSpPr>
        <a:xfrm>
          <a:off x="0" y="0"/>
          <a:ext cx="0" cy="0"/>
          <a:chOff x="0" y="0"/>
          <a:chExt cx="0" cy="0"/>
        </a:xfrm>
      </p:grpSpPr>
      <p:sp>
        <p:nvSpPr>
          <p:cNvPr id="171" name="Google Shape;171;g708a6ee8a1_0_403:notes">
            <a:extLst>
              <a:ext uri="{FF2B5EF4-FFF2-40B4-BE49-F238E27FC236}">
                <a16:creationId xmlns:a16="http://schemas.microsoft.com/office/drawing/2014/main" id="{43848EAE-8DD8-467E-ADD7-1BE882EA3E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a:extLst>
              <a:ext uri="{FF2B5EF4-FFF2-40B4-BE49-F238E27FC236}">
                <a16:creationId xmlns:a16="http://schemas.microsoft.com/office/drawing/2014/main" id="{3F8D5514-3443-00A0-4F63-BF3E81E331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979707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D299A53-B550-606E-A0BA-2AE732922A82}"/>
            </a:ext>
          </a:extLst>
        </p:cNvPr>
        <p:cNvGrpSpPr/>
        <p:nvPr/>
      </p:nvGrpSpPr>
      <p:grpSpPr>
        <a:xfrm>
          <a:off x="0" y="0"/>
          <a:ext cx="0" cy="0"/>
          <a:chOff x="0" y="0"/>
          <a:chExt cx="0" cy="0"/>
        </a:xfrm>
      </p:grpSpPr>
      <p:sp>
        <p:nvSpPr>
          <p:cNvPr id="171" name="Google Shape;171;g708a6ee8a1_0_403:notes">
            <a:extLst>
              <a:ext uri="{FF2B5EF4-FFF2-40B4-BE49-F238E27FC236}">
                <a16:creationId xmlns:a16="http://schemas.microsoft.com/office/drawing/2014/main" id="{4620A034-EEF1-5A68-4681-9BBC4FF6C2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a:extLst>
              <a:ext uri="{FF2B5EF4-FFF2-40B4-BE49-F238E27FC236}">
                <a16:creationId xmlns:a16="http://schemas.microsoft.com/office/drawing/2014/main" id="{281F3297-7303-EBC9-DF74-18B46181D2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724536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7098bb5640_0_1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7" name="Google Shape;1797;g7098bb5640_0_1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8124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139150"/>
            <a:ext cx="4404000" cy="25905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solidFill>
                  <a:srgbClr val="F3F3F3"/>
                </a:solidFill>
                <a:latin typeface="Anton"/>
                <a:ea typeface="Anton"/>
                <a:cs typeface="Anton"/>
                <a:sym typeface="Ant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585075"/>
            <a:ext cx="3384900" cy="4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solidFill>
                  <a:srgbClr val="F3F3F3"/>
                </a:solidFill>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720000" y="1152475"/>
            <a:ext cx="7704000" cy="3416400"/>
          </a:xfrm>
          <a:prstGeom prst="rect">
            <a:avLst/>
          </a:prstGeom>
          <a:solidFill>
            <a:srgbClr val="FFFFFF">
              <a:alpha val="45090"/>
            </a:srgbClr>
          </a:solidFill>
        </p:spPr>
        <p:txBody>
          <a:bodyPr spcFirstLastPara="1" wrap="square" lIns="91425" tIns="91425" rIns="91425" bIns="91425" anchor="t" anchorCtr="0">
            <a:noAutofit/>
          </a:bodyPr>
          <a:lstStyle>
            <a:lvl1pPr marL="457200" lvl="0" indent="-298450">
              <a:lnSpc>
                <a:spcPct val="100000"/>
              </a:lnSpc>
              <a:spcBef>
                <a:spcPts val="0"/>
              </a:spcBef>
              <a:spcAft>
                <a:spcPts val="0"/>
              </a:spcAft>
              <a:buClr>
                <a:srgbClr val="434343"/>
              </a:buClr>
              <a:buSzPts val="1100"/>
              <a:buAutoNum type="arabicPeriod"/>
              <a:defRPr sz="1300">
                <a:solidFill>
                  <a:srgbClr val="F3F3F3"/>
                </a:solidFill>
              </a:defRPr>
            </a:lvl1pPr>
            <a:lvl2pPr marL="914400" lvl="1" indent="-298450">
              <a:spcBef>
                <a:spcPts val="1600"/>
              </a:spcBef>
              <a:spcAft>
                <a:spcPts val="0"/>
              </a:spcAft>
              <a:buClr>
                <a:srgbClr val="000000"/>
              </a:buClr>
              <a:buSzPts val="1100"/>
              <a:buAutoNum type="alphaLcPeriod"/>
              <a:defRPr sz="1200"/>
            </a:lvl2pPr>
            <a:lvl3pPr marL="1371600" lvl="2" indent="-298450">
              <a:spcBef>
                <a:spcPts val="1600"/>
              </a:spcBef>
              <a:spcAft>
                <a:spcPts val="0"/>
              </a:spcAft>
              <a:buClr>
                <a:srgbClr val="000000"/>
              </a:buClr>
              <a:buSzPts val="1100"/>
              <a:buAutoNum type="romanLcPeriod"/>
              <a:defRPr sz="1200"/>
            </a:lvl3pPr>
            <a:lvl4pPr marL="1828800" lvl="3" indent="-298450">
              <a:spcBef>
                <a:spcPts val="1600"/>
              </a:spcBef>
              <a:spcAft>
                <a:spcPts val="0"/>
              </a:spcAft>
              <a:buClr>
                <a:srgbClr val="000000"/>
              </a:buClr>
              <a:buSzPts val="1100"/>
              <a:buAutoNum type="arabicPeriod"/>
              <a:defRPr sz="1200"/>
            </a:lvl4pPr>
            <a:lvl5pPr marL="2286000" lvl="4" indent="-298450">
              <a:spcBef>
                <a:spcPts val="1600"/>
              </a:spcBef>
              <a:spcAft>
                <a:spcPts val="0"/>
              </a:spcAft>
              <a:buClr>
                <a:srgbClr val="000000"/>
              </a:buClr>
              <a:buSzPts val="1100"/>
              <a:buAutoNum type="alphaLcPeriod"/>
              <a:defRPr sz="1200"/>
            </a:lvl5pPr>
            <a:lvl6pPr marL="2743200" lvl="5" indent="-298450">
              <a:spcBef>
                <a:spcPts val="1600"/>
              </a:spcBef>
              <a:spcAft>
                <a:spcPts val="0"/>
              </a:spcAft>
              <a:buClr>
                <a:srgbClr val="000000"/>
              </a:buClr>
              <a:buSzPts val="1100"/>
              <a:buAutoNum type="romanLcPeriod"/>
              <a:defRPr sz="1200"/>
            </a:lvl6pPr>
            <a:lvl7pPr marL="3200400" lvl="6" indent="-298450">
              <a:spcBef>
                <a:spcPts val="1600"/>
              </a:spcBef>
              <a:spcAft>
                <a:spcPts val="0"/>
              </a:spcAft>
              <a:buClr>
                <a:srgbClr val="000000"/>
              </a:buClr>
              <a:buSzPts val="1100"/>
              <a:buAutoNum type="arabicPeriod"/>
              <a:defRPr sz="1200"/>
            </a:lvl7pPr>
            <a:lvl8pPr marL="3657600" lvl="7" indent="-298450">
              <a:spcBef>
                <a:spcPts val="1600"/>
              </a:spcBef>
              <a:spcAft>
                <a:spcPts val="0"/>
              </a:spcAft>
              <a:buClr>
                <a:srgbClr val="000000"/>
              </a:buClr>
              <a:buSzPts val="1100"/>
              <a:buAutoNum type="alphaLcPeriod"/>
              <a:defRPr sz="1200"/>
            </a:lvl8pPr>
            <a:lvl9pPr marL="4114800" lvl="8" indent="-298450">
              <a:spcBef>
                <a:spcPts val="1600"/>
              </a:spcBef>
              <a:spcAft>
                <a:spcPts val="1600"/>
              </a:spcAft>
              <a:buClr>
                <a:srgbClr val="000000"/>
              </a:buClr>
              <a:buSzPts val="1100"/>
              <a:buAutoNum type="romanLcPeriod"/>
              <a:defRPr sz="1200"/>
            </a:lvl9pPr>
          </a:lstStyle>
          <a:p>
            <a:endParaRPr/>
          </a:p>
        </p:txBody>
      </p:sp>
      <p:sp>
        <p:nvSpPr>
          <p:cNvPr id="15" name="Google Shape;15;p4"/>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8"/>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400">
                <a:solidFill>
                  <a:srgbClr val="F3F3F3"/>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8"/>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solidFill>
                  <a:srgbClr val="F3F3F3"/>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BLANK_1_1_1_1_1_1_1_1_1">
    <p:bg>
      <p:bgPr>
        <a:blipFill>
          <a:blip r:embed="rId2">
            <a:alphaModFix/>
          </a:blip>
          <a:stretch>
            <a:fillRect/>
          </a:stretch>
        </a:blip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título 1">
  <p:cSld name="Solo título 1">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solidFill>
                  <a:srgbClr val="F3F3F3"/>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3" name="Google Shape;33;p10"/>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solidFill>
                  <a:srgbClr val="F3F3F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 name="Google Shape;34;p10"/>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solidFill>
                  <a:srgbClr val="F3F3F3"/>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C343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1pPr>
            <a:lvl2pPr lvl="1">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2pPr>
            <a:lvl3pPr lvl="2">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3pPr>
            <a:lvl4pPr lvl="3">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4pPr>
            <a:lvl5pPr lvl="4">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5pPr>
            <a:lvl6pPr lvl="5">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6pPr>
            <a:lvl7pPr lvl="6">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7pPr>
            <a:lvl8pPr lvl="7">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8pPr>
            <a:lvl9pPr lvl="8">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9" r:id="rId4"/>
    <p:sldLayoutId id="2147483666" r:id="rId5"/>
    <p:sldLayoutId id="2147483667" r:id="rId6"/>
    <p:sldLayoutId id="2147483670" r:id="rId7"/>
    <p:sldLayoutId id="2147483671" r:id="rId8"/>
    <p:sldLayoutId id="2147483672"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9.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mailto:Alfredo.garcias@tec.m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7" name="object 14"/>
          <p:cNvSpPr txBox="1"/>
          <p:nvPr/>
        </p:nvSpPr>
        <p:spPr>
          <a:xfrm>
            <a:off x="745436" y="839354"/>
            <a:ext cx="8398564" cy="4299318"/>
          </a:xfrm>
          <a:prstGeom prst="rect">
            <a:avLst/>
          </a:prstGeom>
        </p:spPr>
        <p:txBody>
          <a:bodyPr vert="horz" wrap="square" lIns="0" tIns="13399" rIns="0" bIns="0" rtlCol="0">
            <a:spAutoFit/>
          </a:bodyPr>
          <a:lstStyle/>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br>
              <a:rPr lang="es-MX" dirty="0">
                <a:solidFill>
                  <a:schemeClr val="accent4"/>
                </a:solidFill>
                <a:latin typeface="Fira Sans Condensed Light" panose="020B0604020202020204" charset="0"/>
                <a:cs typeface="Times New Roman" panose="02020603050405020304" pitchFamily="18" charset="0"/>
              </a:rPr>
            </a:br>
            <a:br>
              <a:rPr lang="es-ES" sz="2000" b="1" dirty="0">
                <a:solidFill>
                  <a:srgbClr val="FF0000"/>
                </a:solidFill>
                <a:latin typeface="Fira Sans Condensed Light" panose="020B0604020202020204" charset="0"/>
                <a:cs typeface="Times New Roman" panose="02020603050405020304" pitchFamily="18" charset="0"/>
              </a:rPr>
            </a:b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spcBef>
                <a:spcPts val="106"/>
              </a:spcBef>
            </a:pPr>
            <a:r>
              <a:rPr lang="es-ES" sz="1600" b="1" dirty="0">
                <a:solidFill>
                  <a:schemeClr val="bg1"/>
                </a:solidFill>
                <a:latin typeface="Fira Sans Condensed Light" panose="020B0604020202020204" charset="0"/>
                <a:cs typeface="Times New Roman" panose="02020603050405020304" pitchFamily="18" charset="0"/>
              </a:rPr>
              <a:t>TI2001B</a:t>
            </a:r>
            <a:br>
              <a:rPr lang="es-ES" sz="2300" b="1" dirty="0">
                <a:solidFill>
                  <a:srgbClr val="FF0000"/>
                </a:solidFill>
                <a:latin typeface="Fira Sans Condensed Light" panose="020B0604020202020204" charset="0"/>
                <a:cs typeface="Times New Roman" panose="02020603050405020304" pitchFamily="18" charset="0"/>
              </a:rPr>
            </a:br>
            <a:r>
              <a:rPr lang="es-ES" sz="2700" b="1" dirty="0">
                <a:solidFill>
                  <a:schemeClr val="accent4"/>
                </a:solidFill>
                <a:latin typeface="Fira Sans Condensed Light" panose="020B0604020202020204" charset="0"/>
                <a:cs typeface="Times New Roman" panose="02020603050405020304" pitchFamily="18" charset="0"/>
              </a:rPr>
              <a:t>Plataformas de Analítica de Negocios para Organizaciones</a:t>
            </a:r>
          </a:p>
          <a:p>
            <a:pPr marL="14105" marR="5642">
              <a:spcBef>
                <a:spcPts val="106"/>
              </a:spcBef>
            </a:pPr>
            <a:endParaRPr lang="es-ES" sz="2000" b="1" dirty="0">
              <a:solidFill>
                <a:schemeClr val="bg1"/>
              </a:solidFill>
              <a:latin typeface="Fira Sans Condensed Light" panose="020B0604020202020204" charset="0"/>
              <a:cs typeface="Times New Roman" panose="02020603050405020304" pitchFamily="18" charset="0"/>
            </a:endParaRP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20 de Agosto del 2026</a:t>
            </a:r>
            <a:br>
              <a:rPr lang="es-ES" sz="2000" b="1" dirty="0">
                <a:solidFill>
                  <a:srgbClr val="FF0000"/>
                </a:solidFill>
                <a:latin typeface="Fira Sans Condensed Light" panose="020B0604020202020204" charset="0"/>
                <a:cs typeface="Times New Roman" panose="02020603050405020304" pitchFamily="18" charset="0"/>
              </a:rPr>
            </a:br>
            <a:endParaRPr lang="es-MX" dirty="0">
              <a:solidFill>
                <a:schemeClr val="tx2"/>
              </a:solidFill>
              <a:latin typeface="Fira Sans Condensed Light" panose="020B0604020202020204" charset="0"/>
              <a:cs typeface="Times New Roman" panose="02020603050405020304" pitchFamily="18" charset="0"/>
            </a:endParaRPr>
          </a:p>
        </p:txBody>
      </p:sp>
      <p:sp>
        <p:nvSpPr>
          <p:cNvPr id="1028" name="AutoShape 4" descr="Inicio | Título Electrónico Puebl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1434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5506277" y="308115"/>
            <a:ext cx="3345621" cy="587367"/>
          </a:xfrm>
          <a:prstGeom prst="rect">
            <a:avLst/>
          </a:prstGeom>
          <a:noFill/>
        </p:spPr>
      </p:pic>
      <p:cxnSp>
        <p:nvCxnSpPr>
          <p:cNvPr id="11" name="Google Shape;137;p27"/>
          <p:cNvCxnSpPr/>
          <p:nvPr/>
        </p:nvCxnSpPr>
        <p:spPr>
          <a:xfrm>
            <a:off x="599181" y="3300059"/>
            <a:ext cx="0" cy="630600"/>
          </a:xfrm>
          <a:prstGeom prst="straightConnector1">
            <a:avLst/>
          </a:prstGeom>
          <a:noFill/>
          <a:ln w="19050" cap="flat" cmpd="sng">
            <a:solidFill>
              <a:srgbClr val="F3F3F3"/>
            </a:solidFill>
            <a:prstDash val="solid"/>
            <a:round/>
            <a:headEnd type="oval" w="med" len="med"/>
            <a:tailEnd type="oval" w="med" len="med"/>
          </a:ln>
        </p:spPr>
      </p:cxnSp>
      <p:sp>
        <p:nvSpPr>
          <p:cNvPr id="6" name="Google Shape;136;p27"/>
          <p:cNvSpPr txBox="1">
            <a:spLocks noGrp="1"/>
          </p:cNvSpPr>
          <p:nvPr>
            <p:ph type="subTitle" idx="1"/>
          </p:nvPr>
        </p:nvSpPr>
        <p:spPr>
          <a:xfrm>
            <a:off x="0" y="4922784"/>
            <a:ext cx="3352799" cy="220716"/>
          </a:xfrm>
          <a:prstGeom prst="rect">
            <a:avLst/>
          </a:prstGeom>
        </p:spPr>
        <p:txBody>
          <a:bodyPr spcFirstLastPara="1" wrap="square" lIns="91425" tIns="91425" rIns="91425" bIns="91425" anchor="ctr" anchorCtr="0">
            <a:noAutofit/>
          </a:bodyPr>
          <a:lstStyle/>
          <a:p>
            <a:pPr algn="l"/>
            <a:r>
              <a:rPr lang="es-ES" dirty="0"/>
              <a:t>   </a:t>
            </a:r>
          </a:p>
          <a:p>
            <a:pPr algn="l"/>
            <a:r>
              <a:rPr lang="es-ES" dirty="0">
                <a:solidFill>
                  <a:schemeClr val="bg1">
                    <a:lumMod val="60000"/>
                    <a:lumOff val="40000"/>
                  </a:schemeClr>
                </a:solidFill>
                <a:latin typeface="Fira Sans Condensed Light" charset="0"/>
              </a:rPr>
              <a:t>Facilitador: </a:t>
            </a:r>
            <a:r>
              <a:rPr lang="es-ES" dirty="0" err="1">
                <a:solidFill>
                  <a:schemeClr val="bg1">
                    <a:lumMod val="60000"/>
                    <a:lumOff val="40000"/>
                  </a:schemeClr>
                </a:solidFill>
                <a:latin typeface="Fira Sans Condensed Light" charset="0"/>
              </a:rPr>
              <a:t>PhD</a:t>
            </a:r>
            <a:r>
              <a:rPr lang="es-ES" dirty="0">
                <a:solidFill>
                  <a:schemeClr val="bg1">
                    <a:lumMod val="60000"/>
                    <a:lumOff val="40000"/>
                  </a:schemeClr>
                </a:solidFill>
                <a:latin typeface="Fira Sans Condensed Light" charset="0"/>
              </a:rPr>
              <a:t> Alfredo García Suárez</a:t>
            </a:r>
          </a:p>
          <a:p>
            <a:pPr algn="l"/>
            <a:br>
              <a:rPr lang="es-ES" dirty="0"/>
            </a:b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anim calcmode="lin" valueType="num">
                                      <p:cBhvr additive="base">
                                        <p:cTn id="19"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anim calcmode="lin" valueType="num">
                                      <p:cBhvr additive="base">
                                        <p:cTn id="25"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pic>
        <p:nvPicPr>
          <p:cNvPr id="24578" name="Picture 2" descr="Qué es un Modelo de Analítica de Datos? - Northware"/>
          <p:cNvPicPr>
            <a:picLocks noChangeAspect="1" noChangeArrowheads="1"/>
          </p:cNvPicPr>
          <p:nvPr/>
        </p:nvPicPr>
        <p:blipFill>
          <a:blip r:embed="rId4"/>
          <a:srcRect/>
          <a:stretch>
            <a:fillRect/>
          </a:stretch>
        </p:blipFill>
        <p:spPr bwMode="auto">
          <a:xfrm>
            <a:off x="288235" y="1749286"/>
            <a:ext cx="3965646" cy="1928191"/>
          </a:xfrm>
          <a:prstGeom prst="rect">
            <a:avLst/>
          </a:prstGeom>
          <a:noFill/>
        </p:spPr>
      </p:pic>
      <p:sp>
        <p:nvSpPr>
          <p:cNvPr id="8" name="Google Shape;135;p27"/>
          <p:cNvSpPr txBox="1">
            <a:spLocks noGrp="1"/>
          </p:cNvSpPr>
          <p:nvPr>
            <p:ph type="title"/>
          </p:nvPr>
        </p:nvSpPr>
        <p:spPr>
          <a:xfrm>
            <a:off x="4681549" y="1623442"/>
            <a:ext cx="3200181" cy="227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Bienvenida</a:t>
            </a:r>
            <a:endParaRPr dirty="0"/>
          </a:p>
        </p:txBody>
      </p:sp>
      <p:sp>
        <p:nvSpPr>
          <p:cNvPr id="9"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7" name="Google Shape;136;p27"/>
          <p:cNvSpPr txBox="1">
            <a:spLocks noGrp="1"/>
          </p:cNvSpPr>
          <p:nvPr>
            <p:ph type="subTitle" idx="1"/>
          </p:nvPr>
        </p:nvSpPr>
        <p:spPr>
          <a:xfrm>
            <a:off x="4333462" y="1921615"/>
            <a:ext cx="3737113" cy="2274300"/>
          </a:xfrm>
          <a:prstGeom prst="rect">
            <a:avLst/>
          </a:prstGeom>
        </p:spPr>
        <p:txBody>
          <a:bodyPr spcFirstLastPara="1" wrap="square" lIns="91425" tIns="91425" rIns="91425" bIns="91425" anchor="ctr" anchorCtr="0">
            <a:noAutofit/>
          </a:bodyPr>
          <a:lstStyle/>
          <a:p>
            <a:pPr algn="l"/>
            <a:r>
              <a:rPr lang="es-ES" dirty="0"/>
              <a:t>     </a:t>
            </a:r>
          </a:p>
          <a:p>
            <a:pPr algn="l"/>
            <a:r>
              <a:rPr lang="es-ES" dirty="0"/>
              <a:t>     </a:t>
            </a:r>
            <a:r>
              <a:rPr lang="es-ES" b="1" dirty="0"/>
              <a:t>“Los datos se están convirtiendo en la nueva materia prima de los negocios.”   </a:t>
            </a:r>
          </a:p>
          <a:p>
            <a:pPr algn="l"/>
            <a:r>
              <a:rPr lang="es-ES" dirty="0"/>
              <a:t>       </a:t>
            </a:r>
          </a:p>
          <a:p>
            <a:pPr algn="l"/>
            <a:r>
              <a:rPr lang="es-ES" dirty="0"/>
              <a:t>                                               –Craig </a:t>
            </a:r>
            <a:r>
              <a:rPr lang="es-ES" dirty="0" err="1"/>
              <a:t>Mundie</a:t>
            </a:r>
            <a:endParaRPr lang="es-ES" dirty="0"/>
          </a:p>
          <a:p>
            <a:pPr algn="l"/>
            <a:br>
              <a:rPr lang="es-ES" dirty="0"/>
            </a:br>
            <a:endParaRPr dirty="0"/>
          </a:p>
        </p:txBody>
      </p:sp>
      <p:pic>
        <p:nvPicPr>
          <p:cNvPr id="26626" name="Picture 2" descr="Reconocer los diferentes tipos de datos, indispensable en la era del Big  Data"/>
          <p:cNvPicPr>
            <a:picLocks noChangeAspect="1" noChangeArrowheads="1"/>
          </p:cNvPicPr>
          <p:nvPr/>
        </p:nvPicPr>
        <p:blipFill>
          <a:blip r:embed="rId4"/>
          <a:srcRect/>
          <a:stretch>
            <a:fillRect/>
          </a:stretch>
        </p:blipFill>
        <p:spPr bwMode="auto">
          <a:xfrm>
            <a:off x="433872" y="1396958"/>
            <a:ext cx="3805398" cy="2757599"/>
          </a:xfrm>
          <a:prstGeom prst="rect">
            <a:avLst/>
          </a:prstGeom>
          <a:noFill/>
        </p:spPr>
      </p:pic>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39938" name="Picture 2" descr="Analítica de Datos Aplicada a Riesgos Laborales y Seguridad y Salud en el  Trabajo | Universidad de Bogotá Jorge Tadeo Lozano"/>
          <p:cNvPicPr>
            <a:picLocks noChangeAspect="1" noChangeArrowheads="1"/>
          </p:cNvPicPr>
          <p:nvPr/>
        </p:nvPicPr>
        <p:blipFill>
          <a:blip r:embed="rId3"/>
          <a:srcRect/>
          <a:stretch>
            <a:fillRect/>
          </a:stretch>
        </p:blipFill>
        <p:spPr bwMode="auto">
          <a:xfrm>
            <a:off x="-305" y="-40"/>
            <a:ext cx="9144000" cy="5143500"/>
          </a:xfrm>
          <a:prstGeom prst="rect">
            <a:avLst/>
          </a:prstGeom>
          <a:noFill/>
        </p:spPr>
      </p:pic>
      <p:sp>
        <p:nvSpPr>
          <p:cNvPr id="699" name="Google Shape;699;p36"/>
          <p:cNvSpPr txBox="1">
            <a:spLocks noGrp="1"/>
          </p:cNvSpPr>
          <p:nvPr>
            <p:ph type="title"/>
          </p:nvPr>
        </p:nvSpPr>
        <p:spPr>
          <a:xfrm>
            <a:off x="1066941" y="509825"/>
            <a:ext cx="432486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ANALÍTICA DE DATOS</a:t>
            </a:r>
            <a:endParaRPr dirty="0"/>
          </a:p>
        </p:txBody>
      </p:sp>
      <p:sp>
        <p:nvSpPr>
          <p:cNvPr id="700" name="Google Shape;700;p36"/>
          <p:cNvSpPr txBox="1">
            <a:spLocks noGrp="1"/>
          </p:cNvSpPr>
          <p:nvPr>
            <p:ph type="subTitle" idx="4294967295"/>
          </p:nvPr>
        </p:nvSpPr>
        <p:spPr>
          <a:xfrm>
            <a:off x="409516" y="3551274"/>
            <a:ext cx="2252610" cy="1210527"/>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Recuperación de varios tipos de datos de una o varias fuentes. Aplicando diversos tipos de herramientas y filtros.</a:t>
            </a:r>
          </a:p>
        </p:txBody>
      </p:sp>
      <p:sp>
        <p:nvSpPr>
          <p:cNvPr id="701" name="Google Shape;701;p36"/>
          <p:cNvSpPr txBox="1">
            <a:spLocks noGrp="1"/>
          </p:cNvSpPr>
          <p:nvPr>
            <p:ph type="subTitle" idx="4294967295"/>
          </p:nvPr>
        </p:nvSpPr>
        <p:spPr>
          <a:xfrm>
            <a:off x="3626068" y="3779475"/>
            <a:ext cx="1891861" cy="783900"/>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Cálculo de estadísticas básicas para describir la ubicación, escala y forma generales de los datos.</a:t>
            </a:r>
          </a:p>
        </p:txBody>
      </p:sp>
      <p:sp>
        <p:nvSpPr>
          <p:cNvPr id="702" name="Google Shape;702;p36"/>
          <p:cNvSpPr txBox="1">
            <a:spLocks noGrp="1"/>
          </p:cNvSpPr>
          <p:nvPr>
            <p:ph type="subTitle" idx="4294967295"/>
          </p:nvPr>
        </p:nvSpPr>
        <p:spPr>
          <a:xfrm>
            <a:off x="1387367" y="1125848"/>
            <a:ext cx="3142288"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Consideración de valores atípicos y valores faltantes, así como suavizado de datos para identificar posibles modelos.</a:t>
            </a:r>
          </a:p>
        </p:txBody>
      </p:sp>
      <p:sp>
        <p:nvSpPr>
          <p:cNvPr id="703" name="Google Shape;703;p36"/>
          <p:cNvSpPr txBox="1">
            <a:spLocks noGrp="1"/>
          </p:cNvSpPr>
          <p:nvPr>
            <p:ph type="subTitle" idx="4294967295"/>
          </p:nvPr>
        </p:nvSpPr>
        <p:spPr>
          <a:xfrm>
            <a:off x="6897400" y="3779475"/>
            <a:ext cx="1532400" cy="783900"/>
          </a:xfrm>
          <a:prstGeom prst="rect">
            <a:avLst/>
          </a:prstGeom>
        </p:spPr>
        <p:txBody>
          <a:bodyPr spcFirstLastPara="1" wrap="square" lIns="91425" tIns="91425" rIns="91425" bIns="0" anchor="t" anchorCtr="0">
            <a:noAutofit/>
          </a:bodyPr>
          <a:lstStyle/>
          <a:p>
            <a:pPr marL="0" lvl="0" indent="0" algn="ctr" rtl="0">
              <a:lnSpc>
                <a:spcPct val="100000"/>
              </a:lnSpc>
              <a:spcBef>
                <a:spcPts val="0"/>
              </a:spcBef>
              <a:spcAft>
                <a:spcPts val="1600"/>
              </a:spcAft>
              <a:buNone/>
            </a:pPr>
            <a:r>
              <a:rPr lang="en" sz="1400" dirty="0">
                <a:solidFill>
                  <a:srgbClr val="F3F3F3"/>
                </a:solidFill>
              </a:rPr>
              <a:t>Busqueda de correlación de los datos.</a:t>
            </a:r>
            <a:endParaRPr sz="1400" dirty="0">
              <a:solidFill>
                <a:srgbClr val="F3F3F3"/>
              </a:solidFill>
            </a:endParaRPr>
          </a:p>
        </p:txBody>
      </p:sp>
      <p:sp>
        <p:nvSpPr>
          <p:cNvPr id="704" name="Google Shape;704;p36"/>
          <p:cNvSpPr txBox="1">
            <a:spLocks noGrp="1"/>
          </p:cNvSpPr>
          <p:nvPr>
            <p:ph type="subTitle" idx="4294967295"/>
          </p:nvPr>
        </p:nvSpPr>
        <p:spPr>
          <a:xfrm>
            <a:off x="4858350" y="1421791"/>
            <a:ext cx="2574321"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Representación gráfica de datos para identificar patrones y tendencias.</a:t>
            </a:r>
          </a:p>
        </p:txBody>
      </p:sp>
      <p:sp>
        <p:nvSpPr>
          <p:cNvPr id="705" name="Google Shape;705;p36"/>
          <p:cNvSpPr txBox="1">
            <a:spLocks noGrp="1"/>
          </p:cNvSpPr>
          <p:nvPr>
            <p:ph type="subTitle" idx="4294967295"/>
          </p:nvPr>
        </p:nvSpPr>
        <p:spPr>
          <a:xfrm>
            <a:off x="1954923" y="2013705"/>
            <a:ext cx="2096586"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PRE-PROCESAMIENTO</a:t>
            </a:r>
          </a:p>
        </p:txBody>
      </p:sp>
      <p:sp>
        <p:nvSpPr>
          <p:cNvPr id="706" name="Google Shape;706;p36"/>
          <p:cNvSpPr txBox="1">
            <a:spLocks noGrp="1"/>
          </p:cNvSpPr>
          <p:nvPr>
            <p:ph type="subTitle" idx="4294967295"/>
          </p:nvPr>
        </p:nvSpPr>
        <p:spPr>
          <a:xfrm>
            <a:off x="5288600" y="2125814"/>
            <a:ext cx="1658400"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VISUALIZACIÓN</a:t>
            </a:r>
          </a:p>
        </p:txBody>
      </p:sp>
      <p:sp>
        <p:nvSpPr>
          <p:cNvPr id="707" name="Google Shape;707;p36"/>
          <p:cNvSpPr txBox="1">
            <a:spLocks noGrp="1"/>
          </p:cNvSpPr>
          <p:nvPr>
            <p:ph type="subTitle" idx="4294967295"/>
          </p:nvPr>
        </p:nvSpPr>
        <p:spPr>
          <a:xfrm>
            <a:off x="325821" y="3283565"/>
            <a:ext cx="2378346"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EXTRACCIÓN DE DATOS</a:t>
            </a:r>
            <a:endParaRPr sz="1800" b="1" dirty="0">
              <a:solidFill>
                <a:srgbClr val="F3F3F3"/>
              </a:solidFill>
              <a:latin typeface="Rajdhani"/>
              <a:ea typeface="Rajdhani"/>
              <a:cs typeface="Rajdhani"/>
              <a:sym typeface="Rajdhani"/>
            </a:endParaRPr>
          </a:p>
        </p:txBody>
      </p:sp>
      <p:sp>
        <p:nvSpPr>
          <p:cNvPr id="708" name="Google Shape;708;p36"/>
          <p:cNvSpPr txBox="1">
            <a:spLocks noGrp="1"/>
          </p:cNvSpPr>
          <p:nvPr>
            <p:ph type="subTitle" idx="4294967295"/>
          </p:nvPr>
        </p:nvSpPr>
        <p:spPr>
          <a:xfrm>
            <a:off x="6834400" y="3401014"/>
            <a:ext cx="1658400"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CORRELACIÓN</a:t>
            </a:r>
            <a:endParaRPr sz="1800" b="1" dirty="0">
              <a:solidFill>
                <a:srgbClr val="F3F3F3"/>
              </a:solidFill>
              <a:latin typeface="Rajdhani"/>
              <a:ea typeface="Rajdhani"/>
              <a:cs typeface="Rajdhani"/>
              <a:sym typeface="Rajdhani"/>
            </a:endParaRPr>
          </a:p>
        </p:txBody>
      </p:sp>
      <p:sp>
        <p:nvSpPr>
          <p:cNvPr id="709" name="Google Shape;709;p36"/>
          <p:cNvSpPr txBox="1">
            <a:spLocks noGrp="1"/>
          </p:cNvSpPr>
          <p:nvPr>
            <p:ph type="subTitle" idx="4294967295"/>
          </p:nvPr>
        </p:nvSpPr>
        <p:spPr>
          <a:xfrm>
            <a:off x="3394842" y="3348462"/>
            <a:ext cx="2280745"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Resumen o Extracción de Características</a:t>
            </a:r>
          </a:p>
        </p:txBody>
      </p:sp>
      <p:sp>
        <p:nvSpPr>
          <p:cNvPr id="710" name="Google Shape;710;p36"/>
          <p:cNvSpPr/>
          <p:nvPr/>
        </p:nvSpPr>
        <p:spPr>
          <a:xfrm>
            <a:off x="11942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1" name="Google Shape;711;p36"/>
          <p:cNvSpPr/>
          <p:nvPr/>
        </p:nvSpPr>
        <p:spPr>
          <a:xfrm>
            <a:off x="27399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2" name="Google Shape;712;p36"/>
          <p:cNvSpPr/>
          <p:nvPr/>
        </p:nvSpPr>
        <p:spPr>
          <a:xfrm>
            <a:off x="42856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3" name="Google Shape;713;p36"/>
          <p:cNvSpPr/>
          <p:nvPr/>
        </p:nvSpPr>
        <p:spPr>
          <a:xfrm>
            <a:off x="58313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4" name="Google Shape;714;p36"/>
          <p:cNvSpPr/>
          <p:nvPr/>
        </p:nvSpPr>
        <p:spPr>
          <a:xfrm>
            <a:off x="73770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715" name="Google Shape;715;p36"/>
          <p:cNvCxnSpPr>
            <a:stCxn id="710" idx="6"/>
            <a:endCxn id="711" idx="2"/>
          </p:cNvCxnSpPr>
          <p:nvPr/>
        </p:nvCxnSpPr>
        <p:spPr>
          <a:xfrm>
            <a:off x="17669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6" name="Google Shape;716;p36"/>
          <p:cNvCxnSpPr>
            <a:stCxn id="711" idx="6"/>
            <a:endCxn id="712" idx="2"/>
          </p:cNvCxnSpPr>
          <p:nvPr/>
        </p:nvCxnSpPr>
        <p:spPr>
          <a:xfrm>
            <a:off x="33126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7" name="Google Shape;717;p36"/>
          <p:cNvCxnSpPr>
            <a:stCxn id="712" idx="6"/>
            <a:endCxn id="713" idx="2"/>
          </p:cNvCxnSpPr>
          <p:nvPr/>
        </p:nvCxnSpPr>
        <p:spPr>
          <a:xfrm>
            <a:off x="48583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8" name="Google Shape;718;p36"/>
          <p:cNvCxnSpPr>
            <a:stCxn id="713" idx="6"/>
            <a:endCxn id="714" idx="2"/>
          </p:cNvCxnSpPr>
          <p:nvPr/>
        </p:nvCxnSpPr>
        <p:spPr>
          <a:xfrm>
            <a:off x="6404050" y="2962725"/>
            <a:ext cx="972900" cy="0"/>
          </a:xfrm>
          <a:prstGeom prst="straightConnector1">
            <a:avLst/>
          </a:prstGeom>
          <a:noFill/>
          <a:ln w="19050" cap="flat" cmpd="sng">
            <a:solidFill>
              <a:srgbClr val="F3F3F3"/>
            </a:solidFill>
            <a:prstDash val="solid"/>
            <a:round/>
            <a:headEnd type="none" w="med" len="med"/>
            <a:tailEnd type="none" w="med" len="med"/>
          </a:ln>
        </p:spPr>
      </p:cxnSp>
      <p:grpSp>
        <p:nvGrpSpPr>
          <p:cNvPr id="2" name="Google Shape;719;p36"/>
          <p:cNvGrpSpPr/>
          <p:nvPr/>
        </p:nvGrpSpPr>
        <p:grpSpPr>
          <a:xfrm>
            <a:off x="1332734" y="2826965"/>
            <a:ext cx="288452" cy="275353"/>
            <a:chOff x="4126815" y="2760704"/>
            <a:chExt cx="380393" cy="363118"/>
          </a:xfrm>
        </p:grpSpPr>
        <p:sp>
          <p:nvSpPr>
            <p:cNvPr id="720" name="Google Shape;720;p36"/>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1" name="Google Shape;721;p36"/>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2" name="Google Shape;722;p36"/>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3" name="Google Shape;723;p36"/>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 name="Google Shape;724;p36"/>
          <p:cNvGrpSpPr/>
          <p:nvPr/>
        </p:nvGrpSpPr>
        <p:grpSpPr>
          <a:xfrm>
            <a:off x="2885622" y="2824148"/>
            <a:ext cx="281276" cy="280987"/>
            <a:chOff x="2497275" y="2744159"/>
            <a:chExt cx="370930" cy="370549"/>
          </a:xfrm>
        </p:grpSpPr>
        <p:sp>
          <p:nvSpPr>
            <p:cNvPr id="725" name="Google Shape;725;p36"/>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6" name="Google Shape;726;p36"/>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7" name="Google Shape;727;p36"/>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8" name="Google Shape;728;p36"/>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9" name="Google Shape;729;p36"/>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0" name="Google Shape;730;p36"/>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 name="Google Shape;732;p36"/>
          <p:cNvGrpSpPr/>
          <p:nvPr/>
        </p:nvGrpSpPr>
        <p:grpSpPr>
          <a:xfrm>
            <a:off x="4417196" y="2834313"/>
            <a:ext cx="309505" cy="260656"/>
            <a:chOff x="2171474" y="3369229"/>
            <a:chExt cx="408156" cy="343737"/>
          </a:xfrm>
        </p:grpSpPr>
        <p:sp>
          <p:nvSpPr>
            <p:cNvPr id="733" name="Google Shape;733;p36"/>
            <p:cNvSpPr/>
            <p:nvPr/>
          </p:nvSpPr>
          <p:spPr>
            <a:xfrm>
              <a:off x="2171474" y="3369229"/>
              <a:ext cx="408156" cy="343737"/>
            </a:xfrm>
            <a:custGeom>
              <a:avLst/>
              <a:gdLst/>
              <a:ahLst/>
              <a:cxnLst/>
              <a:rect l="l" t="t" r="r" b="b"/>
              <a:pathLst>
                <a:path w="12824" h="10800" extrusionOk="0">
                  <a:moveTo>
                    <a:pt x="5395" y="345"/>
                  </a:moveTo>
                  <a:cubicBezTo>
                    <a:pt x="5561" y="345"/>
                    <a:pt x="5704" y="405"/>
                    <a:pt x="5823" y="536"/>
                  </a:cubicBezTo>
                  <a:lnTo>
                    <a:pt x="6478" y="1191"/>
                  </a:lnTo>
                  <a:lnTo>
                    <a:pt x="5645" y="1191"/>
                  </a:lnTo>
                  <a:cubicBezTo>
                    <a:pt x="5537" y="1191"/>
                    <a:pt x="5442" y="1143"/>
                    <a:pt x="5347" y="1072"/>
                  </a:cubicBezTo>
                  <a:lnTo>
                    <a:pt x="4633" y="357"/>
                  </a:lnTo>
                  <a:lnTo>
                    <a:pt x="5395" y="357"/>
                  </a:lnTo>
                  <a:lnTo>
                    <a:pt x="5395" y="345"/>
                  </a:lnTo>
                  <a:close/>
                  <a:moveTo>
                    <a:pt x="6883" y="357"/>
                  </a:moveTo>
                  <a:cubicBezTo>
                    <a:pt x="7049" y="357"/>
                    <a:pt x="7192" y="417"/>
                    <a:pt x="7311" y="536"/>
                  </a:cubicBezTo>
                  <a:lnTo>
                    <a:pt x="7966" y="1191"/>
                  </a:lnTo>
                  <a:lnTo>
                    <a:pt x="7823" y="1191"/>
                  </a:lnTo>
                  <a:cubicBezTo>
                    <a:pt x="7716" y="1191"/>
                    <a:pt x="7621" y="1274"/>
                    <a:pt x="7621" y="1381"/>
                  </a:cubicBezTo>
                  <a:cubicBezTo>
                    <a:pt x="7621" y="1488"/>
                    <a:pt x="7716" y="1572"/>
                    <a:pt x="7823" y="1572"/>
                  </a:cubicBezTo>
                  <a:lnTo>
                    <a:pt x="12026" y="1572"/>
                  </a:lnTo>
                  <a:cubicBezTo>
                    <a:pt x="12253" y="1572"/>
                    <a:pt x="12443" y="1750"/>
                    <a:pt x="12443" y="1988"/>
                  </a:cubicBezTo>
                  <a:lnTo>
                    <a:pt x="12431" y="10001"/>
                  </a:lnTo>
                  <a:cubicBezTo>
                    <a:pt x="12431" y="10216"/>
                    <a:pt x="12253" y="10418"/>
                    <a:pt x="12014" y="10418"/>
                  </a:cubicBezTo>
                  <a:lnTo>
                    <a:pt x="775" y="10418"/>
                  </a:lnTo>
                  <a:cubicBezTo>
                    <a:pt x="561" y="10418"/>
                    <a:pt x="358" y="10239"/>
                    <a:pt x="358" y="10001"/>
                  </a:cubicBezTo>
                  <a:lnTo>
                    <a:pt x="358" y="774"/>
                  </a:lnTo>
                  <a:cubicBezTo>
                    <a:pt x="358" y="548"/>
                    <a:pt x="537" y="357"/>
                    <a:pt x="775" y="357"/>
                  </a:cubicBezTo>
                  <a:lnTo>
                    <a:pt x="3859" y="357"/>
                  </a:lnTo>
                  <a:cubicBezTo>
                    <a:pt x="4025" y="357"/>
                    <a:pt x="4168" y="417"/>
                    <a:pt x="4287" y="536"/>
                  </a:cubicBezTo>
                  <a:lnTo>
                    <a:pt x="5085" y="1322"/>
                  </a:lnTo>
                  <a:cubicBezTo>
                    <a:pt x="5228" y="1465"/>
                    <a:pt x="5418" y="1560"/>
                    <a:pt x="5645" y="1560"/>
                  </a:cubicBezTo>
                  <a:lnTo>
                    <a:pt x="6942" y="1560"/>
                  </a:lnTo>
                  <a:cubicBezTo>
                    <a:pt x="7014" y="1560"/>
                    <a:pt x="7085" y="1512"/>
                    <a:pt x="7121" y="1441"/>
                  </a:cubicBezTo>
                  <a:cubicBezTo>
                    <a:pt x="7145" y="1369"/>
                    <a:pt x="7133" y="1286"/>
                    <a:pt x="7073" y="1226"/>
                  </a:cubicBezTo>
                  <a:lnTo>
                    <a:pt x="6192" y="357"/>
                  </a:lnTo>
                  <a:close/>
                  <a:moveTo>
                    <a:pt x="799" y="0"/>
                  </a:moveTo>
                  <a:cubicBezTo>
                    <a:pt x="358" y="0"/>
                    <a:pt x="1" y="345"/>
                    <a:pt x="1" y="786"/>
                  </a:cubicBezTo>
                  <a:lnTo>
                    <a:pt x="1" y="10013"/>
                  </a:lnTo>
                  <a:cubicBezTo>
                    <a:pt x="1" y="10442"/>
                    <a:pt x="358" y="10799"/>
                    <a:pt x="799" y="10799"/>
                  </a:cubicBezTo>
                  <a:lnTo>
                    <a:pt x="12026" y="10799"/>
                  </a:lnTo>
                  <a:cubicBezTo>
                    <a:pt x="12467" y="10799"/>
                    <a:pt x="12824" y="10442"/>
                    <a:pt x="12824" y="10013"/>
                  </a:cubicBezTo>
                  <a:lnTo>
                    <a:pt x="12824" y="1988"/>
                  </a:lnTo>
                  <a:cubicBezTo>
                    <a:pt x="12824" y="1524"/>
                    <a:pt x="12467" y="1191"/>
                    <a:pt x="12026" y="1191"/>
                  </a:cubicBezTo>
                  <a:lnTo>
                    <a:pt x="8490" y="1191"/>
                  </a:lnTo>
                  <a:lnTo>
                    <a:pt x="7585" y="274"/>
                  </a:lnTo>
                  <a:cubicBezTo>
                    <a:pt x="7383" y="83"/>
                    <a:pt x="7145" y="0"/>
                    <a:pt x="6883"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4" name="Google Shape;734;p36"/>
            <p:cNvSpPr/>
            <p:nvPr/>
          </p:nvSpPr>
          <p:spPr>
            <a:xfrm>
              <a:off x="2292737" y="3477220"/>
              <a:ext cx="164898" cy="164866"/>
            </a:xfrm>
            <a:custGeom>
              <a:avLst/>
              <a:gdLst/>
              <a:ahLst/>
              <a:cxnLst/>
              <a:rect l="l" t="t" r="r" b="b"/>
              <a:pathLst>
                <a:path w="5181" h="5180" extrusionOk="0">
                  <a:moveTo>
                    <a:pt x="2799" y="1382"/>
                  </a:moveTo>
                  <a:cubicBezTo>
                    <a:pt x="3025" y="1382"/>
                    <a:pt x="3216" y="1560"/>
                    <a:pt x="3216" y="1798"/>
                  </a:cubicBezTo>
                  <a:lnTo>
                    <a:pt x="3216" y="2203"/>
                  </a:lnTo>
                  <a:cubicBezTo>
                    <a:pt x="3204" y="2525"/>
                    <a:pt x="2942" y="2810"/>
                    <a:pt x="2597" y="2810"/>
                  </a:cubicBezTo>
                  <a:cubicBezTo>
                    <a:pt x="2251" y="2810"/>
                    <a:pt x="1977" y="2525"/>
                    <a:pt x="1977" y="2203"/>
                  </a:cubicBezTo>
                  <a:lnTo>
                    <a:pt x="1977" y="1798"/>
                  </a:lnTo>
                  <a:cubicBezTo>
                    <a:pt x="1977" y="1572"/>
                    <a:pt x="2156" y="1382"/>
                    <a:pt x="2406" y="1382"/>
                  </a:cubicBezTo>
                  <a:close/>
                  <a:moveTo>
                    <a:pt x="2799" y="3156"/>
                  </a:moveTo>
                  <a:lnTo>
                    <a:pt x="2799" y="3275"/>
                  </a:lnTo>
                  <a:cubicBezTo>
                    <a:pt x="2799" y="3346"/>
                    <a:pt x="2835" y="3406"/>
                    <a:pt x="2858" y="3465"/>
                  </a:cubicBezTo>
                  <a:lnTo>
                    <a:pt x="2608" y="3715"/>
                  </a:lnTo>
                  <a:lnTo>
                    <a:pt x="2573" y="3715"/>
                  </a:lnTo>
                  <a:lnTo>
                    <a:pt x="2323" y="3465"/>
                  </a:lnTo>
                  <a:cubicBezTo>
                    <a:pt x="2358" y="3406"/>
                    <a:pt x="2382" y="3346"/>
                    <a:pt x="2382" y="3275"/>
                  </a:cubicBezTo>
                  <a:lnTo>
                    <a:pt x="2382" y="3156"/>
                  </a:lnTo>
                  <a:cubicBezTo>
                    <a:pt x="2454" y="3167"/>
                    <a:pt x="2513" y="3179"/>
                    <a:pt x="2597" y="3179"/>
                  </a:cubicBezTo>
                  <a:cubicBezTo>
                    <a:pt x="2668" y="3179"/>
                    <a:pt x="2739" y="3167"/>
                    <a:pt x="2799" y="3156"/>
                  </a:cubicBezTo>
                  <a:close/>
                  <a:moveTo>
                    <a:pt x="2573" y="381"/>
                  </a:moveTo>
                  <a:cubicBezTo>
                    <a:pt x="3799" y="381"/>
                    <a:pt x="4799" y="1382"/>
                    <a:pt x="4799" y="2596"/>
                  </a:cubicBezTo>
                  <a:cubicBezTo>
                    <a:pt x="4811" y="3287"/>
                    <a:pt x="4490" y="3906"/>
                    <a:pt x="3978" y="4322"/>
                  </a:cubicBezTo>
                  <a:lnTo>
                    <a:pt x="3978" y="4049"/>
                  </a:lnTo>
                  <a:cubicBezTo>
                    <a:pt x="3978" y="3822"/>
                    <a:pt x="3859" y="3608"/>
                    <a:pt x="3656" y="3525"/>
                  </a:cubicBezTo>
                  <a:lnTo>
                    <a:pt x="3180" y="3287"/>
                  </a:lnTo>
                  <a:lnTo>
                    <a:pt x="3180" y="3275"/>
                  </a:lnTo>
                  <a:lnTo>
                    <a:pt x="3180" y="2989"/>
                  </a:lnTo>
                  <a:cubicBezTo>
                    <a:pt x="3418" y="2810"/>
                    <a:pt x="3573" y="2513"/>
                    <a:pt x="3573" y="2203"/>
                  </a:cubicBezTo>
                  <a:lnTo>
                    <a:pt x="3573" y="1798"/>
                  </a:lnTo>
                  <a:cubicBezTo>
                    <a:pt x="3573" y="1370"/>
                    <a:pt x="3216" y="1012"/>
                    <a:pt x="2787" y="1012"/>
                  </a:cubicBezTo>
                  <a:lnTo>
                    <a:pt x="2382" y="1012"/>
                  </a:lnTo>
                  <a:cubicBezTo>
                    <a:pt x="1954" y="1012"/>
                    <a:pt x="1596" y="1370"/>
                    <a:pt x="1596" y="1798"/>
                  </a:cubicBezTo>
                  <a:lnTo>
                    <a:pt x="1596" y="2203"/>
                  </a:lnTo>
                  <a:cubicBezTo>
                    <a:pt x="1596" y="2525"/>
                    <a:pt x="1763" y="2810"/>
                    <a:pt x="2001" y="2989"/>
                  </a:cubicBezTo>
                  <a:lnTo>
                    <a:pt x="2001" y="3275"/>
                  </a:lnTo>
                  <a:lnTo>
                    <a:pt x="2001" y="3287"/>
                  </a:lnTo>
                  <a:lnTo>
                    <a:pt x="1525" y="3525"/>
                  </a:lnTo>
                  <a:cubicBezTo>
                    <a:pt x="1334" y="3632"/>
                    <a:pt x="1192" y="3822"/>
                    <a:pt x="1192" y="4049"/>
                  </a:cubicBezTo>
                  <a:lnTo>
                    <a:pt x="1192" y="4322"/>
                  </a:lnTo>
                  <a:cubicBezTo>
                    <a:pt x="692" y="3918"/>
                    <a:pt x="358" y="3298"/>
                    <a:pt x="358" y="2596"/>
                  </a:cubicBezTo>
                  <a:cubicBezTo>
                    <a:pt x="358" y="1382"/>
                    <a:pt x="1358" y="381"/>
                    <a:pt x="2573" y="381"/>
                  </a:cubicBezTo>
                  <a:close/>
                  <a:moveTo>
                    <a:pt x="3156" y="3691"/>
                  </a:moveTo>
                  <a:lnTo>
                    <a:pt x="3490" y="3846"/>
                  </a:lnTo>
                  <a:cubicBezTo>
                    <a:pt x="3561" y="3882"/>
                    <a:pt x="3609" y="3953"/>
                    <a:pt x="3609" y="4049"/>
                  </a:cubicBezTo>
                  <a:lnTo>
                    <a:pt x="3609" y="4560"/>
                  </a:lnTo>
                  <a:cubicBezTo>
                    <a:pt x="3311" y="4727"/>
                    <a:pt x="2954" y="4822"/>
                    <a:pt x="2597" y="4822"/>
                  </a:cubicBezTo>
                  <a:cubicBezTo>
                    <a:pt x="2227" y="4822"/>
                    <a:pt x="1882" y="4727"/>
                    <a:pt x="1585" y="4560"/>
                  </a:cubicBezTo>
                  <a:lnTo>
                    <a:pt x="1585" y="4049"/>
                  </a:lnTo>
                  <a:cubicBezTo>
                    <a:pt x="1585" y="3965"/>
                    <a:pt x="1632" y="3894"/>
                    <a:pt x="1704" y="3846"/>
                  </a:cubicBezTo>
                  <a:lnTo>
                    <a:pt x="2025" y="3691"/>
                  </a:lnTo>
                  <a:lnTo>
                    <a:pt x="2323" y="3989"/>
                  </a:lnTo>
                  <a:cubicBezTo>
                    <a:pt x="2406" y="4060"/>
                    <a:pt x="2489" y="4108"/>
                    <a:pt x="2597" y="4108"/>
                  </a:cubicBezTo>
                  <a:cubicBezTo>
                    <a:pt x="2704" y="4108"/>
                    <a:pt x="2799" y="4060"/>
                    <a:pt x="2858" y="3989"/>
                  </a:cubicBezTo>
                  <a:lnTo>
                    <a:pt x="3156" y="3691"/>
                  </a:lnTo>
                  <a:close/>
                  <a:moveTo>
                    <a:pt x="2597" y="0"/>
                  </a:moveTo>
                  <a:cubicBezTo>
                    <a:pt x="1168" y="0"/>
                    <a:pt x="1" y="1155"/>
                    <a:pt x="1" y="2584"/>
                  </a:cubicBezTo>
                  <a:cubicBezTo>
                    <a:pt x="1" y="4013"/>
                    <a:pt x="1168" y="5180"/>
                    <a:pt x="2597" y="5180"/>
                  </a:cubicBezTo>
                  <a:cubicBezTo>
                    <a:pt x="4025" y="5180"/>
                    <a:pt x="5180" y="4013"/>
                    <a:pt x="5180" y="2584"/>
                  </a:cubicBezTo>
                  <a:cubicBezTo>
                    <a:pt x="5180" y="1155"/>
                    <a:pt x="4025" y="0"/>
                    <a:pt x="2597"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5" name="Google Shape;735;p36"/>
            <p:cNvSpPr/>
            <p:nvPr/>
          </p:nvSpPr>
          <p:spPr>
            <a:xfrm>
              <a:off x="2256358" y="3451503"/>
              <a:ext cx="188769" cy="177311"/>
            </a:xfrm>
            <a:custGeom>
              <a:avLst/>
              <a:gdLst/>
              <a:ahLst/>
              <a:cxnLst/>
              <a:rect l="l" t="t" r="r" b="b"/>
              <a:pathLst>
                <a:path w="5931" h="5571" extrusionOk="0">
                  <a:moveTo>
                    <a:pt x="3751" y="0"/>
                  </a:moveTo>
                  <a:cubicBezTo>
                    <a:pt x="2872" y="0"/>
                    <a:pt x="1994" y="341"/>
                    <a:pt x="1323" y="999"/>
                  </a:cubicBezTo>
                  <a:cubicBezTo>
                    <a:pt x="120" y="2201"/>
                    <a:pt x="1" y="4142"/>
                    <a:pt x="1049" y="5488"/>
                  </a:cubicBezTo>
                  <a:cubicBezTo>
                    <a:pt x="1073" y="5535"/>
                    <a:pt x="1132" y="5571"/>
                    <a:pt x="1192" y="5571"/>
                  </a:cubicBezTo>
                  <a:cubicBezTo>
                    <a:pt x="1239" y="5571"/>
                    <a:pt x="1263" y="5547"/>
                    <a:pt x="1311" y="5523"/>
                  </a:cubicBezTo>
                  <a:cubicBezTo>
                    <a:pt x="1382" y="5464"/>
                    <a:pt x="1406" y="5345"/>
                    <a:pt x="1346" y="5249"/>
                  </a:cubicBezTo>
                  <a:cubicBezTo>
                    <a:pt x="406" y="4047"/>
                    <a:pt x="525" y="2332"/>
                    <a:pt x="1596" y="1261"/>
                  </a:cubicBezTo>
                  <a:cubicBezTo>
                    <a:pt x="2181" y="676"/>
                    <a:pt x="2961" y="375"/>
                    <a:pt x="3742" y="375"/>
                  </a:cubicBezTo>
                  <a:cubicBezTo>
                    <a:pt x="4393" y="375"/>
                    <a:pt x="5044" y="584"/>
                    <a:pt x="5585" y="1011"/>
                  </a:cubicBezTo>
                  <a:cubicBezTo>
                    <a:pt x="5616" y="1037"/>
                    <a:pt x="5656" y="1049"/>
                    <a:pt x="5697" y="1049"/>
                  </a:cubicBezTo>
                  <a:cubicBezTo>
                    <a:pt x="5750" y="1049"/>
                    <a:pt x="5806" y="1028"/>
                    <a:pt x="5847" y="987"/>
                  </a:cubicBezTo>
                  <a:cubicBezTo>
                    <a:pt x="5930" y="904"/>
                    <a:pt x="5895" y="773"/>
                    <a:pt x="5823" y="713"/>
                  </a:cubicBezTo>
                  <a:cubicBezTo>
                    <a:pt x="5209" y="233"/>
                    <a:pt x="4479" y="0"/>
                    <a:pt x="375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6" name="Google Shape;736;p36"/>
            <p:cNvSpPr/>
            <p:nvPr/>
          </p:nvSpPr>
          <p:spPr>
            <a:xfrm>
              <a:off x="2305245" y="3491160"/>
              <a:ext cx="189151" cy="176706"/>
            </a:xfrm>
            <a:custGeom>
              <a:avLst/>
              <a:gdLst/>
              <a:ahLst/>
              <a:cxnLst/>
              <a:rect l="l" t="t" r="r" b="b"/>
              <a:pathLst>
                <a:path w="5943" h="5552" extrusionOk="0">
                  <a:moveTo>
                    <a:pt x="4739" y="1"/>
                  </a:moveTo>
                  <a:cubicBezTo>
                    <a:pt x="4695" y="1"/>
                    <a:pt x="4650" y="13"/>
                    <a:pt x="4609" y="39"/>
                  </a:cubicBezTo>
                  <a:cubicBezTo>
                    <a:pt x="4537" y="98"/>
                    <a:pt x="4525" y="217"/>
                    <a:pt x="4585" y="301"/>
                  </a:cubicBezTo>
                  <a:cubicBezTo>
                    <a:pt x="5513" y="1503"/>
                    <a:pt x="5406" y="3218"/>
                    <a:pt x="4335" y="4289"/>
                  </a:cubicBezTo>
                  <a:cubicBezTo>
                    <a:pt x="3750" y="4874"/>
                    <a:pt x="2970" y="5175"/>
                    <a:pt x="2189" y="5175"/>
                  </a:cubicBezTo>
                  <a:cubicBezTo>
                    <a:pt x="1538" y="5175"/>
                    <a:pt x="887" y="4966"/>
                    <a:pt x="346" y="4539"/>
                  </a:cubicBezTo>
                  <a:cubicBezTo>
                    <a:pt x="314" y="4516"/>
                    <a:pt x="276" y="4505"/>
                    <a:pt x="237" y="4505"/>
                  </a:cubicBezTo>
                  <a:cubicBezTo>
                    <a:pt x="177" y="4505"/>
                    <a:pt x="116" y="4531"/>
                    <a:pt x="72" y="4575"/>
                  </a:cubicBezTo>
                  <a:cubicBezTo>
                    <a:pt x="1" y="4646"/>
                    <a:pt x="25" y="4765"/>
                    <a:pt x="96" y="4837"/>
                  </a:cubicBezTo>
                  <a:cubicBezTo>
                    <a:pt x="715" y="5313"/>
                    <a:pt x="1453" y="5551"/>
                    <a:pt x="2180" y="5551"/>
                  </a:cubicBezTo>
                  <a:cubicBezTo>
                    <a:pt x="3061" y="5551"/>
                    <a:pt x="3930" y="5218"/>
                    <a:pt x="4597" y="4551"/>
                  </a:cubicBezTo>
                  <a:cubicBezTo>
                    <a:pt x="5823" y="3349"/>
                    <a:pt x="5942" y="1420"/>
                    <a:pt x="4882" y="62"/>
                  </a:cubicBezTo>
                  <a:cubicBezTo>
                    <a:pt x="4849" y="22"/>
                    <a:pt x="4796" y="1"/>
                    <a:pt x="473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 name="Google Shape;10847;p59"/>
          <p:cNvGrpSpPr/>
          <p:nvPr/>
        </p:nvGrpSpPr>
        <p:grpSpPr>
          <a:xfrm>
            <a:off x="7474663" y="2771373"/>
            <a:ext cx="377474" cy="335748"/>
            <a:chOff x="854261" y="2908813"/>
            <a:chExt cx="377474" cy="335748"/>
          </a:xfrm>
        </p:grpSpPr>
        <p:sp>
          <p:nvSpPr>
            <p:cNvPr id="49" name="Google Shape;10848;p59"/>
            <p:cNvSpPr/>
            <p:nvPr/>
          </p:nvSpPr>
          <p:spPr>
            <a:xfrm>
              <a:off x="896337" y="3079695"/>
              <a:ext cx="47391" cy="17091"/>
            </a:xfrm>
            <a:custGeom>
              <a:avLst/>
              <a:gdLst/>
              <a:ahLst/>
              <a:cxnLst/>
              <a:rect l="l" t="t" r="r" b="b"/>
              <a:pathLst>
                <a:path w="1489" h="537" extrusionOk="0">
                  <a:moveTo>
                    <a:pt x="179" y="1"/>
                  </a:moveTo>
                  <a:cubicBezTo>
                    <a:pt x="96" y="1"/>
                    <a:pt x="0" y="72"/>
                    <a:pt x="0" y="179"/>
                  </a:cubicBezTo>
                  <a:cubicBezTo>
                    <a:pt x="0" y="263"/>
                    <a:pt x="84" y="358"/>
                    <a:pt x="179" y="358"/>
                  </a:cubicBezTo>
                  <a:cubicBezTo>
                    <a:pt x="381" y="358"/>
                    <a:pt x="941" y="382"/>
                    <a:pt x="1227" y="525"/>
                  </a:cubicBezTo>
                  <a:cubicBezTo>
                    <a:pt x="1251" y="537"/>
                    <a:pt x="1274" y="537"/>
                    <a:pt x="1298" y="537"/>
                  </a:cubicBezTo>
                  <a:cubicBezTo>
                    <a:pt x="1358" y="537"/>
                    <a:pt x="1417" y="501"/>
                    <a:pt x="1453" y="441"/>
                  </a:cubicBezTo>
                  <a:cubicBezTo>
                    <a:pt x="1489" y="358"/>
                    <a:pt x="1465" y="251"/>
                    <a:pt x="1370" y="203"/>
                  </a:cubicBezTo>
                  <a:cubicBezTo>
                    <a:pt x="977" y="1"/>
                    <a:pt x="215"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10849;p59"/>
            <p:cNvSpPr/>
            <p:nvPr/>
          </p:nvSpPr>
          <p:spPr>
            <a:xfrm>
              <a:off x="878514" y="3191855"/>
              <a:ext cx="11426" cy="52706"/>
            </a:xfrm>
            <a:custGeom>
              <a:avLst/>
              <a:gdLst/>
              <a:ahLst/>
              <a:cxnLst/>
              <a:rect l="l" t="t" r="r" b="b"/>
              <a:pathLst>
                <a:path w="359" h="1656" extrusionOk="0">
                  <a:moveTo>
                    <a:pt x="179" y="1"/>
                  </a:moveTo>
                  <a:cubicBezTo>
                    <a:pt x="84" y="1"/>
                    <a:pt x="1" y="72"/>
                    <a:pt x="1" y="180"/>
                  </a:cubicBezTo>
                  <a:lnTo>
                    <a:pt x="1" y="1477"/>
                  </a:lnTo>
                  <a:cubicBezTo>
                    <a:pt x="1" y="1561"/>
                    <a:pt x="72" y="1656"/>
                    <a:pt x="179" y="1656"/>
                  </a:cubicBezTo>
                  <a:cubicBezTo>
                    <a:pt x="287" y="1656"/>
                    <a:pt x="358" y="1585"/>
                    <a:pt x="358" y="1477"/>
                  </a:cubicBezTo>
                  <a:lnTo>
                    <a:pt x="358" y="180"/>
                  </a:lnTo>
                  <a:cubicBezTo>
                    <a:pt x="358" y="72"/>
                    <a:pt x="287"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10850;p59"/>
            <p:cNvSpPr/>
            <p:nvPr/>
          </p:nvSpPr>
          <p:spPr>
            <a:xfrm>
              <a:off x="854261" y="3050159"/>
              <a:ext cx="219451" cy="194052"/>
            </a:xfrm>
            <a:custGeom>
              <a:avLst/>
              <a:gdLst/>
              <a:ahLst/>
              <a:cxnLst/>
              <a:rect l="l" t="t" r="r" b="b"/>
              <a:pathLst>
                <a:path w="6895" h="6097" extrusionOk="0">
                  <a:moveTo>
                    <a:pt x="6406" y="679"/>
                  </a:moveTo>
                  <a:lnTo>
                    <a:pt x="6466" y="929"/>
                  </a:lnTo>
                  <a:cubicBezTo>
                    <a:pt x="6490" y="1000"/>
                    <a:pt x="6478" y="1072"/>
                    <a:pt x="6418" y="1119"/>
                  </a:cubicBezTo>
                  <a:lnTo>
                    <a:pt x="6311" y="1226"/>
                  </a:lnTo>
                  <a:lnTo>
                    <a:pt x="6073" y="988"/>
                  </a:lnTo>
                  <a:lnTo>
                    <a:pt x="6406" y="679"/>
                  </a:lnTo>
                  <a:close/>
                  <a:moveTo>
                    <a:pt x="3192" y="345"/>
                  </a:moveTo>
                  <a:lnTo>
                    <a:pt x="3192" y="1060"/>
                  </a:lnTo>
                  <a:cubicBezTo>
                    <a:pt x="3192" y="1179"/>
                    <a:pt x="3156" y="1298"/>
                    <a:pt x="3108" y="1405"/>
                  </a:cubicBezTo>
                  <a:lnTo>
                    <a:pt x="3025" y="1584"/>
                  </a:lnTo>
                  <a:cubicBezTo>
                    <a:pt x="3013" y="1607"/>
                    <a:pt x="3013" y="1619"/>
                    <a:pt x="3013" y="1655"/>
                  </a:cubicBezTo>
                  <a:lnTo>
                    <a:pt x="3013" y="2024"/>
                  </a:lnTo>
                  <a:cubicBezTo>
                    <a:pt x="2989" y="2286"/>
                    <a:pt x="2894" y="2524"/>
                    <a:pt x="2715" y="2703"/>
                  </a:cubicBezTo>
                  <a:cubicBezTo>
                    <a:pt x="2537" y="2881"/>
                    <a:pt x="2275" y="2965"/>
                    <a:pt x="2025" y="2965"/>
                  </a:cubicBezTo>
                  <a:cubicBezTo>
                    <a:pt x="1525" y="2953"/>
                    <a:pt x="1120" y="2500"/>
                    <a:pt x="1120" y="1988"/>
                  </a:cubicBezTo>
                  <a:lnTo>
                    <a:pt x="1120" y="1655"/>
                  </a:lnTo>
                  <a:cubicBezTo>
                    <a:pt x="1120" y="1619"/>
                    <a:pt x="1120" y="1596"/>
                    <a:pt x="1108" y="1584"/>
                  </a:cubicBezTo>
                  <a:lnTo>
                    <a:pt x="1001" y="1369"/>
                  </a:lnTo>
                  <a:cubicBezTo>
                    <a:pt x="953" y="1298"/>
                    <a:pt x="941" y="1203"/>
                    <a:pt x="941" y="1119"/>
                  </a:cubicBezTo>
                  <a:lnTo>
                    <a:pt x="941" y="1107"/>
                  </a:lnTo>
                  <a:cubicBezTo>
                    <a:pt x="941" y="691"/>
                    <a:pt x="1287" y="345"/>
                    <a:pt x="1703" y="345"/>
                  </a:cubicBezTo>
                  <a:close/>
                  <a:moveTo>
                    <a:pt x="2442" y="3227"/>
                  </a:moveTo>
                  <a:cubicBezTo>
                    <a:pt x="2454" y="3298"/>
                    <a:pt x="2477" y="3334"/>
                    <a:pt x="2489" y="3381"/>
                  </a:cubicBezTo>
                  <a:lnTo>
                    <a:pt x="2323" y="3548"/>
                  </a:lnTo>
                  <a:cubicBezTo>
                    <a:pt x="2251" y="3620"/>
                    <a:pt x="2156" y="3655"/>
                    <a:pt x="2059" y="3655"/>
                  </a:cubicBezTo>
                  <a:cubicBezTo>
                    <a:pt x="1962" y="3655"/>
                    <a:pt x="1864" y="3620"/>
                    <a:pt x="1787" y="3548"/>
                  </a:cubicBezTo>
                  <a:lnTo>
                    <a:pt x="1644" y="3393"/>
                  </a:lnTo>
                  <a:cubicBezTo>
                    <a:pt x="1656" y="3358"/>
                    <a:pt x="1668" y="3286"/>
                    <a:pt x="1668" y="3227"/>
                  </a:cubicBezTo>
                  <a:cubicBezTo>
                    <a:pt x="1775" y="3262"/>
                    <a:pt x="1894" y="3286"/>
                    <a:pt x="2013" y="3286"/>
                  </a:cubicBezTo>
                  <a:lnTo>
                    <a:pt x="2061" y="3286"/>
                  </a:lnTo>
                  <a:cubicBezTo>
                    <a:pt x="2192" y="3286"/>
                    <a:pt x="2323" y="3274"/>
                    <a:pt x="2442" y="3227"/>
                  </a:cubicBezTo>
                  <a:close/>
                  <a:moveTo>
                    <a:pt x="1680" y="0"/>
                  </a:moveTo>
                  <a:cubicBezTo>
                    <a:pt x="1072" y="0"/>
                    <a:pt x="584" y="500"/>
                    <a:pt x="584" y="1107"/>
                  </a:cubicBezTo>
                  <a:lnTo>
                    <a:pt x="584" y="1119"/>
                  </a:lnTo>
                  <a:cubicBezTo>
                    <a:pt x="584" y="1250"/>
                    <a:pt x="608" y="1405"/>
                    <a:pt x="668" y="1524"/>
                  </a:cubicBezTo>
                  <a:lnTo>
                    <a:pt x="763" y="1703"/>
                  </a:lnTo>
                  <a:lnTo>
                    <a:pt x="763" y="1988"/>
                  </a:lnTo>
                  <a:cubicBezTo>
                    <a:pt x="763" y="2429"/>
                    <a:pt x="977" y="2834"/>
                    <a:pt x="1311" y="3072"/>
                  </a:cubicBezTo>
                  <a:lnTo>
                    <a:pt x="1311" y="3215"/>
                  </a:lnTo>
                  <a:cubicBezTo>
                    <a:pt x="1311" y="3310"/>
                    <a:pt x="1251" y="3381"/>
                    <a:pt x="1156" y="3417"/>
                  </a:cubicBezTo>
                  <a:lnTo>
                    <a:pt x="537" y="3596"/>
                  </a:lnTo>
                  <a:cubicBezTo>
                    <a:pt x="227" y="3679"/>
                    <a:pt x="1" y="3965"/>
                    <a:pt x="1" y="4286"/>
                  </a:cubicBezTo>
                  <a:lnTo>
                    <a:pt x="1" y="5917"/>
                  </a:lnTo>
                  <a:cubicBezTo>
                    <a:pt x="1" y="6001"/>
                    <a:pt x="72" y="6096"/>
                    <a:pt x="179" y="6096"/>
                  </a:cubicBezTo>
                  <a:cubicBezTo>
                    <a:pt x="287" y="6096"/>
                    <a:pt x="358" y="6013"/>
                    <a:pt x="358" y="5917"/>
                  </a:cubicBezTo>
                  <a:lnTo>
                    <a:pt x="358" y="4310"/>
                  </a:lnTo>
                  <a:cubicBezTo>
                    <a:pt x="358" y="4143"/>
                    <a:pt x="477" y="3977"/>
                    <a:pt x="644" y="3929"/>
                  </a:cubicBezTo>
                  <a:lnTo>
                    <a:pt x="1263" y="3751"/>
                  </a:lnTo>
                  <a:cubicBezTo>
                    <a:pt x="1322" y="3739"/>
                    <a:pt x="1370" y="3715"/>
                    <a:pt x="1418" y="3679"/>
                  </a:cubicBezTo>
                  <a:lnTo>
                    <a:pt x="1513" y="3786"/>
                  </a:lnTo>
                  <a:cubicBezTo>
                    <a:pt x="1668" y="3929"/>
                    <a:pt x="1846" y="3989"/>
                    <a:pt x="2037" y="3989"/>
                  </a:cubicBezTo>
                  <a:cubicBezTo>
                    <a:pt x="2227" y="3989"/>
                    <a:pt x="2406" y="3917"/>
                    <a:pt x="2561" y="3786"/>
                  </a:cubicBezTo>
                  <a:lnTo>
                    <a:pt x="2727" y="3620"/>
                  </a:lnTo>
                  <a:cubicBezTo>
                    <a:pt x="2799" y="3655"/>
                    <a:pt x="2870" y="3679"/>
                    <a:pt x="2966" y="3679"/>
                  </a:cubicBezTo>
                  <a:lnTo>
                    <a:pt x="3001" y="3679"/>
                  </a:lnTo>
                  <a:cubicBezTo>
                    <a:pt x="3144" y="3679"/>
                    <a:pt x="3275" y="3620"/>
                    <a:pt x="3382" y="3524"/>
                  </a:cubicBezTo>
                  <a:lnTo>
                    <a:pt x="5823" y="1226"/>
                  </a:lnTo>
                  <a:lnTo>
                    <a:pt x="6061" y="1465"/>
                  </a:lnTo>
                  <a:lnTo>
                    <a:pt x="3239" y="4274"/>
                  </a:lnTo>
                  <a:cubicBezTo>
                    <a:pt x="3061" y="4453"/>
                    <a:pt x="2977" y="4679"/>
                    <a:pt x="2977" y="4917"/>
                  </a:cubicBezTo>
                  <a:lnTo>
                    <a:pt x="2977" y="5906"/>
                  </a:lnTo>
                  <a:cubicBezTo>
                    <a:pt x="2977" y="6001"/>
                    <a:pt x="3049" y="6096"/>
                    <a:pt x="3156" y="6096"/>
                  </a:cubicBezTo>
                  <a:cubicBezTo>
                    <a:pt x="3239" y="6096"/>
                    <a:pt x="3335" y="6013"/>
                    <a:pt x="3335" y="5906"/>
                  </a:cubicBezTo>
                  <a:lnTo>
                    <a:pt x="3335" y="4917"/>
                  </a:lnTo>
                  <a:cubicBezTo>
                    <a:pt x="3335" y="4763"/>
                    <a:pt x="3394" y="4620"/>
                    <a:pt x="3501" y="4513"/>
                  </a:cubicBezTo>
                  <a:lnTo>
                    <a:pt x="6656" y="1357"/>
                  </a:lnTo>
                  <a:cubicBezTo>
                    <a:pt x="6787" y="1226"/>
                    <a:pt x="6847" y="1024"/>
                    <a:pt x="6799" y="834"/>
                  </a:cubicBezTo>
                  <a:lnTo>
                    <a:pt x="6704" y="405"/>
                  </a:lnTo>
                  <a:lnTo>
                    <a:pt x="6823" y="298"/>
                  </a:lnTo>
                  <a:cubicBezTo>
                    <a:pt x="6895" y="238"/>
                    <a:pt x="6895" y="119"/>
                    <a:pt x="6823" y="60"/>
                  </a:cubicBezTo>
                  <a:cubicBezTo>
                    <a:pt x="6793" y="24"/>
                    <a:pt x="6749" y="6"/>
                    <a:pt x="6704" y="6"/>
                  </a:cubicBezTo>
                  <a:cubicBezTo>
                    <a:pt x="6659" y="6"/>
                    <a:pt x="6615" y="24"/>
                    <a:pt x="6585" y="60"/>
                  </a:cubicBezTo>
                  <a:lnTo>
                    <a:pt x="3156" y="3274"/>
                  </a:lnTo>
                  <a:cubicBezTo>
                    <a:pt x="3132" y="3310"/>
                    <a:pt x="3073" y="3334"/>
                    <a:pt x="3025" y="3334"/>
                  </a:cubicBezTo>
                  <a:lnTo>
                    <a:pt x="2977" y="3334"/>
                  </a:lnTo>
                  <a:cubicBezTo>
                    <a:pt x="2870" y="3334"/>
                    <a:pt x="2787" y="3250"/>
                    <a:pt x="2787" y="3143"/>
                  </a:cubicBezTo>
                  <a:lnTo>
                    <a:pt x="2787" y="3084"/>
                  </a:lnTo>
                  <a:cubicBezTo>
                    <a:pt x="2846" y="3036"/>
                    <a:pt x="2906" y="3000"/>
                    <a:pt x="2942" y="2953"/>
                  </a:cubicBezTo>
                  <a:cubicBezTo>
                    <a:pt x="3204" y="2715"/>
                    <a:pt x="3335" y="2381"/>
                    <a:pt x="3335" y="2024"/>
                  </a:cubicBezTo>
                  <a:lnTo>
                    <a:pt x="3335" y="1703"/>
                  </a:lnTo>
                  <a:lnTo>
                    <a:pt x="3406" y="1572"/>
                  </a:lnTo>
                  <a:cubicBezTo>
                    <a:pt x="3477" y="1417"/>
                    <a:pt x="3525" y="1238"/>
                    <a:pt x="3525" y="1072"/>
                  </a:cubicBezTo>
                  <a:lnTo>
                    <a:pt x="3525" y="179"/>
                  </a:lnTo>
                  <a:cubicBezTo>
                    <a:pt x="3525" y="95"/>
                    <a:pt x="3454" y="0"/>
                    <a:pt x="3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10851;p59"/>
            <p:cNvSpPr/>
            <p:nvPr/>
          </p:nvSpPr>
          <p:spPr>
            <a:xfrm>
              <a:off x="1008115" y="2908813"/>
              <a:ext cx="223620" cy="188355"/>
            </a:xfrm>
            <a:custGeom>
              <a:avLst/>
              <a:gdLst/>
              <a:ahLst/>
              <a:cxnLst/>
              <a:rect l="l" t="t" r="r" b="b"/>
              <a:pathLst>
                <a:path w="7026" h="5918" extrusionOk="0">
                  <a:moveTo>
                    <a:pt x="560" y="0"/>
                  </a:moveTo>
                  <a:cubicBezTo>
                    <a:pt x="263" y="0"/>
                    <a:pt x="1" y="238"/>
                    <a:pt x="1" y="548"/>
                  </a:cubicBezTo>
                  <a:lnTo>
                    <a:pt x="1" y="5251"/>
                  </a:lnTo>
                  <a:cubicBezTo>
                    <a:pt x="1" y="5334"/>
                    <a:pt x="84" y="5429"/>
                    <a:pt x="179" y="5429"/>
                  </a:cubicBezTo>
                  <a:cubicBezTo>
                    <a:pt x="287" y="5429"/>
                    <a:pt x="358" y="5358"/>
                    <a:pt x="358" y="5251"/>
                  </a:cubicBezTo>
                  <a:lnTo>
                    <a:pt x="358" y="548"/>
                  </a:lnTo>
                  <a:cubicBezTo>
                    <a:pt x="358" y="441"/>
                    <a:pt x="453" y="357"/>
                    <a:pt x="560" y="357"/>
                  </a:cubicBezTo>
                  <a:lnTo>
                    <a:pt x="6478" y="357"/>
                  </a:lnTo>
                  <a:cubicBezTo>
                    <a:pt x="6585" y="357"/>
                    <a:pt x="6668" y="441"/>
                    <a:pt x="6668" y="548"/>
                  </a:cubicBezTo>
                  <a:lnTo>
                    <a:pt x="6668" y="5370"/>
                  </a:lnTo>
                  <a:cubicBezTo>
                    <a:pt x="6668" y="5477"/>
                    <a:pt x="6585" y="5560"/>
                    <a:pt x="6478" y="5560"/>
                  </a:cubicBezTo>
                  <a:lnTo>
                    <a:pt x="2525" y="5560"/>
                  </a:lnTo>
                  <a:cubicBezTo>
                    <a:pt x="2430" y="5560"/>
                    <a:pt x="2346" y="5632"/>
                    <a:pt x="2346" y="5739"/>
                  </a:cubicBezTo>
                  <a:cubicBezTo>
                    <a:pt x="2346" y="5846"/>
                    <a:pt x="2418" y="5917"/>
                    <a:pt x="2525" y="5917"/>
                  </a:cubicBezTo>
                  <a:lnTo>
                    <a:pt x="6478" y="5917"/>
                  </a:lnTo>
                  <a:cubicBezTo>
                    <a:pt x="6775" y="5917"/>
                    <a:pt x="7025" y="5679"/>
                    <a:pt x="7025" y="5370"/>
                  </a:cubicBezTo>
                  <a:lnTo>
                    <a:pt x="7025" y="548"/>
                  </a:lnTo>
                  <a:cubicBezTo>
                    <a:pt x="7025" y="226"/>
                    <a:pt x="6787" y="0"/>
                    <a:pt x="649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10852;p59"/>
            <p:cNvSpPr/>
            <p:nvPr/>
          </p:nvSpPr>
          <p:spPr>
            <a:xfrm>
              <a:off x="1037301" y="2944046"/>
              <a:ext cx="165248" cy="105763"/>
            </a:xfrm>
            <a:custGeom>
              <a:avLst/>
              <a:gdLst/>
              <a:ahLst/>
              <a:cxnLst/>
              <a:rect l="l" t="t" r="r" b="b"/>
              <a:pathLst>
                <a:path w="5192" h="3323" extrusionOk="0">
                  <a:moveTo>
                    <a:pt x="4084" y="0"/>
                  </a:moveTo>
                  <a:cubicBezTo>
                    <a:pt x="4001" y="0"/>
                    <a:pt x="3906" y="84"/>
                    <a:pt x="3906" y="179"/>
                  </a:cubicBezTo>
                  <a:cubicBezTo>
                    <a:pt x="3906" y="286"/>
                    <a:pt x="3989" y="358"/>
                    <a:pt x="4084" y="358"/>
                  </a:cubicBezTo>
                  <a:lnTo>
                    <a:pt x="4596" y="358"/>
                  </a:lnTo>
                  <a:lnTo>
                    <a:pt x="2691" y="2263"/>
                  </a:lnTo>
                  <a:lnTo>
                    <a:pt x="1882" y="1465"/>
                  </a:lnTo>
                  <a:cubicBezTo>
                    <a:pt x="1846" y="1429"/>
                    <a:pt x="1801" y="1411"/>
                    <a:pt x="1758" y="1411"/>
                  </a:cubicBezTo>
                  <a:cubicBezTo>
                    <a:pt x="1715" y="1411"/>
                    <a:pt x="1673" y="1429"/>
                    <a:pt x="1644" y="1465"/>
                  </a:cubicBezTo>
                  <a:lnTo>
                    <a:pt x="72" y="3036"/>
                  </a:lnTo>
                  <a:cubicBezTo>
                    <a:pt x="1" y="3120"/>
                    <a:pt x="1" y="3215"/>
                    <a:pt x="72" y="3275"/>
                  </a:cubicBezTo>
                  <a:cubicBezTo>
                    <a:pt x="96" y="3310"/>
                    <a:pt x="143" y="3322"/>
                    <a:pt x="191" y="3322"/>
                  </a:cubicBezTo>
                  <a:cubicBezTo>
                    <a:pt x="239" y="3322"/>
                    <a:pt x="274" y="3310"/>
                    <a:pt x="310" y="3275"/>
                  </a:cubicBezTo>
                  <a:lnTo>
                    <a:pt x="1763" y="1822"/>
                  </a:lnTo>
                  <a:lnTo>
                    <a:pt x="2572" y="2620"/>
                  </a:lnTo>
                  <a:cubicBezTo>
                    <a:pt x="2608" y="2661"/>
                    <a:pt x="2653" y="2682"/>
                    <a:pt x="2696" y="2682"/>
                  </a:cubicBezTo>
                  <a:cubicBezTo>
                    <a:pt x="2739" y="2682"/>
                    <a:pt x="2781" y="2661"/>
                    <a:pt x="2810" y="2620"/>
                  </a:cubicBezTo>
                  <a:lnTo>
                    <a:pt x="4835" y="596"/>
                  </a:lnTo>
                  <a:lnTo>
                    <a:pt x="4835" y="1108"/>
                  </a:lnTo>
                  <a:cubicBezTo>
                    <a:pt x="4835" y="1191"/>
                    <a:pt x="4906" y="1286"/>
                    <a:pt x="5013" y="1286"/>
                  </a:cubicBezTo>
                  <a:cubicBezTo>
                    <a:pt x="5120" y="1286"/>
                    <a:pt x="5192" y="1215"/>
                    <a:pt x="5192" y="1108"/>
                  </a:cubicBezTo>
                  <a:lnTo>
                    <a:pt x="5192" y="179"/>
                  </a:lnTo>
                  <a:cubicBezTo>
                    <a:pt x="5192" y="84"/>
                    <a:pt x="5120" y="0"/>
                    <a:pt x="50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6" name="Google Shape;10333;p58"/>
          <p:cNvGrpSpPr/>
          <p:nvPr/>
        </p:nvGrpSpPr>
        <p:grpSpPr>
          <a:xfrm>
            <a:off x="5938210" y="2774479"/>
            <a:ext cx="379489" cy="366046"/>
            <a:chOff x="1284212" y="1963766"/>
            <a:chExt cx="379489" cy="366046"/>
          </a:xfrm>
        </p:grpSpPr>
        <p:sp>
          <p:nvSpPr>
            <p:cNvPr id="55" name="Google Shape;10334;p58"/>
            <p:cNvSpPr/>
            <p:nvPr/>
          </p:nvSpPr>
          <p:spPr>
            <a:xfrm>
              <a:off x="1436861" y="2112975"/>
              <a:ext cx="69444" cy="68902"/>
            </a:xfrm>
            <a:custGeom>
              <a:avLst/>
              <a:gdLst/>
              <a:ahLst/>
              <a:cxnLst/>
              <a:rect l="l" t="t" r="r" b="b"/>
              <a:pathLst>
                <a:path w="2180" h="2163" extrusionOk="0">
                  <a:moveTo>
                    <a:pt x="1086" y="1"/>
                  </a:moveTo>
                  <a:cubicBezTo>
                    <a:pt x="526" y="1"/>
                    <a:pt x="0" y="443"/>
                    <a:pt x="0" y="1079"/>
                  </a:cubicBezTo>
                  <a:cubicBezTo>
                    <a:pt x="0" y="1675"/>
                    <a:pt x="501" y="2163"/>
                    <a:pt x="1096" y="2163"/>
                  </a:cubicBezTo>
                  <a:cubicBezTo>
                    <a:pt x="1703" y="2163"/>
                    <a:pt x="2179" y="1675"/>
                    <a:pt x="2179" y="1079"/>
                  </a:cubicBezTo>
                  <a:cubicBezTo>
                    <a:pt x="2144" y="1020"/>
                    <a:pt x="2144" y="960"/>
                    <a:pt x="2132" y="889"/>
                  </a:cubicBezTo>
                  <a:cubicBezTo>
                    <a:pt x="2121" y="802"/>
                    <a:pt x="2040" y="744"/>
                    <a:pt x="1963" y="744"/>
                  </a:cubicBezTo>
                  <a:cubicBezTo>
                    <a:pt x="1955" y="744"/>
                    <a:pt x="1948" y="745"/>
                    <a:pt x="1941" y="746"/>
                  </a:cubicBezTo>
                  <a:cubicBezTo>
                    <a:pt x="1846" y="770"/>
                    <a:pt x="1786" y="853"/>
                    <a:pt x="1810" y="948"/>
                  </a:cubicBezTo>
                  <a:cubicBezTo>
                    <a:pt x="1883" y="1428"/>
                    <a:pt x="1488" y="1811"/>
                    <a:pt x="1059" y="1811"/>
                  </a:cubicBezTo>
                  <a:cubicBezTo>
                    <a:pt x="923" y="1811"/>
                    <a:pt x="784" y="1772"/>
                    <a:pt x="655" y="1687"/>
                  </a:cubicBezTo>
                  <a:cubicBezTo>
                    <a:pt x="48" y="1282"/>
                    <a:pt x="346" y="329"/>
                    <a:pt x="1072" y="329"/>
                  </a:cubicBezTo>
                  <a:cubicBezTo>
                    <a:pt x="1239" y="329"/>
                    <a:pt x="1405" y="389"/>
                    <a:pt x="1536" y="496"/>
                  </a:cubicBezTo>
                  <a:cubicBezTo>
                    <a:pt x="1567" y="522"/>
                    <a:pt x="1605" y="534"/>
                    <a:pt x="1642" y="534"/>
                  </a:cubicBezTo>
                  <a:cubicBezTo>
                    <a:pt x="1692" y="534"/>
                    <a:pt x="1741" y="513"/>
                    <a:pt x="1774" y="472"/>
                  </a:cubicBezTo>
                  <a:cubicBezTo>
                    <a:pt x="1834" y="389"/>
                    <a:pt x="1822" y="294"/>
                    <a:pt x="1751" y="234"/>
                  </a:cubicBezTo>
                  <a:cubicBezTo>
                    <a:pt x="1545" y="73"/>
                    <a:pt x="1313" y="1"/>
                    <a:pt x="10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tx2"/>
                </a:solidFill>
              </a:endParaRPr>
            </a:p>
          </p:txBody>
        </p:sp>
        <p:sp>
          <p:nvSpPr>
            <p:cNvPr id="56" name="Google Shape;10335;p58"/>
            <p:cNvSpPr/>
            <p:nvPr/>
          </p:nvSpPr>
          <p:spPr>
            <a:xfrm>
              <a:off x="1284212" y="1963766"/>
              <a:ext cx="379489" cy="366046"/>
            </a:xfrm>
            <a:custGeom>
              <a:avLst/>
              <a:gdLst/>
              <a:ahLst/>
              <a:cxnLst/>
              <a:rect l="l" t="t" r="r" b="b"/>
              <a:pathLst>
                <a:path w="11913" h="11491" extrusionOk="0">
                  <a:moveTo>
                    <a:pt x="1031" y="2185"/>
                  </a:moveTo>
                  <a:cubicBezTo>
                    <a:pt x="1151" y="2185"/>
                    <a:pt x="1275" y="2224"/>
                    <a:pt x="1387" y="2311"/>
                  </a:cubicBezTo>
                  <a:cubicBezTo>
                    <a:pt x="1625" y="2489"/>
                    <a:pt x="1673" y="2834"/>
                    <a:pt x="1506" y="3084"/>
                  </a:cubicBezTo>
                  <a:cubicBezTo>
                    <a:pt x="1389" y="3256"/>
                    <a:pt x="1207" y="3337"/>
                    <a:pt x="1026" y="3337"/>
                  </a:cubicBezTo>
                  <a:cubicBezTo>
                    <a:pt x="767" y="3337"/>
                    <a:pt x="510" y="3171"/>
                    <a:pt x="447" y="2870"/>
                  </a:cubicBezTo>
                  <a:cubicBezTo>
                    <a:pt x="376" y="2492"/>
                    <a:pt x="689" y="2185"/>
                    <a:pt x="1031" y="2185"/>
                  </a:cubicBezTo>
                  <a:close/>
                  <a:moveTo>
                    <a:pt x="4269" y="3025"/>
                  </a:moveTo>
                  <a:cubicBezTo>
                    <a:pt x="4364" y="3073"/>
                    <a:pt x="5435" y="3680"/>
                    <a:pt x="5519" y="3739"/>
                  </a:cubicBezTo>
                  <a:lnTo>
                    <a:pt x="4269" y="4454"/>
                  </a:lnTo>
                  <a:lnTo>
                    <a:pt x="4269" y="3025"/>
                  </a:lnTo>
                  <a:close/>
                  <a:moveTo>
                    <a:pt x="7448" y="3025"/>
                  </a:moveTo>
                  <a:lnTo>
                    <a:pt x="7448" y="4454"/>
                  </a:lnTo>
                  <a:lnTo>
                    <a:pt x="6197" y="3739"/>
                  </a:lnTo>
                  <a:lnTo>
                    <a:pt x="7448" y="3025"/>
                  </a:lnTo>
                  <a:close/>
                  <a:moveTo>
                    <a:pt x="2550" y="2268"/>
                  </a:moveTo>
                  <a:cubicBezTo>
                    <a:pt x="2817" y="2268"/>
                    <a:pt x="3085" y="2336"/>
                    <a:pt x="3328" y="2477"/>
                  </a:cubicBezTo>
                  <a:cubicBezTo>
                    <a:pt x="3697" y="2692"/>
                    <a:pt x="3566" y="2608"/>
                    <a:pt x="3935" y="2811"/>
                  </a:cubicBezTo>
                  <a:lnTo>
                    <a:pt x="3935" y="4644"/>
                  </a:lnTo>
                  <a:lnTo>
                    <a:pt x="2328" y="5573"/>
                  </a:lnTo>
                  <a:lnTo>
                    <a:pt x="1744" y="5240"/>
                  </a:lnTo>
                  <a:cubicBezTo>
                    <a:pt x="1375" y="5037"/>
                    <a:pt x="1125" y="4692"/>
                    <a:pt x="1006" y="4275"/>
                  </a:cubicBezTo>
                  <a:cubicBezTo>
                    <a:pt x="947" y="4085"/>
                    <a:pt x="923" y="3870"/>
                    <a:pt x="959" y="3680"/>
                  </a:cubicBezTo>
                  <a:lnTo>
                    <a:pt x="959" y="3680"/>
                  </a:lnTo>
                  <a:cubicBezTo>
                    <a:pt x="981" y="3681"/>
                    <a:pt x="1003" y="3682"/>
                    <a:pt x="1025" y="3682"/>
                  </a:cubicBezTo>
                  <a:cubicBezTo>
                    <a:pt x="1659" y="3682"/>
                    <a:pt x="2129" y="3028"/>
                    <a:pt x="1875" y="2418"/>
                  </a:cubicBezTo>
                  <a:cubicBezTo>
                    <a:pt x="2090" y="2319"/>
                    <a:pt x="2320" y="2268"/>
                    <a:pt x="2550" y="2268"/>
                  </a:cubicBezTo>
                  <a:close/>
                  <a:moveTo>
                    <a:pt x="9186" y="2275"/>
                  </a:moveTo>
                  <a:cubicBezTo>
                    <a:pt x="10067" y="2275"/>
                    <a:pt x="10781" y="2977"/>
                    <a:pt x="10781" y="3858"/>
                  </a:cubicBezTo>
                  <a:cubicBezTo>
                    <a:pt x="10781" y="4418"/>
                    <a:pt x="10460" y="4954"/>
                    <a:pt x="9972" y="5240"/>
                  </a:cubicBezTo>
                  <a:lnTo>
                    <a:pt x="9400" y="5573"/>
                  </a:lnTo>
                  <a:cubicBezTo>
                    <a:pt x="9186" y="5454"/>
                    <a:pt x="7983" y="4751"/>
                    <a:pt x="7793" y="4644"/>
                  </a:cubicBezTo>
                  <a:lnTo>
                    <a:pt x="7793" y="2834"/>
                  </a:lnTo>
                  <a:cubicBezTo>
                    <a:pt x="8245" y="2596"/>
                    <a:pt x="8567" y="2275"/>
                    <a:pt x="9186" y="2275"/>
                  </a:cubicBezTo>
                  <a:close/>
                  <a:moveTo>
                    <a:pt x="3935" y="5013"/>
                  </a:moveTo>
                  <a:lnTo>
                    <a:pt x="3935" y="6478"/>
                  </a:lnTo>
                  <a:lnTo>
                    <a:pt x="2673" y="5751"/>
                  </a:lnTo>
                  <a:lnTo>
                    <a:pt x="3935" y="5013"/>
                  </a:lnTo>
                  <a:close/>
                  <a:moveTo>
                    <a:pt x="7793" y="5037"/>
                  </a:moveTo>
                  <a:cubicBezTo>
                    <a:pt x="7948" y="5120"/>
                    <a:pt x="8900" y="5668"/>
                    <a:pt x="9055" y="5763"/>
                  </a:cubicBezTo>
                  <a:lnTo>
                    <a:pt x="7793" y="6490"/>
                  </a:lnTo>
                  <a:lnTo>
                    <a:pt x="7793" y="5037"/>
                  </a:lnTo>
                  <a:close/>
                  <a:moveTo>
                    <a:pt x="5852" y="3918"/>
                  </a:moveTo>
                  <a:lnTo>
                    <a:pt x="7448" y="4823"/>
                  </a:lnTo>
                  <a:lnTo>
                    <a:pt x="7448" y="6668"/>
                  </a:lnTo>
                  <a:lnTo>
                    <a:pt x="5852" y="7573"/>
                  </a:lnTo>
                  <a:lnTo>
                    <a:pt x="4257" y="6668"/>
                  </a:lnTo>
                  <a:lnTo>
                    <a:pt x="4257" y="4823"/>
                  </a:lnTo>
                  <a:lnTo>
                    <a:pt x="5852" y="3918"/>
                  </a:lnTo>
                  <a:close/>
                  <a:moveTo>
                    <a:pt x="7448" y="7061"/>
                  </a:moveTo>
                  <a:lnTo>
                    <a:pt x="7448" y="8490"/>
                  </a:lnTo>
                  <a:cubicBezTo>
                    <a:pt x="7352" y="8442"/>
                    <a:pt x="6281" y="7835"/>
                    <a:pt x="6197" y="7776"/>
                  </a:cubicBezTo>
                  <a:lnTo>
                    <a:pt x="7448" y="7061"/>
                  </a:lnTo>
                  <a:close/>
                  <a:moveTo>
                    <a:pt x="4269" y="7073"/>
                  </a:moveTo>
                  <a:lnTo>
                    <a:pt x="5519" y="7787"/>
                  </a:lnTo>
                  <a:lnTo>
                    <a:pt x="4269" y="8502"/>
                  </a:lnTo>
                  <a:lnTo>
                    <a:pt x="4269" y="7073"/>
                  </a:lnTo>
                  <a:close/>
                  <a:moveTo>
                    <a:pt x="9376" y="5954"/>
                  </a:moveTo>
                  <a:lnTo>
                    <a:pt x="9960" y="6287"/>
                  </a:lnTo>
                  <a:cubicBezTo>
                    <a:pt x="10329" y="6490"/>
                    <a:pt x="10579" y="6835"/>
                    <a:pt x="10710" y="7252"/>
                  </a:cubicBezTo>
                  <a:cubicBezTo>
                    <a:pt x="10746" y="7430"/>
                    <a:pt x="10757" y="7609"/>
                    <a:pt x="10757" y="7787"/>
                  </a:cubicBezTo>
                  <a:cubicBezTo>
                    <a:pt x="10736" y="7786"/>
                    <a:pt x="10714" y="7785"/>
                    <a:pt x="10693" y="7785"/>
                  </a:cubicBezTo>
                  <a:cubicBezTo>
                    <a:pt x="10049" y="7785"/>
                    <a:pt x="9612" y="8474"/>
                    <a:pt x="9888" y="9085"/>
                  </a:cubicBezTo>
                  <a:cubicBezTo>
                    <a:pt x="9662" y="9190"/>
                    <a:pt x="9412" y="9249"/>
                    <a:pt x="9161" y="9249"/>
                  </a:cubicBezTo>
                  <a:cubicBezTo>
                    <a:pt x="8898" y="9249"/>
                    <a:pt x="8632" y="9184"/>
                    <a:pt x="8388" y="9038"/>
                  </a:cubicBezTo>
                  <a:cubicBezTo>
                    <a:pt x="8007" y="8811"/>
                    <a:pt x="8138" y="8907"/>
                    <a:pt x="7769" y="8692"/>
                  </a:cubicBezTo>
                  <a:lnTo>
                    <a:pt x="7769" y="6883"/>
                  </a:lnTo>
                  <a:lnTo>
                    <a:pt x="9376" y="5954"/>
                  </a:lnTo>
                  <a:close/>
                  <a:moveTo>
                    <a:pt x="10731" y="8111"/>
                  </a:moveTo>
                  <a:cubicBezTo>
                    <a:pt x="10841" y="8111"/>
                    <a:pt x="10950" y="8142"/>
                    <a:pt x="11043" y="8204"/>
                  </a:cubicBezTo>
                  <a:cubicBezTo>
                    <a:pt x="11484" y="8502"/>
                    <a:pt x="11329" y="9157"/>
                    <a:pt x="10841" y="9264"/>
                  </a:cubicBezTo>
                  <a:cubicBezTo>
                    <a:pt x="10802" y="9271"/>
                    <a:pt x="10764" y="9275"/>
                    <a:pt x="10726" y="9275"/>
                  </a:cubicBezTo>
                  <a:cubicBezTo>
                    <a:pt x="10276" y="9275"/>
                    <a:pt x="9982" y="8767"/>
                    <a:pt x="10246" y="8371"/>
                  </a:cubicBezTo>
                  <a:cubicBezTo>
                    <a:pt x="10358" y="8199"/>
                    <a:pt x="10545" y="8111"/>
                    <a:pt x="10731" y="8111"/>
                  </a:cubicBezTo>
                  <a:close/>
                  <a:moveTo>
                    <a:pt x="5852" y="7978"/>
                  </a:moveTo>
                  <a:cubicBezTo>
                    <a:pt x="6043" y="8097"/>
                    <a:pt x="7233" y="8764"/>
                    <a:pt x="7448" y="8883"/>
                  </a:cubicBezTo>
                  <a:lnTo>
                    <a:pt x="7448" y="9585"/>
                  </a:lnTo>
                  <a:cubicBezTo>
                    <a:pt x="7448" y="10466"/>
                    <a:pt x="6733" y="11181"/>
                    <a:pt x="5852" y="11181"/>
                  </a:cubicBezTo>
                  <a:cubicBezTo>
                    <a:pt x="4971" y="11181"/>
                    <a:pt x="4257" y="10466"/>
                    <a:pt x="4257" y="9585"/>
                  </a:cubicBezTo>
                  <a:lnTo>
                    <a:pt x="4257" y="8883"/>
                  </a:lnTo>
                  <a:lnTo>
                    <a:pt x="5852" y="7978"/>
                  </a:lnTo>
                  <a:close/>
                  <a:moveTo>
                    <a:pt x="5852" y="1"/>
                  </a:moveTo>
                  <a:cubicBezTo>
                    <a:pt x="4792" y="1"/>
                    <a:pt x="3935" y="870"/>
                    <a:pt x="3935" y="1918"/>
                  </a:cubicBezTo>
                  <a:lnTo>
                    <a:pt x="3935" y="2430"/>
                  </a:lnTo>
                  <a:cubicBezTo>
                    <a:pt x="3649" y="2263"/>
                    <a:pt x="3757" y="2322"/>
                    <a:pt x="3483" y="2180"/>
                  </a:cubicBezTo>
                  <a:cubicBezTo>
                    <a:pt x="3183" y="2005"/>
                    <a:pt x="2854" y="1922"/>
                    <a:pt x="2529" y="1922"/>
                  </a:cubicBezTo>
                  <a:cubicBezTo>
                    <a:pt x="2235" y="1922"/>
                    <a:pt x="1945" y="1990"/>
                    <a:pt x="1685" y="2120"/>
                  </a:cubicBezTo>
                  <a:cubicBezTo>
                    <a:pt x="1491" y="1915"/>
                    <a:pt x="1256" y="1827"/>
                    <a:pt x="1027" y="1827"/>
                  </a:cubicBezTo>
                  <a:cubicBezTo>
                    <a:pt x="497" y="1827"/>
                    <a:pt x="0" y="2303"/>
                    <a:pt x="125" y="2918"/>
                  </a:cubicBezTo>
                  <a:cubicBezTo>
                    <a:pt x="185" y="3215"/>
                    <a:pt x="375" y="3454"/>
                    <a:pt x="625" y="3573"/>
                  </a:cubicBezTo>
                  <a:cubicBezTo>
                    <a:pt x="530" y="4335"/>
                    <a:pt x="887" y="5109"/>
                    <a:pt x="1578" y="5501"/>
                  </a:cubicBezTo>
                  <a:cubicBezTo>
                    <a:pt x="1816" y="5644"/>
                    <a:pt x="1744" y="5597"/>
                    <a:pt x="1983" y="5728"/>
                  </a:cubicBezTo>
                  <a:lnTo>
                    <a:pt x="1578" y="5954"/>
                  </a:lnTo>
                  <a:cubicBezTo>
                    <a:pt x="982" y="6299"/>
                    <a:pt x="613" y="6942"/>
                    <a:pt x="613" y="7633"/>
                  </a:cubicBezTo>
                  <a:cubicBezTo>
                    <a:pt x="613" y="8633"/>
                    <a:pt x="1375" y="9466"/>
                    <a:pt x="2375" y="9538"/>
                  </a:cubicBezTo>
                  <a:lnTo>
                    <a:pt x="2387" y="9538"/>
                  </a:lnTo>
                  <a:cubicBezTo>
                    <a:pt x="2471" y="9538"/>
                    <a:pt x="2554" y="9478"/>
                    <a:pt x="2554" y="9395"/>
                  </a:cubicBezTo>
                  <a:cubicBezTo>
                    <a:pt x="2566" y="9300"/>
                    <a:pt x="2495" y="9216"/>
                    <a:pt x="2399" y="9216"/>
                  </a:cubicBezTo>
                  <a:cubicBezTo>
                    <a:pt x="1578" y="9145"/>
                    <a:pt x="959" y="8454"/>
                    <a:pt x="959" y="7633"/>
                  </a:cubicBezTo>
                  <a:cubicBezTo>
                    <a:pt x="959" y="7073"/>
                    <a:pt x="1268" y="6537"/>
                    <a:pt x="1756" y="6252"/>
                  </a:cubicBezTo>
                  <a:lnTo>
                    <a:pt x="2340" y="5918"/>
                  </a:lnTo>
                  <a:lnTo>
                    <a:pt x="3947" y="6847"/>
                  </a:lnTo>
                  <a:lnTo>
                    <a:pt x="3947" y="8657"/>
                  </a:lnTo>
                  <a:cubicBezTo>
                    <a:pt x="3411" y="8954"/>
                    <a:pt x="3280" y="9061"/>
                    <a:pt x="3030" y="9157"/>
                  </a:cubicBezTo>
                  <a:cubicBezTo>
                    <a:pt x="2935" y="9180"/>
                    <a:pt x="2887" y="9276"/>
                    <a:pt x="2911" y="9359"/>
                  </a:cubicBezTo>
                  <a:cubicBezTo>
                    <a:pt x="2932" y="9443"/>
                    <a:pt x="3008" y="9480"/>
                    <a:pt x="3082" y="9480"/>
                  </a:cubicBezTo>
                  <a:cubicBezTo>
                    <a:pt x="3093" y="9480"/>
                    <a:pt x="3103" y="9480"/>
                    <a:pt x="3114" y="9478"/>
                  </a:cubicBezTo>
                  <a:cubicBezTo>
                    <a:pt x="3423" y="9395"/>
                    <a:pt x="3578" y="9252"/>
                    <a:pt x="3947" y="9061"/>
                  </a:cubicBezTo>
                  <a:lnTo>
                    <a:pt x="3947" y="9573"/>
                  </a:lnTo>
                  <a:cubicBezTo>
                    <a:pt x="3947" y="10621"/>
                    <a:pt x="4816" y="11490"/>
                    <a:pt x="5864" y="11490"/>
                  </a:cubicBezTo>
                  <a:cubicBezTo>
                    <a:pt x="6924" y="11490"/>
                    <a:pt x="7793" y="10621"/>
                    <a:pt x="7793" y="9573"/>
                  </a:cubicBezTo>
                  <a:lnTo>
                    <a:pt x="7793" y="9085"/>
                  </a:lnTo>
                  <a:cubicBezTo>
                    <a:pt x="8269" y="9347"/>
                    <a:pt x="8591" y="9585"/>
                    <a:pt x="9186" y="9585"/>
                  </a:cubicBezTo>
                  <a:cubicBezTo>
                    <a:pt x="9495" y="9585"/>
                    <a:pt x="9829" y="9514"/>
                    <a:pt x="10115" y="9359"/>
                  </a:cubicBezTo>
                  <a:cubicBezTo>
                    <a:pt x="10277" y="9521"/>
                    <a:pt x="10500" y="9615"/>
                    <a:pt x="10736" y="9615"/>
                  </a:cubicBezTo>
                  <a:cubicBezTo>
                    <a:pt x="10794" y="9615"/>
                    <a:pt x="10853" y="9609"/>
                    <a:pt x="10912" y="9597"/>
                  </a:cubicBezTo>
                  <a:cubicBezTo>
                    <a:pt x="11781" y="9419"/>
                    <a:pt x="11912" y="8216"/>
                    <a:pt x="11091" y="7847"/>
                  </a:cubicBezTo>
                  <a:cubicBezTo>
                    <a:pt x="11162" y="7121"/>
                    <a:pt x="10805" y="6371"/>
                    <a:pt x="10138" y="5990"/>
                  </a:cubicBezTo>
                  <a:cubicBezTo>
                    <a:pt x="9900" y="5847"/>
                    <a:pt x="9972" y="5894"/>
                    <a:pt x="9734" y="5763"/>
                  </a:cubicBezTo>
                  <a:lnTo>
                    <a:pt x="10138" y="5537"/>
                  </a:lnTo>
                  <a:cubicBezTo>
                    <a:pt x="11067" y="5013"/>
                    <a:pt x="11377" y="3823"/>
                    <a:pt x="10853" y="2906"/>
                  </a:cubicBezTo>
                  <a:cubicBezTo>
                    <a:pt x="10507" y="2311"/>
                    <a:pt x="9876" y="1941"/>
                    <a:pt x="9174" y="1941"/>
                  </a:cubicBezTo>
                  <a:cubicBezTo>
                    <a:pt x="8471" y="1941"/>
                    <a:pt x="8067" y="2311"/>
                    <a:pt x="7769" y="2442"/>
                  </a:cubicBezTo>
                  <a:cubicBezTo>
                    <a:pt x="7757" y="2025"/>
                    <a:pt x="7805" y="1834"/>
                    <a:pt x="7733" y="1525"/>
                  </a:cubicBezTo>
                  <a:cubicBezTo>
                    <a:pt x="7711" y="1438"/>
                    <a:pt x="7640" y="1380"/>
                    <a:pt x="7546" y="1380"/>
                  </a:cubicBezTo>
                  <a:cubicBezTo>
                    <a:pt x="7537" y="1380"/>
                    <a:pt x="7528" y="1381"/>
                    <a:pt x="7519" y="1382"/>
                  </a:cubicBezTo>
                  <a:cubicBezTo>
                    <a:pt x="7436" y="1406"/>
                    <a:pt x="7376" y="1489"/>
                    <a:pt x="7388" y="1596"/>
                  </a:cubicBezTo>
                  <a:cubicBezTo>
                    <a:pt x="7448" y="1858"/>
                    <a:pt x="7412" y="2013"/>
                    <a:pt x="7436" y="2632"/>
                  </a:cubicBezTo>
                  <a:lnTo>
                    <a:pt x="5840" y="3549"/>
                  </a:lnTo>
                  <a:lnTo>
                    <a:pt x="4245" y="2632"/>
                  </a:lnTo>
                  <a:lnTo>
                    <a:pt x="4245" y="1941"/>
                  </a:lnTo>
                  <a:cubicBezTo>
                    <a:pt x="4245" y="1060"/>
                    <a:pt x="4959" y="346"/>
                    <a:pt x="5840" y="346"/>
                  </a:cubicBezTo>
                  <a:cubicBezTo>
                    <a:pt x="6364" y="346"/>
                    <a:pt x="6840" y="596"/>
                    <a:pt x="7150" y="1025"/>
                  </a:cubicBezTo>
                  <a:cubicBezTo>
                    <a:pt x="7186" y="1076"/>
                    <a:pt x="7241" y="1100"/>
                    <a:pt x="7294" y="1100"/>
                  </a:cubicBezTo>
                  <a:cubicBezTo>
                    <a:pt x="7328" y="1100"/>
                    <a:pt x="7360" y="1091"/>
                    <a:pt x="7388" y="1072"/>
                  </a:cubicBezTo>
                  <a:cubicBezTo>
                    <a:pt x="7459" y="1013"/>
                    <a:pt x="7471" y="906"/>
                    <a:pt x="7436" y="834"/>
                  </a:cubicBezTo>
                  <a:cubicBezTo>
                    <a:pt x="7078" y="310"/>
                    <a:pt x="6483" y="1"/>
                    <a:pt x="58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accent4"/>
                </a:solidFill>
              </a:endParaRPr>
            </a:p>
          </p:txBody>
        </p:sp>
      </p:grpSp>
      <p:pic>
        <p:nvPicPr>
          <p:cNvPr id="48" name="Picture 4" descr="The Learning Gate | Tec de Monterrey"/>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cxnSp>
        <p:nvCxnSpPr>
          <p:cNvPr id="54" name="Google Shape;258;p31"/>
          <p:cNvCxnSpPr/>
          <p:nvPr/>
        </p:nvCxnSpPr>
        <p:spPr>
          <a:xfrm>
            <a:off x="1029794" y="473489"/>
            <a:ext cx="0" cy="726300"/>
          </a:xfrm>
          <a:prstGeom prst="straightConnector1">
            <a:avLst/>
          </a:prstGeom>
          <a:noFill/>
          <a:ln w="19050" cap="flat" cmpd="sng">
            <a:solidFill>
              <a:srgbClr val="F3F3F3"/>
            </a:solidFill>
            <a:prstDash val="solid"/>
            <a:round/>
            <a:headEnd type="oval" w="med" len="med"/>
            <a:tailEnd type="oval" w="med" len="med"/>
          </a:ln>
        </p:spPr>
      </p:cxnSp>
      <p:grpSp>
        <p:nvGrpSpPr>
          <p:cNvPr id="57" name="Google Shape;260;p31"/>
          <p:cNvGrpSpPr/>
          <p:nvPr/>
        </p:nvGrpSpPr>
        <p:grpSpPr>
          <a:xfrm>
            <a:off x="501355" y="604619"/>
            <a:ext cx="379958" cy="379958"/>
            <a:chOff x="1190625" y="238125"/>
            <a:chExt cx="5219200" cy="5219200"/>
          </a:xfrm>
        </p:grpSpPr>
        <p:sp>
          <p:nvSpPr>
            <p:cNvPr id="58" name="Google Shape;261;p31"/>
            <p:cNvSpPr/>
            <p:nvPr/>
          </p:nvSpPr>
          <p:spPr>
            <a:xfrm>
              <a:off x="2188775"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262;p31"/>
            <p:cNvSpPr/>
            <p:nvPr/>
          </p:nvSpPr>
          <p:spPr>
            <a:xfrm>
              <a:off x="5258300"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263;p31"/>
            <p:cNvSpPr/>
            <p:nvPr/>
          </p:nvSpPr>
          <p:spPr>
            <a:xfrm>
              <a:off x="2188775"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264;p31"/>
            <p:cNvSpPr/>
            <p:nvPr/>
          </p:nvSpPr>
          <p:spPr>
            <a:xfrm>
              <a:off x="5258300"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265;p31"/>
            <p:cNvSpPr/>
            <p:nvPr/>
          </p:nvSpPr>
          <p:spPr>
            <a:xfrm>
              <a:off x="2188775" y="1236275"/>
              <a:ext cx="3222875" cy="3222875"/>
            </a:xfrm>
            <a:custGeom>
              <a:avLst/>
              <a:gdLst/>
              <a:ahLst/>
              <a:cxnLst/>
              <a:rect l="l" t="t" r="r" b="b"/>
              <a:pathLst>
                <a:path w="128915" h="128915" extrusionOk="0">
                  <a:moveTo>
                    <a:pt x="110517" y="6133"/>
                  </a:moveTo>
                  <a:lnTo>
                    <a:pt x="110517" y="18398"/>
                  </a:lnTo>
                  <a:lnTo>
                    <a:pt x="122782" y="18398"/>
                  </a:lnTo>
                  <a:lnTo>
                    <a:pt x="122782" y="110517"/>
                  </a:lnTo>
                  <a:lnTo>
                    <a:pt x="110517" y="110517"/>
                  </a:lnTo>
                  <a:lnTo>
                    <a:pt x="110517" y="122782"/>
                  </a:lnTo>
                  <a:lnTo>
                    <a:pt x="18398" y="122782"/>
                  </a:lnTo>
                  <a:lnTo>
                    <a:pt x="18398" y="110517"/>
                  </a:lnTo>
                  <a:lnTo>
                    <a:pt x="6133" y="110517"/>
                  </a:lnTo>
                  <a:lnTo>
                    <a:pt x="6133" y="18398"/>
                  </a:lnTo>
                  <a:lnTo>
                    <a:pt x="18398" y="18398"/>
                  </a:lnTo>
                  <a:lnTo>
                    <a:pt x="18398" y="6133"/>
                  </a:lnTo>
                  <a:close/>
                  <a:moveTo>
                    <a:pt x="12266" y="1"/>
                  </a:moveTo>
                  <a:lnTo>
                    <a:pt x="12266" y="12266"/>
                  </a:lnTo>
                  <a:lnTo>
                    <a:pt x="1" y="12266"/>
                  </a:lnTo>
                  <a:lnTo>
                    <a:pt x="1" y="116649"/>
                  </a:lnTo>
                  <a:lnTo>
                    <a:pt x="12266" y="116649"/>
                  </a:lnTo>
                  <a:lnTo>
                    <a:pt x="12266" y="128914"/>
                  </a:lnTo>
                  <a:lnTo>
                    <a:pt x="116649" y="128914"/>
                  </a:lnTo>
                  <a:lnTo>
                    <a:pt x="116649" y="116649"/>
                  </a:lnTo>
                  <a:lnTo>
                    <a:pt x="128914" y="116649"/>
                  </a:lnTo>
                  <a:lnTo>
                    <a:pt x="128914" y="12266"/>
                  </a:lnTo>
                  <a:lnTo>
                    <a:pt x="116649" y="12266"/>
                  </a:lnTo>
                  <a:lnTo>
                    <a:pt x="116649"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266;p31"/>
            <p:cNvSpPr/>
            <p:nvPr/>
          </p:nvSpPr>
          <p:spPr>
            <a:xfrm>
              <a:off x="2495400"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 name="Google Shape;267;p31"/>
            <p:cNvSpPr/>
            <p:nvPr/>
          </p:nvSpPr>
          <p:spPr>
            <a:xfrm>
              <a:off x="2802025"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268;p31"/>
            <p:cNvSpPr/>
            <p:nvPr/>
          </p:nvSpPr>
          <p:spPr>
            <a:xfrm>
              <a:off x="31094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269;p31"/>
            <p:cNvSpPr/>
            <p:nvPr/>
          </p:nvSpPr>
          <p:spPr>
            <a:xfrm>
              <a:off x="3416100"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270;p31"/>
            <p:cNvSpPr/>
            <p:nvPr/>
          </p:nvSpPr>
          <p:spPr>
            <a:xfrm>
              <a:off x="3723550"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271;p31"/>
            <p:cNvSpPr/>
            <p:nvPr/>
          </p:nvSpPr>
          <p:spPr>
            <a:xfrm>
              <a:off x="4030175" y="1849525"/>
              <a:ext cx="154150" cy="154150"/>
            </a:xfrm>
            <a:custGeom>
              <a:avLst/>
              <a:gdLst/>
              <a:ahLst/>
              <a:cxnLst/>
              <a:rect l="l" t="t" r="r" b="b"/>
              <a:pathLst>
                <a:path w="6166" h="6166" extrusionOk="0">
                  <a:moveTo>
                    <a:pt x="0" y="1"/>
                  </a:moveTo>
                  <a:lnTo>
                    <a:pt x="0"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272;p31"/>
            <p:cNvSpPr/>
            <p:nvPr/>
          </p:nvSpPr>
          <p:spPr>
            <a:xfrm>
              <a:off x="4337625"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 name="Google Shape;273;p31"/>
            <p:cNvSpPr/>
            <p:nvPr/>
          </p:nvSpPr>
          <p:spPr>
            <a:xfrm>
              <a:off x="4644250" y="1849525"/>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274;p31"/>
            <p:cNvSpPr/>
            <p:nvPr/>
          </p:nvSpPr>
          <p:spPr>
            <a:xfrm>
              <a:off x="2802025"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275;p31"/>
            <p:cNvSpPr/>
            <p:nvPr/>
          </p:nvSpPr>
          <p:spPr>
            <a:xfrm>
              <a:off x="3109475" y="15429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276;p31"/>
            <p:cNvSpPr/>
            <p:nvPr/>
          </p:nvSpPr>
          <p:spPr>
            <a:xfrm>
              <a:off x="3416100"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 name="Google Shape;277;p31"/>
            <p:cNvSpPr/>
            <p:nvPr/>
          </p:nvSpPr>
          <p:spPr>
            <a:xfrm>
              <a:off x="3723550"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278;p31"/>
            <p:cNvSpPr/>
            <p:nvPr/>
          </p:nvSpPr>
          <p:spPr>
            <a:xfrm>
              <a:off x="4030175" y="1542900"/>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279;p31"/>
            <p:cNvSpPr/>
            <p:nvPr/>
          </p:nvSpPr>
          <p:spPr>
            <a:xfrm>
              <a:off x="4337625"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280;p31"/>
            <p:cNvSpPr/>
            <p:nvPr/>
          </p:nvSpPr>
          <p:spPr>
            <a:xfrm>
              <a:off x="4644250" y="1542900"/>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281;p31"/>
            <p:cNvSpPr/>
            <p:nvPr/>
          </p:nvSpPr>
          <p:spPr>
            <a:xfrm>
              <a:off x="49516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282;p31"/>
            <p:cNvSpPr/>
            <p:nvPr/>
          </p:nvSpPr>
          <p:spPr>
            <a:xfrm>
              <a:off x="2495400"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 name="Google Shape;283;p31"/>
            <p:cNvSpPr/>
            <p:nvPr/>
          </p:nvSpPr>
          <p:spPr>
            <a:xfrm>
              <a:off x="2802025" y="21569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 name="Google Shape;284;p31"/>
            <p:cNvSpPr/>
            <p:nvPr/>
          </p:nvSpPr>
          <p:spPr>
            <a:xfrm>
              <a:off x="4644250" y="2771050"/>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 name="Google Shape;285;p31"/>
            <p:cNvSpPr/>
            <p:nvPr/>
          </p:nvSpPr>
          <p:spPr>
            <a:xfrm>
              <a:off x="4644250" y="2463600"/>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 name="Google Shape;286;p31"/>
            <p:cNvSpPr/>
            <p:nvPr/>
          </p:nvSpPr>
          <p:spPr>
            <a:xfrm>
              <a:off x="4644250" y="3077675"/>
              <a:ext cx="154150" cy="154150"/>
            </a:xfrm>
            <a:custGeom>
              <a:avLst/>
              <a:gdLst/>
              <a:ahLst/>
              <a:cxnLst/>
              <a:rect l="l" t="t" r="r" b="b"/>
              <a:pathLst>
                <a:path w="6166" h="6166" extrusionOk="0">
                  <a:moveTo>
                    <a:pt x="0" y="0"/>
                  </a:moveTo>
                  <a:lnTo>
                    <a:pt x="0" y="6166"/>
                  </a:lnTo>
                  <a:lnTo>
                    <a:pt x="6165" y="6166"/>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 name="Google Shape;287;p31"/>
            <p:cNvSpPr/>
            <p:nvPr/>
          </p:nvSpPr>
          <p:spPr>
            <a:xfrm>
              <a:off x="4644250" y="3385125"/>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 name="Google Shape;288;p31"/>
            <p:cNvSpPr/>
            <p:nvPr/>
          </p:nvSpPr>
          <p:spPr>
            <a:xfrm>
              <a:off x="4951675"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 name="Google Shape;289;p31"/>
            <p:cNvSpPr/>
            <p:nvPr/>
          </p:nvSpPr>
          <p:spPr>
            <a:xfrm>
              <a:off x="4951675"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290;p31"/>
            <p:cNvSpPr/>
            <p:nvPr/>
          </p:nvSpPr>
          <p:spPr>
            <a:xfrm>
              <a:off x="4951675"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 name="Google Shape;291;p31"/>
            <p:cNvSpPr/>
            <p:nvPr/>
          </p:nvSpPr>
          <p:spPr>
            <a:xfrm>
              <a:off x="4951675"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 name="Google Shape;292;p31"/>
            <p:cNvSpPr/>
            <p:nvPr/>
          </p:nvSpPr>
          <p:spPr>
            <a:xfrm>
              <a:off x="4644250" y="21569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 name="Google Shape;293;p31"/>
            <p:cNvSpPr/>
            <p:nvPr/>
          </p:nvSpPr>
          <p:spPr>
            <a:xfrm>
              <a:off x="4951675"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 name="Google Shape;294;p31"/>
            <p:cNvSpPr/>
            <p:nvPr/>
          </p:nvSpPr>
          <p:spPr>
            <a:xfrm>
              <a:off x="2495400"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 name="Google Shape;295;p31"/>
            <p:cNvSpPr/>
            <p:nvPr/>
          </p:nvSpPr>
          <p:spPr>
            <a:xfrm>
              <a:off x="2802025"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 name="Google Shape;296;p31"/>
            <p:cNvSpPr/>
            <p:nvPr/>
          </p:nvSpPr>
          <p:spPr>
            <a:xfrm>
              <a:off x="31094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 name="Google Shape;297;p31"/>
            <p:cNvSpPr/>
            <p:nvPr/>
          </p:nvSpPr>
          <p:spPr>
            <a:xfrm>
              <a:off x="3416100"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 name="Google Shape;298;p31"/>
            <p:cNvSpPr/>
            <p:nvPr/>
          </p:nvSpPr>
          <p:spPr>
            <a:xfrm>
              <a:off x="3723550"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299;p31"/>
            <p:cNvSpPr/>
            <p:nvPr/>
          </p:nvSpPr>
          <p:spPr>
            <a:xfrm>
              <a:off x="4030175" y="3691750"/>
              <a:ext cx="154150" cy="154150"/>
            </a:xfrm>
            <a:custGeom>
              <a:avLst/>
              <a:gdLst/>
              <a:ahLst/>
              <a:cxnLst/>
              <a:rect l="l" t="t" r="r" b="b"/>
              <a:pathLst>
                <a:path w="6166" h="6166" extrusionOk="0">
                  <a:moveTo>
                    <a:pt x="0" y="0"/>
                  </a:moveTo>
                  <a:lnTo>
                    <a:pt x="0"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 name="Google Shape;300;p31"/>
            <p:cNvSpPr/>
            <p:nvPr/>
          </p:nvSpPr>
          <p:spPr>
            <a:xfrm>
              <a:off x="2495400"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 name="Google Shape;301;p31"/>
            <p:cNvSpPr/>
            <p:nvPr/>
          </p:nvSpPr>
          <p:spPr>
            <a:xfrm>
              <a:off x="2802025" y="3385125"/>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 name="Google Shape;302;p31"/>
            <p:cNvSpPr/>
            <p:nvPr/>
          </p:nvSpPr>
          <p:spPr>
            <a:xfrm>
              <a:off x="4337625"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 name="Google Shape;303;p31"/>
            <p:cNvSpPr/>
            <p:nvPr/>
          </p:nvSpPr>
          <p:spPr>
            <a:xfrm>
              <a:off x="4644250" y="3691750"/>
              <a:ext cx="154150" cy="154150"/>
            </a:xfrm>
            <a:custGeom>
              <a:avLst/>
              <a:gdLst/>
              <a:ahLst/>
              <a:cxnLst/>
              <a:rect l="l" t="t" r="r" b="b"/>
              <a:pathLst>
                <a:path w="6166" h="6166" extrusionOk="0">
                  <a:moveTo>
                    <a:pt x="0" y="0"/>
                  </a:moveTo>
                  <a:lnTo>
                    <a:pt x="0" y="6165"/>
                  </a:lnTo>
                  <a:lnTo>
                    <a:pt x="6165" y="6165"/>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 name="Google Shape;304;p31"/>
            <p:cNvSpPr/>
            <p:nvPr/>
          </p:nvSpPr>
          <p:spPr>
            <a:xfrm>
              <a:off x="2802025"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 name="Google Shape;305;p31"/>
            <p:cNvSpPr/>
            <p:nvPr/>
          </p:nvSpPr>
          <p:spPr>
            <a:xfrm>
              <a:off x="3109475" y="39991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 name="Google Shape;306;p31"/>
            <p:cNvSpPr/>
            <p:nvPr/>
          </p:nvSpPr>
          <p:spPr>
            <a:xfrm>
              <a:off x="2802025" y="2771050"/>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 name="Google Shape;307;p31"/>
            <p:cNvSpPr/>
            <p:nvPr/>
          </p:nvSpPr>
          <p:spPr>
            <a:xfrm>
              <a:off x="2802025" y="2463600"/>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 name="Google Shape;308;p31"/>
            <p:cNvSpPr/>
            <p:nvPr/>
          </p:nvSpPr>
          <p:spPr>
            <a:xfrm>
              <a:off x="2802025" y="3077675"/>
              <a:ext cx="154150" cy="154150"/>
            </a:xfrm>
            <a:custGeom>
              <a:avLst/>
              <a:gdLst/>
              <a:ahLst/>
              <a:cxnLst/>
              <a:rect l="l" t="t" r="r" b="b"/>
              <a:pathLst>
                <a:path w="6166" h="6166" extrusionOk="0">
                  <a:moveTo>
                    <a:pt x="1" y="0"/>
                  </a:moveTo>
                  <a:lnTo>
                    <a:pt x="1" y="6166"/>
                  </a:lnTo>
                  <a:lnTo>
                    <a:pt x="6166" y="6166"/>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 name="Google Shape;309;p31"/>
            <p:cNvSpPr/>
            <p:nvPr/>
          </p:nvSpPr>
          <p:spPr>
            <a:xfrm>
              <a:off x="2495400"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 name="Google Shape;310;p31"/>
            <p:cNvSpPr/>
            <p:nvPr/>
          </p:nvSpPr>
          <p:spPr>
            <a:xfrm>
              <a:off x="2495400"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 name="Google Shape;311;p31"/>
            <p:cNvSpPr/>
            <p:nvPr/>
          </p:nvSpPr>
          <p:spPr>
            <a:xfrm>
              <a:off x="2495400"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 name="Google Shape;312;p31"/>
            <p:cNvSpPr/>
            <p:nvPr/>
          </p:nvSpPr>
          <p:spPr>
            <a:xfrm>
              <a:off x="3416100"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 name="Google Shape;313;p31"/>
            <p:cNvSpPr/>
            <p:nvPr/>
          </p:nvSpPr>
          <p:spPr>
            <a:xfrm>
              <a:off x="3723550"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 name="Google Shape;314;p31"/>
            <p:cNvSpPr/>
            <p:nvPr/>
          </p:nvSpPr>
          <p:spPr>
            <a:xfrm>
              <a:off x="4030175" y="3999175"/>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 name="Google Shape;315;p31"/>
            <p:cNvSpPr/>
            <p:nvPr/>
          </p:nvSpPr>
          <p:spPr>
            <a:xfrm>
              <a:off x="4337625"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 name="Google Shape;316;p31"/>
            <p:cNvSpPr/>
            <p:nvPr/>
          </p:nvSpPr>
          <p:spPr>
            <a:xfrm>
              <a:off x="4644250" y="39991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 name="Google Shape;317;p31"/>
            <p:cNvSpPr/>
            <p:nvPr/>
          </p:nvSpPr>
          <p:spPr>
            <a:xfrm>
              <a:off x="49516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 name="Google Shape;318;p31"/>
            <p:cNvSpPr/>
            <p:nvPr/>
          </p:nvSpPr>
          <p:spPr>
            <a:xfrm>
              <a:off x="1728025" y="775525"/>
              <a:ext cx="4144375" cy="4144375"/>
            </a:xfrm>
            <a:custGeom>
              <a:avLst/>
              <a:gdLst/>
              <a:ahLst/>
              <a:cxnLst/>
              <a:rect l="l" t="t" r="r" b="b"/>
              <a:pathLst>
                <a:path w="165775" h="165775" extrusionOk="0">
                  <a:moveTo>
                    <a:pt x="154097" y="12298"/>
                  </a:moveTo>
                  <a:lnTo>
                    <a:pt x="154097" y="154292"/>
                  </a:lnTo>
                  <a:lnTo>
                    <a:pt x="12102" y="154292"/>
                  </a:lnTo>
                  <a:lnTo>
                    <a:pt x="12102" y="12298"/>
                  </a:lnTo>
                  <a:close/>
                  <a:moveTo>
                    <a:pt x="14810" y="0"/>
                  </a:moveTo>
                  <a:lnTo>
                    <a:pt x="14810" y="6166"/>
                  </a:lnTo>
                  <a:lnTo>
                    <a:pt x="5970" y="6166"/>
                  </a:lnTo>
                  <a:lnTo>
                    <a:pt x="5970" y="19181"/>
                  </a:lnTo>
                  <a:lnTo>
                    <a:pt x="0" y="19181"/>
                  </a:lnTo>
                  <a:lnTo>
                    <a:pt x="0" y="25314"/>
                  </a:lnTo>
                  <a:lnTo>
                    <a:pt x="5970" y="25314"/>
                  </a:lnTo>
                  <a:lnTo>
                    <a:pt x="5970" y="37579"/>
                  </a:lnTo>
                  <a:lnTo>
                    <a:pt x="0" y="37579"/>
                  </a:lnTo>
                  <a:lnTo>
                    <a:pt x="0" y="43711"/>
                  </a:lnTo>
                  <a:lnTo>
                    <a:pt x="5970" y="43711"/>
                  </a:lnTo>
                  <a:lnTo>
                    <a:pt x="5970" y="55944"/>
                  </a:lnTo>
                  <a:lnTo>
                    <a:pt x="0" y="55944"/>
                  </a:lnTo>
                  <a:lnTo>
                    <a:pt x="0" y="62109"/>
                  </a:lnTo>
                  <a:lnTo>
                    <a:pt x="5970" y="62109"/>
                  </a:lnTo>
                  <a:lnTo>
                    <a:pt x="5970" y="74341"/>
                  </a:lnTo>
                  <a:lnTo>
                    <a:pt x="0" y="74341"/>
                  </a:lnTo>
                  <a:lnTo>
                    <a:pt x="0" y="80474"/>
                  </a:lnTo>
                  <a:lnTo>
                    <a:pt x="5970" y="80474"/>
                  </a:lnTo>
                  <a:lnTo>
                    <a:pt x="5970" y="92739"/>
                  </a:lnTo>
                  <a:lnTo>
                    <a:pt x="0" y="92739"/>
                  </a:lnTo>
                  <a:lnTo>
                    <a:pt x="0" y="98871"/>
                  </a:lnTo>
                  <a:lnTo>
                    <a:pt x="5970" y="98871"/>
                  </a:lnTo>
                  <a:lnTo>
                    <a:pt x="5970" y="111136"/>
                  </a:lnTo>
                  <a:lnTo>
                    <a:pt x="0" y="111136"/>
                  </a:lnTo>
                  <a:lnTo>
                    <a:pt x="0" y="117269"/>
                  </a:lnTo>
                  <a:lnTo>
                    <a:pt x="5970" y="117269"/>
                  </a:lnTo>
                  <a:lnTo>
                    <a:pt x="5970" y="129501"/>
                  </a:lnTo>
                  <a:lnTo>
                    <a:pt x="0" y="129501"/>
                  </a:lnTo>
                  <a:lnTo>
                    <a:pt x="0" y="135634"/>
                  </a:lnTo>
                  <a:lnTo>
                    <a:pt x="5970" y="135634"/>
                  </a:lnTo>
                  <a:lnTo>
                    <a:pt x="5970" y="147899"/>
                  </a:lnTo>
                  <a:lnTo>
                    <a:pt x="0" y="147899"/>
                  </a:lnTo>
                  <a:lnTo>
                    <a:pt x="0" y="154031"/>
                  </a:lnTo>
                  <a:lnTo>
                    <a:pt x="5970" y="154031"/>
                  </a:lnTo>
                  <a:lnTo>
                    <a:pt x="5970" y="160425"/>
                  </a:lnTo>
                  <a:lnTo>
                    <a:pt x="15332" y="160425"/>
                  </a:lnTo>
                  <a:lnTo>
                    <a:pt x="15332" y="165775"/>
                  </a:lnTo>
                  <a:lnTo>
                    <a:pt x="21497" y="165775"/>
                  </a:lnTo>
                  <a:lnTo>
                    <a:pt x="21497" y="160425"/>
                  </a:lnTo>
                  <a:lnTo>
                    <a:pt x="33729" y="160425"/>
                  </a:lnTo>
                  <a:lnTo>
                    <a:pt x="33729" y="165775"/>
                  </a:lnTo>
                  <a:lnTo>
                    <a:pt x="39862" y="165775"/>
                  </a:lnTo>
                  <a:lnTo>
                    <a:pt x="39862" y="160425"/>
                  </a:lnTo>
                  <a:lnTo>
                    <a:pt x="52127" y="160425"/>
                  </a:lnTo>
                  <a:lnTo>
                    <a:pt x="52127" y="165775"/>
                  </a:lnTo>
                  <a:lnTo>
                    <a:pt x="58260" y="165775"/>
                  </a:lnTo>
                  <a:lnTo>
                    <a:pt x="58260" y="160425"/>
                  </a:lnTo>
                  <a:lnTo>
                    <a:pt x="70492" y="160425"/>
                  </a:lnTo>
                  <a:lnTo>
                    <a:pt x="70492" y="165775"/>
                  </a:lnTo>
                  <a:lnTo>
                    <a:pt x="76657" y="165775"/>
                  </a:lnTo>
                  <a:lnTo>
                    <a:pt x="76657" y="160425"/>
                  </a:lnTo>
                  <a:lnTo>
                    <a:pt x="88890" y="160425"/>
                  </a:lnTo>
                  <a:lnTo>
                    <a:pt x="88890" y="165775"/>
                  </a:lnTo>
                  <a:lnTo>
                    <a:pt x="95022" y="165775"/>
                  </a:lnTo>
                  <a:lnTo>
                    <a:pt x="95022" y="160425"/>
                  </a:lnTo>
                  <a:lnTo>
                    <a:pt x="107287" y="160425"/>
                  </a:lnTo>
                  <a:lnTo>
                    <a:pt x="107287" y="165775"/>
                  </a:lnTo>
                  <a:lnTo>
                    <a:pt x="113420" y="165775"/>
                  </a:lnTo>
                  <a:lnTo>
                    <a:pt x="113420" y="160425"/>
                  </a:lnTo>
                  <a:lnTo>
                    <a:pt x="125685" y="160425"/>
                  </a:lnTo>
                  <a:lnTo>
                    <a:pt x="125685" y="165775"/>
                  </a:lnTo>
                  <a:lnTo>
                    <a:pt x="131817" y="165775"/>
                  </a:lnTo>
                  <a:lnTo>
                    <a:pt x="131817" y="160425"/>
                  </a:lnTo>
                  <a:lnTo>
                    <a:pt x="144050" y="160425"/>
                  </a:lnTo>
                  <a:lnTo>
                    <a:pt x="144050" y="165775"/>
                  </a:lnTo>
                  <a:lnTo>
                    <a:pt x="150182" y="165775"/>
                  </a:lnTo>
                  <a:lnTo>
                    <a:pt x="150182" y="160425"/>
                  </a:lnTo>
                  <a:lnTo>
                    <a:pt x="160229" y="160425"/>
                  </a:lnTo>
                  <a:lnTo>
                    <a:pt x="160229" y="150215"/>
                  </a:lnTo>
                  <a:lnTo>
                    <a:pt x="165775" y="150215"/>
                  </a:lnTo>
                  <a:lnTo>
                    <a:pt x="165775" y="144050"/>
                  </a:lnTo>
                  <a:lnTo>
                    <a:pt x="160229" y="144050"/>
                  </a:lnTo>
                  <a:lnTo>
                    <a:pt x="160229" y="131817"/>
                  </a:lnTo>
                  <a:lnTo>
                    <a:pt x="165775" y="131817"/>
                  </a:lnTo>
                  <a:lnTo>
                    <a:pt x="165775" y="125685"/>
                  </a:lnTo>
                  <a:lnTo>
                    <a:pt x="160229" y="125685"/>
                  </a:lnTo>
                  <a:lnTo>
                    <a:pt x="160229" y="113420"/>
                  </a:lnTo>
                  <a:lnTo>
                    <a:pt x="165775" y="113420"/>
                  </a:lnTo>
                  <a:lnTo>
                    <a:pt x="165775" y="107287"/>
                  </a:lnTo>
                  <a:lnTo>
                    <a:pt x="160229" y="107287"/>
                  </a:lnTo>
                  <a:lnTo>
                    <a:pt x="160229" y="95022"/>
                  </a:lnTo>
                  <a:lnTo>
                    <a:pt x="165775" y="95022"/>
                  </a:lnTo>
                  <a:lnTo>
                    <a:pt x="165775" y="88890"/>
                  </a:lnTo>
                  <a:lnTo>
                    <a:pt x="160229" y="88890"/>
                  </a:lnTo>
                  <a:lnTo>
                    <a:pt x="160229" y="76657"/>
                  </a:lnTo>
                  <a:lnTo>
                    <a:pt x="165775" y="76657"/>
                  </a:lnTo>
                  <a:lnTo>
                    <a:pt x="165775" y="70525"/>
                  </a:lnTo>
                  <a:lnTo>
                    <a:pt x="160229" y="70525"/>
                  </a:lnTo>
                  <a:lnTo>
                    <a:pt x="160229" y="58260"/>
                  </a:lnTo>
                  <a:lnTo>
                    <a:pt x="165775" y="58260"/>
                  </a:lnTo>
                  <a:lnTo>
                    <a:pt x="165775" y="52127"/>
                  </a:lnTo>
                  <a:lnTo>
                    <a:pt x="160229" y="52127"/>
                  </a:lnTo>
                  <a:lnTo>
                    <a:pt x="160229" y="39862"/>
                  </a:lnTo>
                  <a:lnTo>
                    <a:pt x="165775" y="39862"/>
                  </a:lnTo>
                  <a:lnTo>
                    <a:pt x="165775" y="33729"/>
                  </a:lnTo>
                  <a:lnTo>
                    <a:pt x="160229" y="33729"/>
                  </a:lnTo>
                  <a:lnTo>
                    <a:pt x="160229" y="21497"/>
                  </a:lnTo>
                  <a:lnTo>
                    <a:pt x="165775" y="21497"/>
                  </a:lnTo>
                  <a:lnTo>
                    <a:pt x="165775" y="15332"/>
                  </a:lnTo>
                  <a:lnTo>
                    <a:pt x="160229" y="15332"/>
                  </a:lnTo>
                  <a:lnTo>
                    <a:pt x="160229" y="6166"/>
                  </a:lnTo>
                  <a:lnTo>
                    <a:pt x="149660" y="6166"/>
                  </a:lnTo>
                  <a:lnTo>
                    <a:pt x="149660" y="0"/>
                  </a:lnTo>
                  <a:lnTo>
                    <a:pt x="143528" y="0"/>
                  </a:lnTo>
                  <a:lnTo>
                    <a:pt x="143528" y="6166"/>
                  </a:lnTo>
                  <a:lnTo>
                    <a:pt x="131263" y="6166"/>
                  </a:lnTo>
                  <a:lnTo>
                    <a:pt x="131263" y="0"/>
                  </a:lnTo>
                  <a:lnTo>
                    <a:pt x="125130" y="0"/>
                  </a:lnTo>
                  <a:lnTo>
                    <a:pt x="125130" y="6166"/>
                  </a:lnTo>
                  <a:lnTo>
                    <a:pt x="112898" y="6166"/>
                  </a:lnTo>
                  <a:lnTo>
                    <a:pt x="112898" y="0"/>
                  </a:lnTo>
                  <a:lnTo>
                    <a:pt x="106733" y="0"/>
                  </a:lnTo>
                  <a:lnTo>
                    <a:pt x="106733" y="6166"/>
                  </a:lnTo>
                  <a:lnTo>
                    <a:pt x="94500" y="6166"/>
                  </a:lnTo>
                  <a:lnTo>
                    <a:pt x="94500" y="0"/>
                  </a:lnTo>
                  <a:lnTo>
                    <a:pt x="88368" y="0"/>
                  </a:lnTo>
                  <a:lnTo>
                    <a:pt x="88368" y="6166"/>
                  </a:lnTo>
                  <a:lnTo>
                    <a:pt x="76103" y="6166"/>
                  </a:lnTo>
                  <a:lnTo>
                    <a:pt x="76103" y="0"/>
                  </a:lnTo>
                  <a:lnTo>
                    <a:pt x="69970" y="0"/>
                  </a:lnTo>
                  <a:lnTo>
                    <a:pt x="69970" y="6166"/>
                  </a:lnTo>
                  <a:lnTo>
                    <a:pt x="57738" y="6166"/>
                  </a:lnTo>
                  <a:lnTo>
                    <a:pt x="57738" y="0"/>
                  </a:lnTo>
                  <a:lnTo>
                    <a:pt x="51572" y="0"/>
                  </a:lnTo>
                  <a:lnTo>
                    <a:pt x="51572" y="6166"/>
                  </a:lnTo>
                  <a:lnTo>
                    <a:pt x="39340" y="6166"/>
                  </a:lnTo>
                  <a:lnTo>
                    <a:pt x="39340" y="0"/>
                  </a:lnTo>
                  <a:lnTo>
                    <a:pt x="33208" y="0"/>
                  </a:lnTo>
                  <a:lnTo>
                    <a:pt x="33208" y="6166"/>
                  </a:lnTo>
                  <a:lnTo>
                    <a:pt x="20942" y="6166"/>
                  </a:lnTo>
                  <a:lnTo>
                    <a:pt x="20942"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 name="Google Shape;319;p31"/>
            <p:cNvSpPr/>
            <p:nvPr/>
          </p:nvSpPr>
          <p:spPr>
            <a:xfrm>
              <a:off x="3416100" y="2463600"/>
              <a:ext cx="460775" cy="768225"/>
            </a:xfrm>
            <a:custGeom>
              <a:avLst/>
              <a:gdLst/>
              <a:ahLst/>
              <a:cxnLst/>
              <a:rect l="l" t="t" r="r" b="b"/>
              <a:pathLst>
                <a:path w="18431" h="30729" extrusionOk="0">
                  <a:moveTo>
                    <a:pt x="12298" y="6166"/>
                  </a:moveTo>
                  <a:lnTo>
                    <a:pt x="12298" y="15789"/>
                  </a:lnTo>
                  <a:lnTo>
                    <a:pt x="6166" y="15789"/>
                  </a:lnTo>
                  <a:lnTo>
                    <a:pt x="6166" y="6166"/>
                  </a:lnTo>
                  <a:close/>
                  <a:moveTo>
                    <a:pt x="1" y="1"/>
                  </a:moveTo>
                  <a:lnTo>
                    <a:pt x="1" y="30729"/>
                  </a:lnTo>
                  <a:lnTo>
                    <a:pt x="6166" y="30729"/>
                  </a:lnTo>
                  <a:lnTo>
                    <a:pt x="6166" y="21921"/>
                  </a:lnTo>
                  <a:lnTo>
                    <a:pt x="12298" y="21921"/>
                  </a:lnTo>
                  <a:lnTo>
                    <a:pt x="12298" y="30729"/>
                  </a:lnTo>
                  <a:lnTo>
                    <a:pt x="18431" y="30729"/>
                  </a:lnTo>
                  <a:lnTo>
                    <a:pt x="18431"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 name="Google Shape;320;p31"/>
            <p:cNvSpPr/>
            <p:nvPr/>
          </p:nvSpPr>
          <p:spPr>
            <a:xfrm>
              <a:off x="4030175" y="2463600"/>
              <a:ext cx="159050" cy="777200"/>
            </a:xfrm>
            <a:custGeom>
              <a:avLst/>
              <a:gdLst/>
              <a:ahLst/>
              <a:cxnLst/>
              <a:rect l="l" t="t" r="r" b="b"/>
              <a:pathLst>
                <a:path w="6362" h="31088" extrusionOk="0">
                  <a:moveTo>
                    <a:pt x="6166" y="1"/>
                  </a:moveTo>
                  <a:lnTo>
                    <a:pt x="0" y="33"/>
                  </a:lnTo>
                  <a:lnTo>
                    <a:pt x="229" y="31087"/>
                  </a:lnTo>
                  <a:lnTo>
                    <a:pt x="6361" y="31055"/>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 name="Google Shape;321;p31"/>
            <p:cNvSpPr/>
            <p:nvPr/>
          </p:nvSpPr>
          <p:spPr>
            <a:xfrm>
              <a:off x="209825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 name="Google Shape;322;p31"/>
            <p:cNvSpPr/>
            <p:nvPr/>
          </p:nvSpPr>
          <p:spPr>
            <a:xfrm>
              <a:off x="2558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 name="Google Shape;323;p31"/>
            <p:cNvSpPr/>
            <p:nvPr/>
          </p:nvSpPr>
          <p:spPr>
            <a:xfrm>
              <a:off x="3017325" y="238125"/>
              <a:ext cx="154150" cy="384100"/>
            </a:xfrm>
            <a:custGeom>
              <a:avLst/>
              <a:gdLst/>
              <a:ahLst/>
              <a:cxnLst/>
              <a:rect l="l" t="t" r="r" b="b"/>
              <a:pathLst>
                <a:path w="6166" h="15364" extrusionOk="0">
                  <a:moveTo>
                    <a:pt x="0" y="0"/>
                  </a:moveTo>
                  <a:lnTo>
                    <a:pt x="0"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 name="Google Shape;324;p31"/>
            <p:cNvSpPr/>
            <p:nvPr/>
          </p:nvSpPr>
          <p:spPr>
            <a:xfrm>
              <a:off x="3477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 name="Google Shape;325;p31"/>
            <p:cNvSpPr/>
            <p:nvPr/>
          </p:nvSpPr>
          <p:spPr>
            <a:xfrm>
              <a:off x="3937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 name="Google Shape;326;p31"/>
            <p:cNvSpPr/>
            <p:nvPr/>
          </p:nvSpPr>
          <p:spPr>
            <a:xfrm>
              <a:off x="4396325" y="238125"/>
              <a:ext cx="154150" cy="384100"/>
            </a:xfrm>
            <a:custGeom>
              <a:avLst/>
              <a:gdLst/>
              <a:ahLst/>
              <a:cxnLst/>
              <a:rect l="l" t="t" r="r" b="b"/>
              <a:pathLst>
                <a:path w="6166" h="15364"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 name="Google Shape;327;p31"/>
            <p:cNvSpPr/>
            <p:nvPr/>
          </p:nvSpPr>
          <p:spPr>
            <a:xfrm>
              <a:off x="4856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 name="Google Shape;328;p31"/>
            <p:cNvSpPr/>
            <p:nvPr/>
          </p:nvSpPr>
          <p:spPr>
            <a:xfrm>
              <a:off x="5316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 name="Google Shape;329;p31"/>
            <p:cNvSpPr/>
            <p:nvPr/>
          </p:nvSpPr>
          <p:spPr>
            <a:xfrm>
              <a:off x="1190625" y="4472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 name="Google Shape;330;p31"/>
            <p:cNvSpPr/>
            <p:nvPr/>
          </p:nvSpPr>
          <p:spPr>
            <a:xfrm>
              <a:off x="1190625" y="4013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 name="Google Shape;331;p31"/>
            <p:cNvSpPr/>
            <p:nvPr/>
          </p:nvSpPr>
          <p:spPr>
            <a:xfrm>
              <a:off x="1190625" y="3553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 name="Google Shape;332;p31"/>
            <p:cNvSpPr/>
            <p:nvPr/>
          </p:nvSpPr>
          <p:spPr>
            <a:xfrm>
              <a:off x="1190625" y="3093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 name="Google Shape;333;p31"/>
            <p:cNvSpPr/>
            <p:nvPr/>
          </p:nvSpPr>
          <p:spPr>
            <a:xfrm>
              <a:off x="1190625" y="2634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 name="Google Shape;334;p31"/>
            <p:cNvSpPr/>
            <p:nvPr/>
          </p:nvSpPr>
          <p:spPr>
            <a:xfrm>
              <a:off x="1190625" y="2174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 name="Google Shape;335;p31"/>
            <p:cNvSpPr/>
            <p:nvPr/>
          </p:nvSpPr>
          <p:spPr>
            <a:xfrm>
              <a:off x="1190625" y="1714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 name="Google Shape;336;p31"/>
            <p:cNvSpPr/>
            <p:nvPr/>
          </p:nvSpPr>
          <p:spPr>
            <a:xfrm>
              <a:off x="1190625" y="1255025"/>
              <a:ext cx="384100" cy="153350"/>
            </a:xfrm>
            <a:custGeom>
              <a:avLst/>
              <a:gdLst/>
              <a:ahLst/>
              <a:cxnLst/>
              <a:rect l="l" t="t" r="r" b="b"/>
              <a:pathLst>
                <a:path w="15364" h="6134" extrusionOk="0">
                  <a:moveTo>
                    <a:pt x="0" y="1"/>
                  </a:moveTo>
                  <a:lnTo>
                    <a:pt x="0" y="6134"/>
                  </a:lnTo>
                  <a:lnTo>
                    <a:pt x="15364" y="6134"/>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 name="Google Shape;337;p31"/>
            <p:cNvSpPr/>
            <p:nvPr/>
          </p:nvSpPr>
          <p:spPr>
            <a:xfrm>
              <a:off x="532925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 name="Google Shape;338;p31"/>
            <p:cNvSpPr/>
            <p:nvPr/>
          </p:nvSpPr>
          <p:spPr>
            <a:xfrm>
              <a:off x="4870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 name="Google Shape;339;p31"/>
            <p:cNvSpPr/>
            <p:nvPr/>
          </p:nvSpPr>
          <p:spPr>
            <a:xfrm>
              <a:off x="4410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 name="Google Shape;340;p31"/>
            <p:cNvSpPr/>
            <p:nvPr/>
          </p:nvSpPr>
          <p:spPr>
            <a:xfrm>
              <a:off x="3950250"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 name="Google Shape;341;p31"/>
            <p:cNvSpPr/>
            <p:nvPr/>
          </p:nvSpPr>
          <p:spPr>
            <a:xfrm>
              <a:off x="3491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 name="Google Shape;342;p31"/>
            <p:cNvSpPr/>
            <p:nvPr/>
          </p:nvSpPr>
          <p:spPr>
            <a:xfrm>
              <a:off x="3031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 name="Google Shape;343;p31"/>
            <p:cNvSpPr/>
            <p:nvPr/>
          </p:nvSpPr>
          <p:spPr>
            <a:xfrm>
              <a:off x="257125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 name="Google Shape;344;p31"/>
            <p:cNvSpPr/>
            <p:nvPr/>
          </p:nvSpPr>
          <p:spPr>
            <a:xfrm>
              <a:off x="211130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 name="Google Shape;345;p31"/>
            <p:cNvSpPr/>
            <p:nvPr/>
          </p:nvSpPr>
          <p:spPr>
            <a:xfrm>
              <a:off x="6025700" y="115880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 name="Google Shape;346;p31"/>
            <p:cNvSpPr/>
            <p:nvPr/>
          </p:nvSpPr>
          <p:spPr>
            <a:xfrm>
              <a:off x="6025700" y="161875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 name="Google Shape;347;p31"/>
            <p:cNvSpPr/>
            <p:nvPr/>
          </p:nvSpPr>
          <p:spPr>
            <a:xfrm>
              <a:off x="6025700" y="2078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 name="Google Shape;348;p31"/>
            <p:cNvSpPr/>
            <p:nvPr/>
          </p:nvSpPr>
          <p:spPr>
            <a:xfrm>
              <a:off x="6025700" y="2538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 name="Google Shape;349;p31"/>
            <p:cNvSpPr/>
            <p:nvPr/>
          </p:nvSpPr>
          <p:spPr>
            <a:xfrm>
              <a:off x="6025700" y="2997750"/>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 name="Google Shape;350;p31"/>
            <p:cNvSpPr/>
            <p:nvPr/>
          </p:nvSpPr>
          <p:spPr>
            <a:xfrm>
              <a:off x="6025700" y="3457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 name="Google Shape;351;p31"/>
            <p:cNvSpPr/>
            <p:nvPr/>
          </p:nvSpPr>
          <p:spPr>
            <a:xfrm>
              <a:off x="6025700" y="3917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 name="Google Shape;352;p31"/>
            <p:cNvSpPr/>
            <p:nvPr/>
          </p:nvSpPr>
          <p:spPr>
            <a:xfrm>
              <a:off x="6025700" y="437675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50"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1960178" y="452645"/>
            <a:ext cx="489758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METODOLOGÍA CRISP DM</a:t>
            </a:r>
            <a:endParaRPr dirty="0"/>
          </a:p>
        </p:txBody>
      </p: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p:nvPr/>
        </p:nvCxnSpPr>
        <p:spPr>
          <a:xfrm>
            <a:off x="1972511" y="435546"/>
            <a:ext cx="0" cy="630600"/>
          </a:xfrm>
          <a:prstGeom prst="straightConnector1">
            <a:avLst/>
          </a:prstGeom>
          <a:noFill/>
          <a:ln w="19050" cap="flat" cmpd="sng">
            <a:solidFill>
              <a:srgbClr val="F3F3F3"/>
            </a:solidFill>
            <a:prstDash val="solid"/>
            <a:round/>
            <a:headEnd type="oval" w="med" len="med"/>
            <a:tailEnd type="oval" w="med" len="med"/>
          </a:ln>
        </p:spPr>
      </p:cxnSp>
      <p:pic>
        <p:nvPicPr>
          <p:cNvPr id="36866" name="Picture 2" descr="Carrera de Desarrollo de Software en ISIL - Cuotas desde S/ 540"/>
          <p:cNvPicPr>
            <a:picLocks noChangeAspect="1" noChangeArrowheads="1"/>
          </p:cNvPicPr>
          <p:nvPr/>
        </p:nvPicPr>
        <p:blipFill>
          <a:blip r:embed="rId4"/>
          <a:srcRect/>
          <a:stretch>
            <a:fillRect/>
          </a:stretch>
        </p:blipFill>
        <p:spPr bwMode="auto">
          <a:xfrm>
            <a:off x="174871" y="280386"/>
            <a:ext cx="1608094" cy="904553"/>
          </a:xfrm>
          <a:prstGeom prst="rect">
            <a:avLst/>
          </a:prstGeom>
          <a:noFill/>
        </p:spPr>
      </p:pic>
      <p:sp>
        <p:nvSpPr>
          <p:cNvPr id="7" name="Google Shape;136;p27"/>
          <p:cNvSpPr txBox="1">
            <a:spLocks/>
          </p:cNvSpPr>
          <p:nvPr/>
        </p:nvSpPr>
        <p:spPr>
          <a:xfrm>
            <a:off x="283779" y="4993122"/>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028" name="Picture 4">
            <a:extLst>
              <a:ext uri="{FF2B5EF4-FFF2-40B4-BE49-F238E27FC236}">
                <a16:creationId xmlns:a16="http://schemas.microsoft.com/office/drawing/2014/main" id="{C6907A6B-5948-3048-4E59-27D9DD901F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316639"/>
            <a:ext cx="9144000" cy="3546475"/>
          </a:xfrm>
          <a:prstGeom prst="rect">
            <a:avLst/>
          </a:prstGeom>
          <a:solidFill>
            <a:schemeClr val="bg1">
              <a:lumMod val="40000"/>
              <a:lumOff val="60000"/>
            </a:schemeClr>
          </a:solidFill>
        </p:spPr>
      </p:pic>
    </p:spTree>
    <p:extLst>
      <p:ext uri="{BB962C8B-B14F-4D97-AF65-F5344CB8AC3E}">
        <p14:creationId xmlns:p14="http://schemas.microsoft.com/office/powerpoint/2010/main" val="3137734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4E4FE95-487B-F6E7-B961-92100D7D004E}"/>
            </a:ext>
          </a:extLst>
        </p:cNvPr>
        <p:cNvGrpSpPr/>
        <p:nvPr/>
      </p:nvGrpSpPr>
      <p:grpSpPr>
        <a:xfrm>
          <a:off x="0" y="0"/>
          <a:ext cx="0" cy="0"/>
          <a:chOff x="0" y="0"/>
          <a:chExt cx="0" cy="0"/>
        </a:xfrm>
      </p:grpSpPr>
      <p:sp>
        <p:nvSpPr>
          <p:cNvPr id="174" name="Google Shape;174;p30">
            <a:extLst>
              <a:ext uri="{FF2B5EF4-FFF2-40B4-BE49-F238E27FC236}">
                <a16:creationId xmlns:a16="http://schemas.microsoft.com/office/drawing/2014/main" id="{BEBD0CCD-83FB-0403-AE73-E14D9EFCDA18}"/>
              </a:ext>
            </a:extLst>
          </p:cNvPr>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ANTERIOR</a:t>
            </a:r>
            <a:endParaRPr sz="4000" dirty="0"/>
          </a:p>
        </p:txBody>
      </p:sp>
      <p:sp>
        <p:nvSpPr>
          <p:cNvPr id="175" name="Google Shape;175;p30">
            <a:extLst>
              <a:ext uri="{FF2B5EF4-FFF2-40B4-BE49-F238E27FC236}">
                <a16:creationId xmlns:a16="http://schemas.microsoft.com/office/drawing/2014/main" id="{691EA877-6D84-9175-24EA-AB3488F9EEAA}"/>
              </a:ext>
            </a:extLst>
          </p:cNvPr>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lvl="0" indent="0">
              <a:buSzPts val="1300"/>
            </a:pPr>
            <a:r>
              <a:rPr lang="es-ES" dirty="0"/>
              <a:t> -Valores Nulos</a:t>
            </a:r>
            <a:endParaRPr dirty="0"/>
          </a:p>
        </p:txBody>
      </p:sp>
      <p:sp>
        <p:nvSpPr>
          <p:cNvPr id="176" name="Google Shape;176;p30">
            <a:extLst>
              <a:ext uri="{FF2B5EF4-FFF2-40B4-BE49-F238E27FC236}">
                <a16:creationId xmlns:a16="http://schemas.microsoft.com/office/drawing/2014/main" id="{CF426345-2AAF-DDF8-D1A9-02158E008E83}"/>
              </a:ext>
            </a:extLst>
          </p:cNvPr>
          <p:cNvSpPr txBox="1">
            <a:spLocks noGrp="1"/>
          </p:cNvSpPr>
          <p:nvPr>
            <p:ph type="title" idx="2"/>
          </p:nvPr>
        </p:nvSpPr>
        <p:spPr>
          <a:xfrm>
            <a:off x="4849169" y="1001125"/>
            <a:ext cx="2129700"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03</a:t>
            </a:r>
            <a:endParaRPr dirty="0"/>
          </a:p>
        </p:txBody>
      </p:sp>
      <p:cxnSp>
        <p:nvCxnSpPr>
          <p:cNvPr id="177" name="Google Shape;177;p30">
            <a:extLst>
              <a:ext uri="{FF2B5EF4-FFF2-40B4-BE49-F238E27FC236}">
                <a16:creationId xmlns:a16="http://schemas.microsoft.com/office/drawing/2014/main" id="{DAAF4F2D-D293-F51C-B7F6-00327F1A9780}"/>
              </a:ext>
            </a:extLst>
          </p:cNvPr>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a:extLst>
              <a:ext uri="{FF2B5EF4-FFF2-40B4-BE49-F238E27FC236}">
                <a16:creationId xmlns:a16="http://schemas.microsoft.com/office/drawing/2014/main" id="{C2445FDD-E26D-F64E-DE79-EFBEB18CE478}"/>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a:extLst>
              <a:ext uri="{FF2B5EF4-FFF2-40B4-BE49-F238E27FC236}">
                <a16:creationId xmlns:a16="http://schemas.microsoft.com/office/drawing/2014/main" id="{06A82DC2-F5D6-F7BF-15AC-C1FDA8585AB6}"/>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921780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Datos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Nulos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5506494" y="1537397"/>
            <a:ext cx="3486779" cy="3104942"/>
          </a:xfrm>
          <a:prstGeom prst="rect">
            <a:avLst/>
          </a:prstGeom>
          <a:noFill/>
          <a:ln>
            <a:noFill/>
          </a:ln>
        </p:spPr>
        <p:txBody>
          <a:bodyPr spcFirstLastPara="1" wrap="square" lIns="91425" tIns="182875" rIns="91425" bIns="0" anchor="t" anchorCtr="0">
            <a:noAutofit/>
          </a:bodyPr>
          <a:lstStyle/>
          <a:p>
            <a:pPr algn="just"/>
            <a:r>
              <a:rPr lang="es-ES" b="1" dirty="0">
                <a:solidFill>
                  <a:schemeClr val="bg1">
                    <a:lumMod val="60000"/>
                    <a:lumOff val="40000"/>
                  </a:schemeClr>
                </a:solidFill>
                <a:latin typeface="Fira Sans Condensed Light" panose="020B0604020202020204" charset="0"/>
                <a:cs typeface="Times New Roman" panose="02020603050405020304" pitchFamily="18" charset="0"/>
              </a:rPr>
              <a:t>En la gran mayoría de datos con la que trabajemos es muy probable que nos encontremos con valores perdidos, esto es algo muy normal. El valor faltante puede aparecer de distintas formas por ejemplo como un signo de interrogación, o N/A, como un 0 o simplemente como una celda en blanco, pero en su mayoría nos lo encontramos representado como </a:t>
            </a:r>
            <a:r>
              <a:rPr lang="es-ES" b="1" dirty="0" err="1">
                <a:solidFill>
                  <a:schemeClr val="bg1">
                    <a:lumMod val="60000"/>
                    <a:lumOff val="40000"/>
                  </a:schemeClr>
                </a:solidFill>
                <a:latin typeface="Fira Sans Condensed Light" panose="020B0604020202020204" charset="0"/>
                <a:cs typeface="Times New Roman" panose="02020603050405020304" pitchFamily="18" charset="0"/>
              </a:rPr>
              <a:t>NaN</a:t>
            </a:r>
            <a:r>
              <a:rPr lang="es-ES" b="1" dirty="0">
                <a:solidFill>
                  <a:schemeClr val="bg1">
                    <a:lumMod val="60000"/>
                    <a:lumOff val="40000"/>
                  </a:schemeClr>
                </a:solidFill>
                <a:latin typeface="Fira Sans Condensed Light" panose="020B0604020202020204" charset="0"/>
                <a:cs typeface="Times New Roman" panose="02020603050405020304" pitchFamily="18" charset="0"/>
              </a:rPr>
              <a:t> que se refiere a “no un número”</a:t>
            </a:r>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6" name="Picture 2"/>
          <p:cNvPicPr>
            <a:picLocks noChangeAspect="1" noChangeArrowheads="1"/>
          </p:cNvPicPr>
          <p:nvPr/>
        </p:nvPicPr>
        <p:blipFill>
          <a:blip r:embed="rId4"/>
          <a:srcRect/>
          <a:stretch>
            <a:fillRect/>
          </a:stretch>
        </p:blipFill>
        <p:spPr bwMode="auto">
          <a:xfrm>
            <a:off x="382675" y="1557058"/>
            <a:ext cx="4842468" cy="3107742"/>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Datos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Nulos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050" name="Picture 2"/>
          <p:cNvPicPr>
            <a:picLocks noChangeAspect="1" noChangeArrowheads="1"/>
          </p:cNvPicPr>
          <p:nvPr/>
        </p:nvPicPr>
        <p:blipFill>
          <a:blip r:embed="rId4"/>
          <a:srcRect l="2208"/>
          <a:stretch>
            <a:fillRect/>
          </a:stretch>
        </p:blipFill>
        <p:spPr bwMode="auto">
          <a:xfrm>
            <a:off x="4079631" y="1431472"/>
            <a:ext cx="4826141" cy="3125049"/>
          </a:xfrm>
          <a:prstGeom prst="rect">
            <a:avLst/>
          </a:prstGeom>
          <a:noFill/>
          <a:ln w="9525">
            <a:noFill/>
            <a:miter lim="800000"/>
            <a:headEnd/>
            <a:tailEnd/>
          </a:ln>
          <a:effectLst/>
        </p:spPr>
      </p:pic>
      <p:sp>
        <p:nvSpPr>
          <p:cNvPr id="10" name="Google Shape;1603;p42"/>
          <p:cNvSpPr txBox="1"/>
          <p:nvPr/>
        </p:nvSpPr>
        <p:spPr>
          <a:xfrm>
            <a:off x="321547" y="1517300"/>
            <a:ext cx="3486779" cy="2713056"/>
          </a:xfrm>
          <a:prstGeom prst="rect">
            <a:avLst/>
          </a:prstGeom>
          <a:noFill/>
          <a:ln>
            <a:noFill/>
          </a:ln>
        </p:spPr>
        <p:txBody>
          <a:bodyPr spcFirstLastPara="1" wrap="square" lIns="91425" tIns="182875" rIns="91425" bIns="0" anchor="t" anchorCtr="0">
            <a:noAutofit/>
          </a:bodyPr>
          <a:lstStyle/>
          <a:p>
            <a:pPr algn="just"/>
            <a:r>
              <a:rPr lang="es-ES" b="1" dirty="0">
                <a:solidFill>
                  <a:schemeClr val="bg1">
                    <a:lumMod val="60000"/>
                    <a:lumOff val="40000"/>
                  </a:schemeClr>
                </a:solidFill>
                <a:latin typeface="Fira Sans Condensed Light" panose="020B0604020202020204" charset="0"/>
                <a:cs typeface="Times New Roman" panose="02020603050405020304" pitchFamily="18" charset="0"/>
              </a:rPr>
              <a:t>Existen muchas maneras para corregir esto y todo dependerá de la persona que este analizando y obviamente del problema en sí para seleccionar cual es la mejor opción para aplicar. Las opciones típicas que debes considerar son las siguientes:</a:t>
            </a:r>
            <a:endParaRPr lang="es-ES" sz="1600" b="1" dirty="0">
              <a:solidFill>
                <a:schemeClr val="tx2"/>
              </a:solidFill>
              <a:latin typeface="Fira Sans Condensed Light" panose="020B0604020202020204"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18C8B75A-0168-D7E8-8A49-FA000BCEE29D}"/>
            </a:ext>
          </a:extLst>
        </p:cNvPr>
        <p:cNvGrpSpPr/>
        <p:nvPr/>
      </p:nvGrpSpPr>
      <p:grpSpPr>
        <a:xfrm>
          <a:off x="0" y="0"/>
          <a:ext cx="0" cy="0"/>
          <a:chOff x="0" y="0"/>
          <a:chExt cx="0" cy="0"/>
        </a:xfrm>
      </p:grpSpPr>
      <p:sp>
        <p:nvSpPr>
          <p:cNvPr id="174" name="Google Shape;174;p30">
            <a:extLst>
              <a:ext uri="{FF2B5EF4-FFF2-40B4-BE49-F238E27FC236}">
                <a16:creationId xmlns:a16="http://schemas.microsoft.com/office/drawing/2014/main" id="{E7F42EF4-F2F5-CC3C-ADA3-7A19C16F47CC}"/>
              </a:ext>
            </a:extLst>
          </p:cNvPr>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ACTUAL</a:t>
            </a:r>
            <a:endParaRPr sz="4000" dirty="0"/>
          </a:p>
        </p:txBody>
      </p:sp>
      <p:sp>
        <p:nvSpPr>
          <p:cNvPr id="175" name="Google Shape;175;p30">
            <a:extLst>
              <a:ext uri="{FF2B5EF4-FFF2-40B4-BE49-F238E27FC236}">
                <a16:creationId xmlns:a16="http://schemas.microsoft.com/office/drawing/2014/main" id="{A17E38DA-550D-7221-6A6A-C3234E8D3CF6}"/>
              </a:ext>
            </a:extLst>
          </p:cNvPr>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lvl="0" indent="0">
              <a:buSzPts val="1300"/>
            </a:pPr>
            <a:r>
              <a:rPr lang="es-ES" dirty="0"/>
              <a:t> -Valores atípicos</a:t>
            </a:r>
            <a:endParaRPr dirty="0"/>
          </a:p>
        </p:txBody>
      </p:sp>
      <p:sp>
        <p:nvSpPr>
          <p:cNvPr id="176" name="Google Shape;176;p30">
            <a:extLst>
              <a:ext uri="{FF2B5EF4-FFF2-40B4-BE49-F238E27FC236}">
                <a16:creationId xmlns:a16="http://schemas.microsoft.com/office/drawing/2014/main" id="{06B06A62-F820-A25F-9CE4-4AD7485FEB1C}"/>
              </a:ext>
            </a:extLst>
          </p:cNvPr>
          <p:cNvSpPr txBox="1">
            <a:spLocks noGrp="1"/>
          </p:cNvSpPr>
          <p:nvPr>
            <p:ph type="title" idx="2"/>
          </p:nvPr>
        </p:nvSpPr>
        <p:spPr>
          <a:xfrm>
            <a:off x="4849169" y="1001125"/>
            <a:ext cx="2129700"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04</a:t>
            </a:r>
            <a:endParaRPr dirty="0"/>
          </a:p>
        </p:txBody>
      </p:sp>
      <p:cxnSp>
        <p:nvCxnSpPr>
          <p:cNvPr id="177" name="Google Shape;177;p30">
            <a:extLst>
              <a:ext uri="{FF2B5EF4-FFF2-40B4-BE49-F238E27FC236}">
                <a16:creationId xmlns:a16="http://schemas.microsoft.com/office/drawing/2014/main" id="{33730BDE-A343-12E0-E2F0-02E8F54F021E}"/>
              </a:ext>
            </a:extLst>
          </p:cNvPr>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a:extLst>
              <a:ext uri="{FF2B5EF4-FFF2-40B4-BE49-F238E27FC236}">
                <a16:creationId xmlns:a16="http://schemas.microsoft.com/office/drawing/2014/main" id="{5C909296-30CD-E37B-10AA-AACF664965D2}"/>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a:extLst>
              <a:ext uri="{FF2B5EF4-FFF2-40B4-BE49-F238E27FC236}">
                <a16:creationId xmlns:a16="http://schemas.microsoft.com/office/drawing/2014/main" id="{712C3D66-0D95-9F1F-DFF0-F5A9A1D0E945}"/>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2028857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lang="en-US" sz="3000" b="1" dirty="0">
                <a:solidFill>
                  <a:srgbClr val="F3F3F3"/>
                </a:solidFill>
                <a:latin typeface="Rajdhani"/>
                <a:ea typeface="Rajdhani"/>
                <a:cs typeface="Rajdhani"/>
                <a:sym typeface="Rajdhani"/>
              </a:rPr>
              <a:t>OUTLIERS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
        <p:nvSpPr>
          <p:cNvPr id="10" name="Google Shape;1603;p42"/>
          <p:cNvSpPr txBox="1"/>
          <p:nvPr/>
        </p:nvSpPr>
        <p:spPr>
          <a:xfrm>
            <a:off x="321547" y="1517300"/>
            <a:ext cx="3486779" cy="2713056"/>
          </a:xfrm>
          <a:prstGeom prst="rect">
            <a:avLst/>
          </a:prstGeom>
          <a:noFill/>
          <a:ln>
            <a:noFill/>
          </a:ln>
        </p:spPr>
        <p:txBody>
          <a:bodyPr spcFirstLastPara="1" wrap="square" lIns="91425" tIns="182875" rIns="91425" bIns="0" anchor="t" anchorCtr="0">
            <a:noAutofit/>
          </a:bodyPr>
          <a:lstStyle/>
          <a:p>
            <a:pPr algn="just"/>
            <a:r>
              <a:rPr lang="es-ES" dirty="0">
                <a:solidFill>
                  <a:schemeClr val="bg1">
                    <a:lumMod val="60000"/>
                    <a:lumOff val="40000"/>
                  </a:schemeClr>
                </a:solidFill>
                <a:latin typeface="Fira Sans Condensed Light" panose="020B0604020202020204" charset="0"/>
                <a:cs typeface="Times New Roman" panose="02020603050405020304" pitchFamily="18" charset="0"/>
              </a:rPr>
              <a:t>Un </a:t>
            </a:r>
            <a:r>
              <a:rPr lang="es-ES" b="1" dirty="0" err="1">
                <a:solidFill>
                  <a:schemeClr val="tx2"/>
                </a:solidFill>
                <a:latin typeface="Fira Sans Condensed Light" panose="020B0604020202020204" charset="0"/>
                <a:cs typeface="Times New Roman" panose="02020603050405020304" pitchFamily="18" charset="0"/>
              </a:rPr>
              <a:t>outlier</a:t>
            </a:r>
            <a:r>
              <a:rPr lang="es-ES"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dirty="0">
                <a:solidFill>
                  <a:schemeClr val="bg1">
                    <a:lumMod val="60000"/>
                    <a:lumOff val="40000"/>
                  </a:schemeClr>
                </a:solidFill>
                <a:latin typeface="Fira Sans Condensed Light" panose="020B0604020202020204" charset="0"/>
                <a:cs typeface="Times New Roman" panose="02020603050405020304" pitchFamily="18" charset="0"/>
              </a:rPr>
              <a:t>es una observación anormal y extrema en una muestra estadística o serie temporal de datos que puede afectar potencialmente a la estimación de los parámetros del mismo.</a:t>
            </a: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dirty="0">
                <a:solidFill>
                  <a:schemeClr val="bg1">
                    <a:lumMod val="60000"/>
                    <a:lumOff val="40000"/>
                  </a:schemeClr>
                </a:solidFill>
                <a:latin typeface="Fira Sans Condensed Light" panose="020B0604020202020204" charset="0"/>
                <a:cs typeface="Times New Roman" panose="02020603050405020304" pitchFamily="18" charset="0"/>
              </a:rPr>
              <a:t> Los valores atípicos pueden ser indicativos de datos que pertenecen a una población diferente del resto de las muestras establecidas.</a:t>
            </a:r>
          </a:p>
        </p:txBody>
      </p:sp>
      <p:pic>
        <p:nvPicPr>
          <p:cNvPr id="2" name="Picture 2" descr="Curso de ESTADESTECA MAL: 3. ¿Tus datos son muy feos? Qué hacer con los  outliers | Fernando Blanco, PhD"/>
          <p:cNvPicPr>
            <a:picLocks noChangeAspect="1" noChangeArrowheads="1"/>
          </p:cNvPicPr>
          <p:nvPr/>
        </p:nvPicPr>
        <p:blipFill>
          <a:blip r:embed="rId4"/>
          <a:srcRect/>
          <a:stretch>
            <a:fillRect/>
          </a:stretch>
        </p:blipFill>
        <p:spPr bwMode="auto">
          <a:xfrm>
            <a:off x="4004095" y="1073499"/>
            <a:ext cx="5001050" cy="3890387"/>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lang="en-US" sz="3000" b="1" dirty="0">
                <a:solidFill>
                  <a:srgbClr val="F3F3F3"/>
                </a:solidFill>
                <a:latin typeface="Rajdhani"/>
                <a:ea typeface="Rajdhani"/>
                <a:cs typeface="Rajdhani"/>
                <a:sym typeface="Rajdhani"/>
              </a:rPr>
              <a:t>OUTLIERS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
        <p:nvSpPr>
          <p:cNvPr id="10" name="Google Shape;1603;p42"/>
          <p:cNvSpPr txBox="1"/>
          <p:nvPr/>
        </p:nvSpPr>
        <p:spPr>
          <a:xfrm>
            <a:off x="321547" y="1517299"/>
            <a:ext cx="3486779" cy="3024555"/>
          </a:xfrm>
          <a:prstGeom prst="rect">
            <a:avLst/>
          </a:prstGeom>
          <a:noFill/>
          <a:ln>
            <a:noFill/>
          </a:ln>
        </p:spPr>
        <p:txBody>
          <a:bodyPr spcFirstLastPara="1" wrap="square" lIns="91425" tIns="182875" rIns="91425" bIns="0" anchor="t" anchorCtr="0">
            <a:noAutofit/>
          </a:bodyPr>
          <a:lstStyle/>
          <a:p>
            <a:pPr algn="just"/>
            <a:r>
              <a:rPr lang="es-ES" dirty="0">
                <a:solidFill>
                  <a:schemeClr val="bg1">
                    <a:lumMod val="60000"/>
                    <a:lumOff val="40000"/>
                  </a:schemeClr>
                </a:solidFill>
                <a:latin typeface="Fira Sans Condensed Light" panose="020B0604020202020204" charset="0"/>
                <a:cs typeface="Times New Roman" panose="02020603050405020304" pitchFamily="18" charset="0"/>
              </a:rPr>
              <a:t>Los valores atípicos son en ocasiones una cuestión subjetiva, y existen numerosos métodos para clasificarlos. </a:t>
            </a:r>
          </a:p>
          <a:p>
            <a:pPr algn="just"/>
            <a:endParaRPr lang="es-ES"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dirty="0">
                <a:solidFill>
                  <a:schemeClr val="bg1">
                    <a:lumMod val="60000"/>
                    <a:lumOff val="40000"/>
                  </a:schemeClr>
                </a:solidFill>
                <a:latin typeface="Fira Sans Condensed Light" panose="020B0604020202020204" charset="0"/>
                <a:cs typeface="Times New Roman" panose="02020603050405020304" pitchFamily="18" charset="0"/>
              </a:rPr>
              <a:t>El método más </a:t>
            </a:r>
            <a:r>
              <a:rPr lang="es-ES" dirty="0" err="1">
                <a:solidFill>
                  <a:schemeClr val="bg1">
                    <a:lumMod val="60000"/>
                    <a:lumOff val="40000"/>
                  </a:schemeClr>
                </a:solidFill>
                <a:latin typeface="Fira Sans Condensed Light" panose="020B0604020202020204" charset="0"/>
                <a:cs typeface="Times New Roman" panose="02020603050405020304" pitchFamily="18" charset="0"/>
              </a:rPr>
              <a:t>enpleado</a:t>
            </a:r>
            <a:r>
              <a:rPr lang="es-ES" dirty="0">
                <a:solidFill>
                  <a:schemeClr val="bg1">
                    <a:lumMod val="60000"/>
                    <a:lumOff val="40000"/>
                  </a:schemeClr>
                </a:solidFill>
                <a:latin typeface="Fira Sans Condensed Light" panose="020B0604020202020204" charset="0"/>
                <a:cs typeface="Times New Roman" panose="02020603050405020304" pitchFamily="18" charset="0"/>
              </a:rPr>
              <a:t> por su sencillez y resultados es el </a:t>
            </a:r>
            <a:r>
              <a:rPr lang="es-ES" b="1" dirty="0">
                <a:solidFill>
                  <a:schemeClr val="tx2"/>
                </a:solidFill>
                <a:latin typeface="Fira Sans Condensed Light" panose="020B0604020202020204" charset="0"/>
                <a:cs typeface="Times New Roman" panose="02020603050405020304" pitchFamily="18" charset="0"/>
              </a:rPr>
              <a:t>test de </a:t>
            </a:r>
            <a:r>
              <a:rPr lang="es-ES" b="1" dirty="0" err="1">
                <a:solidFill>
                  <a:schemeClr val="tx2"/>
                </a:solidFill>
                <a:latin typeface="Fira Sans Condensed Light" panose="020B0604020202020204" charset="0"/>
                <a:cs typeface="Times New Roman" panose="02020603050405020304" pitchFamily="18" charset="0"/>
              </a:rPr>
              <a:t>Tukey</a:t>
            </a:r>
            <a:r>
              <a:rPr lang="es-ES" dirty="0">
                <a:solidFill>
                  <a:schemeClr val="bg1">
                    <a:lumMod val="60000"/>
                    <a:lumOff val="40000"/>
                  </a:schemeClr>
                </a:solidFill>
                <a:latin typeface="Fira Sans Condensed Light" panose="020B0604020202020204" charset="0"/>
                <a:cs typeface="Times New Roman" panose="02020603050405020304" pitchFamily="18" charset="0"/>
              </a:rPr>
              <a:t>, que toma como referencia la diferencia entre el primer </a:t>
            </a:r>
            <a:r>
              <a:rPr lang="es-ES" dirty="0" err="1">
                <a:solidFill>
                  <a:schemeClr val="bg1">
                    <a:lumMod val="60000"/>
                    <a:lumOff val="40000"/>
                  </a:schemeClr>
                </a:solidFill>
                <a:latin typeface="Fira Sans Condensed Light" panose="020B0604020202020204" charset="0"/>
                <a:cs typeface="Times New Roman" panose="02020603050405020304" pitchFamily="18" charset="0"/>
              </a:rPr>
              <a:t>cuartil</a:t>
            </a:r>
            <a:r>
              <a:rPr lang="es-ES" dirty="0">
                <a:solidFill>
                  <a:schemeClr val="bg1">
                    <a:lumMod val="60000"/>
                    <a:lumOff val="40000"/>
                  </a:schemeClr>
                </a:solidFill>
                <a:latin typeface="Fira Sans Condensed Light" panose="020B0604020202020204" charset="0"/>
                <a:cs typeface="Times New Roman" panose="02020603050405020304" pitchFamily="18" charset="0"/>
              </a:rPr>
              <a:t> </a:t>
            </a:r>
            <a:r>
              <a:rPr lang="es-ES" b="1" dirty="0">
                <a:solidFill>
                  <a:schemeClr val="tx2"/>
                </a:solidFill>
                <a:latin typeface="Fira Sans Condensed Light" panose="020B0604020202020204" charset="0"/>
                <a:cs typeface="Times New Roman" panose="02020603050405020304" pitchFamily="18" charset="0"/>
              </a:rPr>
              <a:t>"Q1" </a:t>
            </a:r>
            <a:r>
              <a:rPr lang="es-ES" dirty="0">
                <a:solidFill>
                  <a:schemeClr val="bg1">
                    <a:lumMod val="60000"/>
                    <a:lumOff val="40000"/>
                  </a:schemeClr>
                </a:solidFill>
                <a:latin typeface="Fira Sans Condensed Light" panose="020B0604020202020204" charset="0"/>
                <a:cs typeface="Times New Roman" panose="02020603050405020304" pitchFamily="18" charset="0"/>
              </a:rPr>
              <a:t>y el tercer </a:t>
            </a:r>
            <a:r>
              <a:rPr lang="es-ES" dirty="0" err="1">
                <a:solidFill>
                  <a:schemeClr val="bg1">
                    <a:lumMod val="60000"/>
                    <a:lumOff val="40000"/>
                  </a:schemeClr>
                </a:solidFill>
                <a:latin typeface="Fira Sans Condensed Light" panose="020B0604020202020204" charset="0"/>
                <a:cs typeface="Times New Roman" panose="02020603050405020304" pitchFamily="18" charset="0"/>
              </a:rPr>
              <a:t>cuartil</a:t>
            </a:r>
            <a:r>
              <a:rPr lang="es-ES" dirty="0">
                <a:solidFill>
                  <a:schemeClr val="bg1">
                    <a:lumMod val="60000"/>
                    <a:lumOff val="40000"/>
                  </a:schemeClr>
                </a:solidFill>
                <a:latin typeface="Fira Sans Condensed Light" panose="020B0604020202020204" charset="0"/>
                <a:cs typeface="Times New Roman" panose="02020603050405020304" pitchFamily="18" charset="0"/>
              </a:rPr>
              <a:t> </a:t>
            </a:r>
            <a:r>
              <a:rPr lang="es-ES" b="1" dirty="0">
                <a:solidFill>
                  <a:schemeClr val="tx2"/>
                </a:solidFill>
                <a:latin typeface="Fira Sans Condensed Light" panose="020B0604020202020204" charset="0"/>
                <a:cs typeface="Times New Roman" panose="02020603050405020304" pitchFamily="18" charset="0"/>
              </a:rPr>
              <a:t>"Q3", </a:t>
            </a:r>
            <a:r>
              <a:rPr lang="es-ES" dirty="0">
                <a:solidFill>
                  <a:schemeClr val="bg1">
                    <a:lumMod val="60000"/>
                    <a:lumOff val="40000"/>
                  </a:schemeClr>
                </a:solidFill>
                <a:latin typeface="Fira Sans Condensed Light" panose="020B0604020202020204" charset="0"/>
                <a:cs typeface="Times New Roman" panose="02020603050405020304" pitchFamily="18" charset="0"/>
              </a:rPr>
              <a:t>o rango </a:t>
            </a:r>
            <a:r>
              <a:rPr lang="es-ES" dirty="0" err="1">
                <a:solidFill>
                  <a:schemeClr val="bg1">
                    <a:lumMod val="60000"/>
                    <a:lumOff val="40000"/>
                  </a:schemeClr>
                </a:solidFill>
                <a:latin typeface="Fira Sans Condensed Light" panose="020B0604020202020204" charset="0"/>
                <a:cs typeface="Times New Roman" panose="02020603050405020304" pitchFamily="18" charset="0"/>
              </a:rPr>
              <a:t>intercuartílico</a:t>
            </a:r>
            <a:r>
              <a:rPr lang="es-ES" dirty="0">
                <a:solidFill>
                  <a:schemeClr val="bg1">
                    <a:lumMod val="60000"/>
                    <a:lumOff val="40000"/>
                  </a:schemeClr>
                </a:solidFill>
                <a:latin typeface="Fira Sans Condensed Light" panose="020B0604020202020204" charset="0"/>
                <a:cs typeface="Times New Roman" panose="02020603050405020304" pitchFamily="18" charset="0"/>
              </a:rPr>
              <a:t>. En un diagrama de caja se considera un valor atípico el que se encuentra 1,5 veces esa distancia de uno de esos </a:t>
            </a:r>
            <a:r>
              <a:rPr lang="es-ES" dirty="0" err="1">
                <a:solidFill>
                  <a:schemeClr val="bg1">
                    <a:lumMod val="60000"/>
                    <a:lumOff val="40000"/>
                  </a:schemeClr>
                </a:solidFill>
                <a:latin typeface="Fira Sans Condensed Light" panose="020B0604020202020204" charset="0"/>
                <a:cs typeface="Times New Roman" panose="02020603050405020304" pitchFamily="18" charset="0"/>
              </a:rPr>
              <a:t>cuartiles</a:t>
            </a:r>
            <a:r>
              <a:rPr lang="es-ES" dirty="0">
                <a:solidFill>
                  <a:schemeClr val="bg1">
                    <a:lumMod val="60000"/>
                    <a:lumOff val="40000"/>
                  </a:schemeClr>
                </a:solidFill>
                <a:latin typeface="Fira Sans Condensed Light" panose="020B0604020202020204" charset="0"/>
                <a:cs typeface="Times New Roman" panose="02020603050405020304" pitchFamily="18" charset="0"/>
              </a:rPr>
              <a:t> (atípico leve) o a 3 veces esa distancia (atípico extremo).</a:t>
            </a:r>
          </a:p>
        </p:txBody>
      </p:sp>
      <p:sp>
        <p:nvSpPr>
          <p:cNvPr id="36866" name="AutoShape 2" descr="Diagramas de caj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36868" name="Picture 4" descr="Diagramas de caja"/>
          <p:cNvPicPr>
            <a:picLocks noChangeAspect="1" noChangeArrowheads="1"/>
          </p:cNvPicPr>
          <p:nvPr/>
        </p:nvPicPr>
        <p:blipFill>
          <a:blip r:embed="rId4"/>
          <a:srcRect/>
          <a:stretch>
            <a:fillRect/>
          </a:stretch>
        </p:blipFill>
        <p:spPr bwMode="auto">
          <a:xfrm>
            <a:off x="4026772" y="1840052"/>
            <a:ext cx="4835874" cy="2390304"/>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lang="en-US" sz="3000" b="1" dirty="0">
                <a:solidFill>
                  <a:srgbClr val="F3F3F3"/>
                </a:solidFill>
                <a:latin typeface="Rajdhani"/>
                <a:ea typeface="Rajdhani"/>
                <a:cs typeface="Rajdhani"/>
                <a:sym typeface="Rajdhani"/>
              </a:rPr>
              <a:t>OUTLIERS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
        <p:nvSpPr>
          <p:cNvPr id="10" name="Google Shape;1603;p42"/>
          <p:cNvSpPr txBox="1"/>
          <p:nvPr/>
        </p:nvSpPr>
        <p:spPr>
          <a:xfrm>
            <a:off x="321547" y="1517299"/>
            <a:ext cx="3486779" cy="3024555"/>
          </a:xfrm>
          <a:prstGeom prst="rect">
            <a:avLst/>
          </a:prstGeom>
          <a:noFill/>
          <a:ln>
            <a:noFill/>
          </a:ln>
        </p:spPr>
        <p:txBody>
          <a:bodyPr spcFirstLastPara="1" wrap="square" lIns="91425" tIns="182875" rIns="91425" bIns="0" anchor="t" anchorCtr="0">
            <a:noAutofit/>
          </a:bodyPr>
          <a:lstStyle/>
          <a:p>
            <a:pPr algn="just"/>
            <a:r>
              <a:rPr lang="es-ES" dirty="0">
                <a:solidFill>
                  <a:schemeClr val="bg1">
                    <a:lumMod val="60000"/>
                    <a:lumOff val="40000"/>
                  </a:schemeClr>
                </a:solidFill>
                <a:latin typeface="Fira Sans Condensed Light" panose="020B0604020202020204" charset="0"/>
                <a:cs typeface="Times New Roman" panose="02020603050405020304" pitchFamily="18" charset="0"/>
              </a:rPr>
              <a:t>Para el caso de la distribución normal se considera que un valor es extremo cuando está 3 desviaciones típicas alejado de la media. Dado que la distribución normal tiene 2 colas, tenemos que tener en cuenta de que puede alejarse tanto por el lado negativo como el lado positivo.</a:t>
            </a:r>
          </a:p>
          <a:p>
            <a:pPr algn="just"/>
            <a:endParaRPr lang="es-ES"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dirty="0">
                <a:solidFill>
                  <a:schemeClr val="bg1">
                    <a:lumMod val="60000"/>
                    <a:lumOff val="40000"/>
                  </a:schemeClr>
                </a:solidFill>
                <a:latin typeface="Fira Sans Condensed Light" panose="020B0604020202020204" charset="0"/>
                <a:cs typeface="Times New Roman" panose="02020603050405020304" pitchFamily="18" charset="0"/>
              </a:rPr>
              <a:t>Los valores extremos se denominan </a:t>
            </a:r>
            <a:r>
              <a:rPr lang="es-ES" b="1" dirty="0" err="1">
                <a:solidFill>
                  <a:schemeClr val="tx2"/>
                </a:solidFill>
                <a:latin typeface="Fira Sans Condensed Light" panose="020B0604020202020204" charset="0"/>
                <a:cs typeface="Times New Roman" panose="02020603050405020304" pitchFamily="18" charset="0"/>
              </a:rPr>
              <a:t>outliers</a:t>
            </a:r>
            <a:r>
              <a:rPr lang="es-ES" dirty="0">
                <a:solidFill>
                  <a:schemeClr val="bg1">
                    <a:lumMod val="60000"/>
                    <a:lumOff val="40000"/>
                  </a:schemeClr>
                </a:solidFill>
                <a:latin typeface="Fira Sans Condensed Light" panose="020B0604020202020204" charset="0"/>
                <a:cs typeface="Times New Roman" panose="02020603050405020304" pitchFamily="18" charset="0"/>
              </a:rPr>
              <a:t> en inglés.</a:t>
            </a:r>
          </a:p>
          <a:p>
            <a:pPr algn="just"/>
            <a:r>
              <a:rPr lang="es-ES" dirty="0">
                <a:solidFill>
                  <a:schemeClr val="bg1">
                    <a:lumMod val="60000"/>
                    <a:lumOff val="40000"/>
                  </a:schemeClr>
                </a:solidFill>
                <a:latin typeface="Fira Sans Condensed Light" panose="020B0604020202020204" charset="0"/>
                <a:cs typeface="Times New Roman" panose="02020603050405020304" pitchFamily="18" charset="0"/>
              </a:rPr>
              <a:t>Los valores internos se denominan </a:t>
            </a:r>
            <a:r>
              <a:rPr lang="es-ES" b="1" dirty="0" err="1">
                <a:solidFill>
                  <a:schemeClr val="tx2"/>
                </a:solidFill>
                <a:latin typeface="Fira Sans Condensed Light" panose="020B0604020202020204" charset="0"/>
                <a:cs typeface="Times New Roman" panose="02020603050405020304" pitchFamily="18" charset="0"/>
              </a:rPr>
              <a:t>insiders</a:t>
            </a:r>
            <a:r>
              <a:rPr lang="es-ES" dirty="0">
                <a:solidFill>
                  <a:schemeClr val="bg1">
                    <a:lumMod val="60000"/>
                    <a:lumOff val="40000"/>
                  </a:schemeClr>
                </a:solidFill>
                <a:latin typeface="Fira Sans Condensed Light" panose="020B0604020202020204" charset="0"/>
                <a:cs typeface="Times New Roman" panose="02020603050405020304" pitchFamily="18" charset="0"/>
              </a:rPr>
              <a:t> en inglés.</a:t>
            </a:r>
          </a:p>
        </p:txBody>
      </p:sp>
      <p:sp>
        <p:nvSpPr>
          <p:cNvPr id="36866" name="AutoShape 2" descr="Diagramas de caj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38914" name="Picture 2" descr="Identificación de los valores atípicos"/>
          <p:cNvPicPr>
            <a:picLocks noChangeAspect="1" noChangeArrowheads="1"/>
          </p:cNvPicPr>
          <p:nvPr/>
        </p:nvPicPr>
        <p:blipFill>
          <a:blip r:embed="rId4"/>
          <a:srcRect/>
          <a:stretch>
            <a:fillRect/>
          </a:stretch>
        </p:blipFill>
        <p:spPr bwMode="auto">
          <a:xfrm>
            <a:off x="3979147" y="1156346"/>
            <a:ext cx="3125037" cy="1993218"/>
          </a:xfrm>
          <a:prstGeom prst="rect">
            <a:avLst/>
          </a:prstGeom>
          <a:noFill/>
        </p:spPr>
      </p:pic>
      <p:pic>
        <p:nvPicPr>
          <p:cNvPr id="38916" name="Picture 4" descr="Campana de Gauss en formación | mastermba"/>
          <p:cNvPicPr>
            <a:picLocks noChangeAspect="1" noChangeArrowheads="1"/>
          </p:cNvPicPr>
          <p:nvPr/>
        </p:nvPicPr>
        <p:blipFill>
          <a:blip r:embed="rId5"/>
          <a:srcRect/>
          <a:stretch>
            <a:fillRect/>
          </a:stretch>
        </p:blipFill>
        <p:spPr bwMode="auto">
          <a:xfrm>
            <a:off x="5081786" y="3239337"/>
            <a:ext cx="4062214" cy="1904163"/>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3.1 (Valores</a:t>
            </a:r>
            <a:r>
              <a:rPr lang="en-US" sz="3000" b="1" dirty="0">
                <a:solidFill>
                  <a:srgbClr val="F3F3F3"/>
                </a:solidFill>
                <a:latin typeface="Rajdhani"/>
                <a:ea typeface="Rajdhani"/>
                <a:cs typeface="Rajdhani"/>
                <a:sym typeface="Rajdhani"/>
              </a:rPr>
              <a:t> </a:t>
            </a:r>
            <a:r>
              <a:rPr lang="en-US" sz="3000" b="1" dirty="0" err="1">
                <a:solidFill>
                  <a:srgbClr val="F3F3F3"/>
                </a:solidFill>
                <a:latin typeface="Rajdhani"/>
                <a:ea typeface="Rajdhani"/>
                <a:cs typeface="Rajdhani"/>
                <a:sym typeface="Rajdhani"/>
              </a:rPr>
              <a:t>Atípicos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78522" y="1424343"/>
            <a:ext cx="8662473" cy="3268361"/>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1.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un nuevo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o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carpeta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crear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una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carpeta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dentro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tx2"/>
                </a:solidFill>
                <a:latin typeface="Fira Sans Condensed Light" panose="020B0604020202020204" charset="0"/>
                <a:cs typeface="Times New Roman" panose="02020603050405020304" pitchFamily="18" charset="0"/>
              </a:rPr>
              <a:t>Actividad</a:t>
            </a:r>
            <a:r>
              <a:rPr lang="en-US" sz="1600" b="1" dirty="0">
                <a:solidFill>
                  <a:schemeClr val="tx2"/>
                </a:solidFill>
                <a:latin typeface="Fira Sans Condensed Light" panose="020B0604020202020204" charset="0"/>
                <a:cs typeface="Times New Roman" panose="02020603050405020304" pitchFamily="18" charset="0"/>
              </a:rPr>
              <a:t> 3.1”</a:t>
            </a:r>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2.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Agregar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Citas_Digital_Filtrado.csv</a:t>
            </a:r>
          </a:p>
          <a:p>
            <a:pPr algn="just"/>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b="1" dirty="0">
                <a:solidFill>
                  <a:schemeClr val="tx2"/>
                </a:solidFill>
                <a:latin typeface="Fira Sans Condensed Light" panose="020B0604020202020204" charset="0"/>
                <a:cs typeface="Times New Roman" panose="02020603050405020304" pitchFamily="18" charset="0"/>
              </a:rPr>
              <a:t>3.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Aplicar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métodos (Desviación Estándar y Rango Intercuartílico) para eliminar </a:t>
            </a:r>
            <a:r>
              <a:rPr lang="es-ES" sz="1600" b="1" dirty="0" err="1">
                <a:solidFill>
                  <a:schemeClr val="tx2"/>
                </a:solidFill>
                <a:latin typeface="Fira Sans Condensed Light" panose="020B0604020202020204" charset="0"/>
                <a:cs typeface="Times New Roman" panose="02020603050405020304" pitchFamily="18" charset="0"/>
              </a:rPr>
              <a:t>Outliers</a:t>
            </a:r>
            <a:r>
              <a:rPr lang="es-ES" sz="1600" b="1" dirty="0">
                <a:solidFill>
                  <a:schemeClr val="tx2"/>
                </a:solidFill>
                <a:latin typeface="Fira Sans Condensed Light" panose="020B0604020202020204" charset="0"/>
                <a:cs typeface="Times New Roman" panose="02020603050405020304" pitchFamily="18" charset="0"/>
              </a:rPr>
              <a:t>, </a:t>
            </a:r>
            <a:r>
              <a:rPr lang="es-ES" sz="1600" dirty="0">
                <a:solidFill>
                  <a:schemeClr val="tx2"/>
                </a:solidFill>
                <a:latin typeface="Fira Sans Condensed Light" panose="020B0604020202020204" charset="0"/>
                <a:cs typeface="Times New Roman" panose="02020603050405020304" pitchFamily="18" charset="0"/>
              </a:rPr>
              <a:t>comprobar con diagramas de caja por cada columna</a:t>
            </a: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4.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Google COLAB</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respaldarlo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GitHub, </a:t>
            </a:r>
            <a:r>
              <a:rPr lang="en-US" sz="1600" dirty="0">
                <a:solidFill>
                  <a:schemeClr val="tx2"/>
                </a:solidFill>
                <a:latin typeface="Fira Sans Condensed Light" panose="020B0604020202020204" charset="0"/>
                <a:cs typeface="Times New Roman" panose="02020603050405020304" pitchFamily="18" charset="0"/>
              </a:rPr>
              <a:t>y </a:t>
            </a:r>
            <a:r>
              <a:rPr lang="en-US" sz="1600" dirty="0" err="1">
                <a:solidFill>
                  <a:schemeClr val="tx2"/>
                </a:solidFill>
                <a:latin typeface="Fira Sans Condensed Light" panose="020B0604020202020204" charset="0"/>
                <a:cs typeface="Times New Roman" panose="02020603050405020304" pitchFamily="18" charset="0"/>
              </a:rPr>
              <a:t>agregar</a:t>
            </a:r>
            <a:r>
              <a:rPr lang="en-US" sz="1600" dirty="0">
                <a:solidFill>
                  <a:schemeClr val="tx2"/>
                </a:solidFill>
                <a:latin typeface="Fira Sans Condensed Light" panose="020B0604020202020204" charset="0"/>
                <a:cs typeface="Times New Roman" panose="02020603050405020304" pitchFamily="18" charset="0"/>
              </a:rPr>
              <a:t> un </a:t>
            </a:r>
            <a:r>
              <a:rPr lang="en-US" sz="1600" b="1" dirty="0" err="1">
                <a:solidFill>
                  <a:schemeClr val="tx2"/>
                </a:solidFill>
                <a:latin typeface="Fira Sans Condensed Light" panose="020B0604020202020204" charset="0"/>
                <a:cs typeface="Times New Roman" panose="02020603050405020304" pitchFamily="18" charset="0"/>
              </a:rPr>
              <a:t>archivo</a:t>
            </a:r>
            <a:r>
              <a:rPr lang="en-US" sz="1600" b="1" dirty="0">
                <a:solidFill>
                  <a:schemeClr val="tx2"/>
                </a:solidFill>
                <a:latin typeface="Fira Sans Condensed Light" panose="020B0604020202020204" charset="0"/>
                <a:cs typeface="Times New Roman" panose="02020603050405020304" pitchFamily="18" charset="0"/>
              </a:rPr>
              <a:t> .csv</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por</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cada</a:t>
            </a:r>
            <a:r>
              <a:rPr lang="en-US" sz="1600" dirty="0">
                <a:solidFill>
                  <a:schemeClr val="tx2"/>
                </a:solidFill>
                <a:latin typeface="Fira Sans Condensed Light" panose="020B0604020202020204" charset="0"/>
                <a:cs typeface="Times New Roman" panose="02020603050405020304" pitchFamily="18" charset="0"/>
              </a:rPr>
              <a:t> métodos </a:t>
            </a:r>
            <a:r>
              <a:rPr lang="en-US" sz="1600" dirty="0" err="1">
                <a:solidFill>
                  <a:schemeClr val="tx2"/>
                </a:solidFill>
                <a:latin typeface="Fira Sans Condensed Light" panose="020B0604020202020204" charset="0"/>
                <a:cs typeface="Times New Roman" panose="02020603050405020304" pitchFamily="18" charset="0"/>
              </a:rPr>
              <a:t>aplicado</a:t>
            </a:r>
            <a:r>
              <a:rPr lang="en-US" sz="1600" dirty="0">
                <a:solidFill>
                  <a:schemeClr val="tx2"/>
                </a:solidFill>
                <a:latin typeface="Fira Sans Condensed Light" panose="020B0604020202020204" charset="0"/>
                <a:cs typeface="Times New Roman" panose="02020603050405020304" pitchFamily="18" charset="0"/>
              </a:rPr>
              <a:t>.</a:t>
            </a: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5.</a:t>
            </a:r>
            <a:r>
              <a:rPr lang="en-US" sz="1600" dirty="0">
                <a:solidFill>
                  <a:schemeClr val="tx2"/>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Subir </a:t>
            </a:r>
            <a:r>
              <a:rPr lang="en-US" sz="1600" dirty="0" err="1">
                <a:solidFill>
                  <a:schemeClr val="tx2"/>
                </a:solidFill>
                <a:latin typeface="Fira Sans Condensed Light" panose="020B0604020202020204" charset="0"/>
                <a:cs typeface="Times New Roman" panose="02020603050405020304" pitchFamily="18" charset="0"/>
              </a:rPr>
              <a:t>el</a:t>
            </a:r>
            <a:r>
              <a:rPr lang="en-US" sz="1600" dirty="0">
                <a:solidFill>
                  <a:schemeClr val="tx2"/>
                </a:solidFill>
                <a:latin typeface="Fira Sans Condensed Light" panose="020B0604020202020204" charset="0"/>
                <a:cs typeface="Times New Roman" panose="02020603050405020304" pitchFamily="18" charset="0"/>
              </a:rPr>
              <a:t> link del </a:t>
            </a:r>
            <a:r>
              <a:rPr lang="en-US" sz="1600" dirty="0" err="1">
                <a:solidFill>
                  <a:schemeClr val="tx2"/>
                </a:solidFill>
                <a:latin typeface="Fira Sans Condensed Light" panose="020B0604020202020204" charset="0"/>
                <a:cs typeface="Times New Roman" panose="02020603050405020304" pitchFamily="18" charset="0"/>
              </a:rPr>
              <a:t>repositorio</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en</a:t>
            </a:r>
            <a:r>
              <a:rPr lang="en-US" sz="1600" dirty="0">
                <a:solidFill>
                  <a:schemeClr val="tx2"/>
                </a:solidFill>
                <a:latin typeface="Fira Sans Condensed Light" panose="020B0604020202020204" charset="0"/>
                <a:cs typeface="Times New Roman" panose="02020603050405020304" pitchFamily="18" charset="0"/>
              </a:rPr>
              <a:t> CANVAS para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tx2"/>
                </a:solidFill>
                <a:latin typeface="Fira Sans Condensed Light" panose="020B0604020202020204" charset="0"/>
                <a:cs typeface="Times New Roman" panose="02020603050405020304" pitchFamily="18" charset="0"/>
              </a:rPr>
              <a:t>”</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93701" y="711259"/>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3.2 (Valores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Atípicos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994906"/>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93701" y="1181746"/>
            <a:ext cx="8662473" cy="3647816"/>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1.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Utilizar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nuevo con 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Valores</a:t>
            </a:r>
            <a:r>
              <a:rPr lang="en-US" sz="1600" b="1" dirty="0">
                <a:solidFill>
                  <a:schemeClr val="tx2"/>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Atípicos</a:t>
            </a:r>
            <a:r>
              <a:rPr lang="en-US" sz="1600" b="1" dirty="0">
                <a:solidFill>
                  <a:schemeClr val="tx2"/>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crear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una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carpeta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dentro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tx2"/>
                </a:solidFill>
                <a:latin typeface="Fira Sans Condensed Light" panose="020B0604020202020204" charset="0"/>
                <a:cs typeface="Times New Roman" panose="02020603050405020304" pitchFamily="18" charset="0"/>
              </a:rPr>
              <a:t>Actividad</a:t>
            </a:r>
            <a:r>
              <a:rPr lang="en-US" sz="1600" b="1" dirty="0">
                <a:solidFill>
                  <a:schemeClr val="tx2"/>
                </a:solidFill>
                <a:latin typeface="Fira Sans Condensed Light" panose="020B0604020202020204" charset="0"/>
                <a:cs typeface="Times New Roman" panose="02020603050405020304" pitchFamily="18" charset="0"/>
              </a:rPr>
              <a:t> 3.2”</a:t>
            </a: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2.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Agregar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tu</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pais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y de la ciudad de México: </a:t>
            </a:r>
            <a:r>
              <a:rPr lang="en-US" sz="1600" b="1" dirty="0">
                <a:solidFill>
                  <a:schemeClr val="tx2"/>
                </a:solidFill>
                <a:latin typeface="Fira Sans Condensed Light" panose="020B0604020202020204" charset="0"/>
                <a:cs typeface="Times New Roman" panose="02020603050405020304" pitchFamily="18" charset="0"/>
              </a:rPr>
              <a:t>Analisis_de_Piso.xlsx, Base_de_Tlaxcala.xlsx, Base_de_Leads.xlsx, Plazas.xlsx, Principales_Canales.xlsx, SDC.xlsx y Ventas_por_Asesor.xlsx</a:t>
            </a: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b="1" dirty="0">
                <a:solidFill>
                  <a:schemeClr val="tx2"/>
                </a:solidFill>
                <a:latin typeface="Fira Sans Condensed Light" panose="020B0604020202020204" charset="0"/>
                <a:cs typeface="Times New Roman" panose="02020603050405020304" pitchFamily="18" charset="0"/>
              </a:rPr>
              <a:t>3.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Aplicar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métodos (Desviación Estándar o Rango Intercuartílico) para eliminar </a:t>
            </a:r>
            <a:r>
              <a:rPr lang="es-ES" sz="1600" b="1" dirty="0" err="1">
                <a:solidFill>
                  <a:schemeClr val="tx2"/>
                </a:solidFill>
                <a:latin typeface="Fira Sans Condensed Light" panose="020B0604020202020204" charset="0"/>
                <a:cs typeface="Times New Roman" panose="02020603050405020304" pitchFamily="18" charset="0"/>
              </a:rPr>
              <a:t>Outliers</a:t>
            </a:r>
            <a:r>
              <a:rPr lang="es-ES" sz="1600" b="1" dirty="0">
                <a:solidFill>
                  <a:schemeClr val="tx2"/>
                </a:solidFill>
                <a:latin typeface="Fira Sans Condensed Light" panose="020B0604020202020204" charset="0"/>
                <a:cs typeface="Times New Roman" panose="02020603050405020304" pitchFamily="18" charset="0"/>
              </a:rPr>
              <a:t>, </a:t>
            </a:r>
            <a:r>
              <a:rPr lang="es-ES" sz="1600" dirty="0">
                <a:solidFill>
                  <a:schemeClr val="tx2"/>
                </a:solidFill>
                <a:latin typeface="Fira Sans Condensed Light" panose="020B0604020202020204" charset="0"/>
                <a:cs typeface="Times New Roman" panose="02020603050405020304" pitchFamily="18" charset="0"/>
              </a:rPr>
              <a:t>comprobar con diagramas de caja por cada columna</a:t>
            </a: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4.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Google COLAB o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Visual Studio Code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respaldarlo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GitHub, </a:t>
            </a:r>
            <a:r>
              <a:rPr lang="en-US" sz="1600" dirty="0">
                <a:solidFill>
                  <a:schemeClr val="tx2"/>
                </a:solidFill>
                <a:latin typeface="Fira Sans Condensed Light" panose="020B0604020202020204" charset="0"/>
                <a:cs typeface="Times New Roman" panose="02020603050405020304" pitchFamily="18" charset="0"/>
              </a:rPr>
              <a:t>y </a:t>
            </a:r>
            <a:r>
              <a:rPr lang="en-US" sz="1600" dirty="0" err="1">
                <a:solidFill>
                  <a:schemeClr val="tx2"/>
                </a:solidFill>
                <a:latin typeface="Fira Sans Condensed Light" panose="020B0604020202020204" charset="0"/>
                <a:cs typeface="Times New Roman" panose="02020603050405020304" pitchFamily="18" charset="0"/>
              </a:rPr>
              <a:t>agregar</a:t>
            </a:r>
            <a:r>
              <a:rPr lang="en-US" sz="1600" dirty="0">
                <a:solidFill>
                  <a:schemeClr val="tx2"/>
                </a:solidFill>
                <a:latin typeface="Fira Sans Condensed Light" panose="020B0604020202020204" charset="0"/>
                <a:cs typeface="Times New Roman" panose="02020603050405020304" pitchFamily="18" charset="0"/>
              </a:rPr>
              <a:t> un </a:t>
            </a:r>
            <a:r>
              <a:rPr lang="en-US" sz="1600" b="1" dirty="0" err="1">
                <a:solidFill>
                  <a:schemeClr val="tx2"/>
                </a:solidFill>
                <a:latin typeface="Fira Sans Condensed Light" panose="020B0604020202020204" charset="0"/>
                <a:cs typeface="Times New Roman" panose="02020603050405020304" pitchFamily="18" charset="0"/>
              </a:rPr>
              <a:t>archivo</a:t>
            </a:r>
            <a:r>
              <a:rPr lang="en-US" sz="1600" b="1" dirty="0">
                <a:solidFill>
                  <a:schemeClr val="tx2"/>
                </a:solidFill>
                <a:latin typeface="Fira Sans Condensed Light" panose="020B0604020202020204" charset="0"/>
                <a:cs typeface="Times New Roman" panose="02020603050405020304" pitchFamily="18" charset="0"/>
              </a:rPr>
              <a:t> .csv</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por</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cada</a:t>
            </a:r>
            <a:r>
              <a:rPr lang="en-US" sz="1600" dirty="0">
                <a:solidFill>
                  <a:schemeClr val="tx2"/>
                </a:solidFill>
                <a:latin typeface="Fira Sans Condensed Light" panose="020B0604020202020204" charset="0"/>
                <a:cs typeface="Times New Roman" panose="02020603050405020304" pitchFamily="18" charset="0"/>
              </a:rPr>
              <a:t> métodos </a:t>
            </a:r>
            <a:r>
              <a:rPr lang="en-US" sz="1600" dirty="0" err="1">
                <a:solidFill>
                  <a:schemeClr val="tx2"/>
                </a:solidFill>
                <a:latin typeface="Fira Sans Condensed Light" panose="020B0604020202020204" charset="0"/>
                <a:cs typeface="Times New Roman" panose="02020603050405020304" pitchFamily="18" charset="0"/>
              </a:rPr>
              <a:t>aplicado</a:t>
            </a:r>
            <a:r>
              <a:rPr lang="en-US" sz="1600" dirty="0">
                <a:solidFill>
                  <a:schemeClr val="tx2"/>
                </a:solidFill>
                <a:latin typeface="Fira Sans Condensed Light" panose="020B0604020202020204" charset="0"/>
                <a:cs typeface="Times New Roman" panose="02020603050405020304" pitchFamily="18" charset="0"/>
              </a:rPr>
              <a:t>.</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5.</a:t>
            </a:r>
            <a:r>
              <a:rPr lang="en-US" sz="1600" dirty="0">
                <a:solidFill>
                  <a:schemeClr val="tx2"/>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Subir </a:t>
            </a:r>
            <a:r>
              <a:rPr lang="en-US" sz="1600" dirty="0" err="1">
                <a:solidFill>
                  <a:schemeClr val="tx2"/>
                </a:solidFill>
                <a:latin typeface="Fira Sans Condensed Light" panose="020B0604020202020204" charset="0"/>
                <a:cs typeface="Times New Roman" panose="02020603050405020304" pitchFamily="18" charset="0"/>
              </a:rPr>
              <a:t>el</a:t>
            </a:r>
            <a:r>
              <a:rPr lang="en-US" sz="1600" dirty="0">
                <a:solidFill>
                  <a:schemeClr val="tx2"/>
                </a:solidFill>
                <a:latin typeface="Fira Sans Condensed Light" panose="020B0604020202020204" charset="0"/>
                <a:cs typeface="Times New Roman" panose="02020603050405020304" pitchFamily="18" charset="0"/>
              </a:rPr>
              <a:t> link del </a:t>
            </a:r>
            <a:r>
              <a:rPr lang="en-US" sz="1600" dirty="0" err="1">
                <a:solidFill>
                  <a:schemeClr val="tx2"/>
                </a:solidFill>
                <a:latin typeface="Fira Sans Condensed Light" panose="020B0604020202020204" charset="0"/>
                <a:cs typeface="Times New Roman" panose="02020603050405020304" pitchFamily="18" charset="0"/>
              </a:rPr>
              <a:t>repositorio</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en</a:t>
            </a:r>
            <a:r>
              <a:rPr lang="en-US" sz="1600" dirty="0">
                <a:solidFill>
                  <a:schemeClr val="tx2"/>
                </a:solidFill>
                <a:latin typeface="Fira Sans Condensed Light" panose="020B0604020202020204" charset="0"/>
                <a:cs typeface="Times New Roman" panose="02020603050405020304" pitchFamily="18" charset="0"/>
              </a:rPr>
              <a:t> CANVAS para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tx2"/>
                </a:solidFill>
                <a:latin typeface="Fira Sans Condensed Light" panose="020B0604020202020204" charset="0"/>
                <a:cs typeface="Times New Roman" panose="02020603050405020304" pitchFamily="18" charset="0"/>
              </a:rPr>
              <a:t>”</a:t>
            </a: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98"/>
        <p:cNvGrpSpPr/>
        <p:nvPr/>
      </p:nvGrpSpPr>
      <p:grpSpPr>
        <a:xfrm>
          <a:off x="0" y="0"/>
          <a:ext cx="0" cy="0"/>
          <a:chOff x="0" y="0"/>
          <a:chExt cx="0" cy="0"/>
        </a:xfrm>
      </p:grpSpPr>
      <p:sp>
        <p:nvSpPr>
          <p:cNvPr id="6" name="Google Shape;1768;p46"/>
          <p:cNvSpPr txBox="1">
            <a:spLocks/>
          </p:cNvSpPr>
          <p:nvPr/>
        </p:nvSpPr>
        <p:spPr>
          <a:xfrm>
            <a:off x="2562175" y="725400"/>
            <a:ext cx="4020000" cy="1462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r>
              <a:rPr lang="es-ES" dirty="0"/>
              <a:t>Fin de la Sesión</a:t>
            </a:r>
          </a:p>
        </p:txBody>
      </p:sp>
      <p:sp>
        <p:nvSpPr>
          <p:cNvPr id="7" name="Google Shape;1769;p46"/>
          <p:cNvSpPr txBox="1">
            <a:spLocks/>
          </p:cNvSpPr>
          <p:nvPr/>
        </p:nvSpPr>
        <p:spPr>
          <a:xfrm>
            <a:off x="2561975" y="2105100"/>
            <a:ext cx="4020000" cy="1203900"/>
          </a:xfrm>
          <a:prstGeom prst="rect">
            <a:avLst/>
          </a:prstGeom>
          <a:solidFill>
            <a:srgbClr val="FFFFFF">
              <a:alpha val="4509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434343"/>
              </a:buClr>
              <a:buSzPts val="1100"/>
              <a:buFont typeface="Fira Sans Condensed Light"/>
              <a:buAutoNum type="arabicPeriod"/>
              <a:defRPr sz="13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298450" algn="l" rtl="0">
              <a:lnSpc>
                <a:spcPct val="115000"/>
              </a:lnSpc>
              <a:spcBef>
                <a:spcPts val="1600"/>
              </a:spcBef>
              <a:spcAft>
                <a:spcPts val="160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0" indent="0" algn="ctr">
              <a:buClr>
                <a:schemeClr val="dk1"/>
              </a:buClr>
              <a:buFont typeface="Arial"/>
              <a:buNone/>
            </a:pPr>
            <a:r>
              <a:rPr lang="es-ES" dirty="0"/>
              <a:t>Preguntas?</a:t>
            </a:r>
          </a:p>
          <a:p>
            <a:pPr marL="0" indent="0" algn="ctr">
              <a:buClr>
                <a:schemeClr val="dk1"/>
              </a:buClr>
              <a:buFont typeface="Arial"/>
              <a:buNone/>
            </a:pPr>
            <a:endParaRPr lang="es-ES" dirty="0"/>
          </a:p>
          <a:p>
            <a:pPr marL="0" indent="0" algn="ctr">
              <a:buClr>
                <a:schemeClr val="dk1"/>
              </a:buClr>
              <a:buFont typeface="Arial"/>
              <a:buNone/>
            </a:pPr>
            <a:r>
              <a:rPr lang="es-ES" dirty="0">
                <a:hlinkClick r:id="rId4"/>
              </a:rPr>
              <a:t>Alfredo.garcias@tec.mx</a:t>
            </a:r>
            <a:endParaRPr lang="es-ES" dirty="0"/>
          </a:p>
          <a:p>
            <a:pPr marL="0" indent="0" algn="ctr">
              <a:buClr>
                <a:schemeClr val="dk1"/>
              </a:buClr>
              <a:buFont typeface="Arial"/>
              <a:buNone/>
            </a:pPr>
            <a:r>
              <a:rPr lang="es-ES" dirty="0"/>
              <a:t>https://itesm.zoom.us/my/alfredo.garcia</a:t>
            </a:r>
          </a:p>
          <a:p>
            <a:pPr marL="0" indent="0" algn="ctr">
              <a:buClr>
                <a:schemeClr val="dk1"/>
              </a:buClr>
              <a:buFont typeface="Arial"/>
              <a:buNone/>
            </a:pPr>
            <a:r>
              <a:rPr lang="es-ES" dirty="0"/>
              <a:t> </a:t>
            </a:r>
          </a:p>
        </p:txBody>
      </p:sp>
      <p:grpSp>
        <p:nvGrpSpPr>
          <p:cNvPr id="8" name="Google Shape;1771;p46"/>
          <p:cNvGrpSpPr/>
          <p:nvPr/>
        </p:nvGrpSpPr>
        <p:grpSpPr>
          <a:xfrm>
            <a:off x="3914560" y="3451633"/>
            <a:ext cx="268782" cy="268485"/>
            <a:chOff x="3303268" y="3817349"/>
            <a:chExt cx="346056" cy="345674"/>
          </a:xfrm>
        </p:grpSpPr>
        <p:sp>
          <p:nvSpPr>
            <p:cNvPr id="9" name="Google Shape;1772;p46"/>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73;p46"/>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74;p46"/>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75;p46"/>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776;p46"/>
          <p:cNvGrpSpPr/>
          <p:nvPr/>
        </p:nvGrpSpPr>
        <p:grpSpPr>
          <a:xfrm>
            <a:off x="4263368" y="3451633"/>
            <a:ext cx="268782" cy="268485"/>
            <a:chOff x="3752358" y="3817349"/>
            <a:chExt cx="346056" cy="345674"/>
          </a:xfrm>
        </p:grpSpPr>
        <p:sp>
          <p:nvSpPr>
            <p:cNvPr id="14" name="Google Shape;1777;p46"/>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78;p46"/>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79;p46"/>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0;p46"/>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781;p46"/>
          <p:cNvGrpSpPr/>
          <p:nvPr/>
        </p:nvGrpSpPr>
        <p:grpSpPr>
          <a:xfrm>
            <a:off x="4612176" y="3451633"/>
            <a:ext cx="268757" cy="268485"/>
            <a:chOff x="4201447" y="3817349"/>
            <a:chExt cx="346024" cy="345674"/>
          </a:xfrm>
        </p:grpSpPr>
        <p:sp>
          <p:nvSpPr>
            <p:cNvPr id="19" name="Google Shape;1782;p46"/>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3;p46"/>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784;p46"/>
          <p:cNvGrpSpPr/>
          <p:nvPr/>
        </p:nvGrpSpPr>
        <p:grpSpPr>
          <a:xfrm>
            <a:off x="4960939" y="3451633"/>
            <a:ext cx="268460" cy="268485"/>
            <a:chOff x="5549861" y="3817349"/>
            <a:chExt cx="345642" cy="345674"/>
          </a:xfrm>
        </p:grpSpPr>
        <p:sp>
          <p:nvSpPr>
            <p:cNvPr id="22" name="Google Shape;1785;p46"/>
            <p:cNvSpPr/>
            <p:nvPr/>
          </p:nvSpPr>
          <p:spPr>
            <a:xfrm>
              <a:off x="5549861" y="3817349"/>
              <a:ext cx="345642" cy="345674"/>
            </a:xfrm>
            <a:custGeom>
              <a:avLst/>
              <a:gdLst/>
              <a:ahLst/>
              <a:cxnLst/>
              <a:rect l="l" t="t" r="r" b="b"/>
              <a:pathLst>
                <a:path w="10859" h="10860" extrusionOk="0">
                  <a:moveTo>
                    <a:pt x="5429" y="334"/>
                  </a:moveTo>
                  <a:cubicBezTo>
                    <a:pt x="8239" y="334"/>
                    <a:pt x="10513" y="2608"/>
                    <a:pt x="10513" y="5430"/>
                  </a:cubicBezTo>
                  <a:cubicBezTo>
                    <a:pt x="10513" y="8240"/>
                    <a:pt x="8227" y="10514"/>
                    <a:pt x="5429" y="10514"/>
                  </a:cubicBezTo>
                  <a:cubicBezTo>
                    <a:pt x="2619" y="10514"/>
                    <a:pt x="333" y="8240"/>
                    <a:pt x="333" y="5430"/>
                  </a:cubicBezTo>
                  <a:cubicBezTo>
                    <a:pt x="333" y="2608"/>
                    <a:pt x="2619" y="334"/>
                    <a:pt x="5429" y="334"/>
                  </a:cubicBezTo>
                  <a:close/>
                  <a:moveTo>
                    <a:pt x="5429" y="1"/>
                  </a:moveTo>
                  <a:cubicBezTo>
                    <a:pt x="3989" y="1"/>
                    <a:pt x="2619" y="560"/>
                    <a:pt x="1584" y="1584"/>
                  </a:cubicBezTo>
                  <a:cubicBezTo>
                    <a:pt x="560" y="2620"/>
                    <a:pt x="0" y="3989"/>
                    <a:pt x="0" y="5430"/>
                  </a:cubicBezTo>
                  <a:cubicBezTo>
                    <a:pt x="0" y="6871"/>
                    <a:pt x="560" y="8240"/>
                    <a:pt x="1584" y="9264"/>
                  </a:cubicBezTo>
                  <a:cubicBezTo>
                    <a:pt x="2619" y="10300"/>
                    <a:pt x="3989" y="10859"/>
                    <a:pt x="5429" y="10859"/>
                  </a:cubicBezTo>
                  <a:cubicBezTo>
                    <a:pt x="6870" y="10859"/>
                    <a:pt x="8239" y="10300"/>
                    <a:pt x="9263" y="9264"/>
                  </a:cubicBezTo>
                  <a:cubicBezTo>
                    <a:pt x="10299" y="8240"/>
                    <a:pt x="10859" y="6871"/>
                    <a:pt x="10859" y="5430"/>
                  </a:cubicBezTo>
                  <a:cubicBezTo>
                    <a:pt x="10859" y="3989"/>
                    <a:pt x="10299" y="2620"/>
                    <a:pt x="9263" y="1584"/>
                  </a:cubicBezTo>
                  <a:cubicBezTo>
                    <a:pt x="8239" y="560"/>
                    <a:pt x="6870" y="1"/>
                    <a:pt x="542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86;p46"/>
            <p:cNvSpPr/>
            <p:nvPr/>
          </p:nvSpPr>
          <p:spPr>
            <a:xfrm>
              <a:off x="5590763" y="3890208"/>
              <a:ext cx="262661" cy="200052"/>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87;p46"/>
            <p:cNvSpPr/>
            <p:nvPr/>
          </p:nvSpPr>
          <p:spPr>
            <a:xfrm>
              <a:off x="5680587" y="3935024"/>
              <a:ext cx="105389" cy="110514"/>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3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br>
              <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theme/theme1.xml><?xml version="1.0" encoding="utf-8"?>
<a:theme xmlns:a="http://schemas.openxmlformats.org/drawingml/2006/main" name="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17729</TotalTime>
  <Words>910</Words>
  <Application>Microsoft Office PowerPoint</Application>
  <PresentationFormat>Presentación en pantalla (16:9)</PresentationFormat>
  <Paragraphs>138</Paragraphs>
  <Slides>15</Slides>
  <Notes>15</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15</vt:i4>
      </vt:variant>
    </vt:vector>
  </HeadingPairs>
  <TitlesOfParts>
    <vt:vector size="21" baseType="lpstr">
      <vt:lpstr>Arial</vt:lpstr>
      <vt:lpstr>Anton</vt:lpstr>
      <vt:lpstr>Fira Sans Condensed Light</vt:lpstr>
      <vt:lpstr>Advent Pro Light</vt:lpstr>
      <vt:lpstr>Rajdhani</vt:lpstr>
      <vt:lpstr>Ai Tech Agency by Slidesgo</vt:lpstr>
      <vt:lpstr>Presentación de PowerPoint</vt:lpstr>
      <vt:lpstr>Bienvenida</vt:lpstr>
      <vt:lpstr>Presentación de PowerPoint</vt:lpstr>
      <vt:lpstr>ANALÍTICA DE DATOS</vt:lpstr>
      <vt:lpstr>METODOLOGÍA CRISP DM</vt:lpstr>
      <vt:lpstr>CLASE ANTERIOR</vt:lpstr>
      <vt:lpstr>Presentación de PowerPoint</vt:lpstr>
      <vt:lpstr>Presentación de PowerPoint</vt:lpstr>
      <vt:lpstr>CLASE ACTUAL</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DOCTORAL</dc:title>
  <dc:creator>Alfredo Garcia</dc:creator>
  <cp:lastModifiedBy>Alfredo Garcia Suarez</cp:lastModifiedBy>
  <cp:revision>273</cp:revision>
  <dcterms:modified xsi:type="dcterms:W3CDTF">2026-08-19T16:31:57Z</dcterms:modified>
</cp:coreProperties>
</file>