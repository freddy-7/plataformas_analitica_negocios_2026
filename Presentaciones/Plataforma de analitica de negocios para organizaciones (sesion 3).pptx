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6"/>
  </p:notesMasterIdLst>
  <p:sldIdLst>
    <p:sldId id="256" r:id="rId2"/>
    <p:sldId id="357" r:id="rId3"/>
    <p:sldId id="358" r:id="rId4"/>
    <p:sldId id="365" r:id="rId5"/>
    <p:sldId id="436" r:id="rId6"/>
    <p:sldId id="364" r:id="rId7"/>
    <p:sldId id="440" r:id="rId8"/>
    <p:sldId id="441" r:id="rId9"/>
    <p:sldId id="446" r:id="rId10"/>
    <p:sldId id="407" r:id="rId11"/>
    <p:sldId id="408" r:id="rId12"/>
    <p:sldId id="425" r:id="rId13"/>
    <p:sldId id="426" r:id="rId14"/>
    <p:sldId id="280" r:id="rId15"/>
  </p:sldIdLst>
  <p:sldSz cx="9144000" cy="5143500" type="screen16x9"/>
  <p:notesSz cx="6858000" cy="9144000"/>
  <p:embeddedFontLst>
    <p:embeddedFont>
      <p:font typeface="Advent Pro Light" panose="020B0604020202020204" charset="0"/>
      <p:regular r:id="rId17"/>
      <p:bold r:id="rId18"/>
    </p:embeddedFont>
    <p:embeddedFont>
      <p:font typeface="Anton" pitchFamily="2" charset="0"/>
      <p:regular r:id="rId19"/>
    </p:embeddedFont>
    <p:embeddedFont>
      <p:font typeface="Fira Sans Condensed Light" panose="020B0403050000020004" pitchFamily="34" charset="0"/>
      <p:regular r:id="rId20"/>
      <p:bold r:id="rId21"/>
      <p:italic r:id="rId22"/>
      <p:boldItalic r:id="rId23"/>
    </p:embeddedFont>
    <p:embeddedFont>
      <p:font typeface="Rajdhani"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p:cViewPr varScale="1">
        <p:scale>
          <a:sx n="91" d="100"/>
          <a:sy n="91" d="100"/>
        </p:scale>
        <p:origin x="78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8064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130F45F-30C4-3C8C-C653-889F45B708B7}"/>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43848EAE-8DD8-467E-ADD7-1BE882EA3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F8D5514-3443-00A0-4F63-BF3E81E331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7970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94878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TI2001B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Plataformas de Analítica de Negocios para Organizaciones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18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305" y="-4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Recuperación de varios tipos de datos de una o varias fuentes. Aplicando diversos tipos de herramientas y filtros.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-Entendimiento de los datos</a:t>
            </a:r>
          </a:p>
          <a:p>
            <a:pPr marL="146050" lvl="0" indent="0">
              <a:buSzPts val="1300"/>
            </a:pPr>
            <a:r>
              <a:rPr lang="es-ES" dirty="0"/>
              <a:t> -Extracción de datos</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1026" name="Picture 2" descr="Filtrar datos—ArcGIS Insights | Documentación">
            <a:extLst>
              <a:ext uri="{FF2B5EF4-FFF2-40B4-BE49-F238E27FC236}">
                <a16:creationId xmlns:a16="http://schemas.microsoft.com/office/drawing/2014/main" id="{EBC3BAFE-71F7-6DE9-DB49-A91BDF4A2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9041" y="2770696"/>
            <a:ext cx="2876550" cy="2295525"/>
          </a:xfrm>
          <a:prstGeom prst="rect">
            <a:avLst/>
          </a:prstGeom>
          <a:noFill/>
          <a:extLst>
            <a:ext uri="{909E8E84-426E-40DD-AFC4-6F175D3DCCD1}">
              <a14:hiddenFill xmlns:a14="http://schemas.microsoft.com/office/drawing/2010/main">
                <a:solidFill>
                  <a:srgbClr val="FFFFFF"/>
                </a:solidFill>
              </a14:hiddenFill>
            </a:ext>
          </a:extLst>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7 Conector recto de flecha"/>
          <p:cNvCxnSpPr>
            <a:cxnSpLocks/>
          </p:cNvCxnSpPr>
          <p:nvPr/>
        </p:nvCxnSpPr>
        <p:spPr>
          <a:xfrm>
            <a:off x="2444486" y="4074366"/>
            <a:ext cx="1453662" cy="48362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47B43D3C-C886-D2BF-4BE5-A00114CCC9CC}"/>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Dataset filters">
            <a:extLst>
              <a:ext uri="{FF2B5EF4-FFF2-40B4-BE49-F238E27FC236}">
                <a16:creationId xmlns:a16="http://schemas.microsoft.com/office/drawing/2014/main" id="{C28334A7-4213-BBD8-7767-4CA3CEB8C0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12" b="57248"/>
          <a:stretch/>
        </p:blipFill>
        <p:spPr bwMode="auto">
          <a:xfrm>
            <a:off x="393701" y="3045207"/>
            <a:ext cx="2293937" cy="13959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set filters">
            <a:extLst>
              <a:ext uri="{FF2B5EF4-FFF2-40B4-BE49-F238E27FC236}">
                <a16:creationId xmlns:a16="http://schemas.microsoft.com/office/drawing/2014/main" id="{76106C82-538F-D931-184B-EB99135684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4" t="44078" r="2112" b="23533"/>
          <a:stretch/>
        </p:blipFill>
        <p:spPr bwMode="auto">
          <a:xfrm>
            <a:off x="3406127" y="2944536"/>
            <a:ext cx="2211905" cy="16659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ataset filters">
            <a:extLst>
              <a:ext uri="{FF2B5EF4-FFF2-40B4-BE49-F238E27FC236}">
                <a16:creationId xmlns:a16="http://schemas.microsoft.com/office/drawing/2014/main" id="{14AA7B78-6B57-55CC-42DC-D7BDB459B6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 t="76389" r="3798" b="678"/>
          <a:stretch/>
        </p:blipFill>
        <p:spPr bwMode="auto">
          <a:xfrm>
            <a:off x="6336522" y="3153403"/>
            <a:ext cx="2211905" cy="1179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he Learning Gate | Tec de Monterrey">
            <a:extLst>
              <a:ext uri="{FF2B5EF4-FFF2-40B4-BE49-F238E27FC236}">
                <a16:creationId xmlns:a16="http://schemas.microsoft.com/office/drawing/2014/main" id="{5D211701-7A0E-2907-CB31-3EB364D32904}"/>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2903610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4E4FE95-487B-F6E7-B961-92100D7D004E}"/>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BEBD0CCD-83FB-0403-AE73-E14D9EFCDA18}"/>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691EA877-6D84-9175-24EA-AB3488F9EEAA}"/>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-Valores Nulos</a:t>
            </a:r>
            <a:endParaRPr dirty="0"/>
          </a:p>
        </p:txBody>
      </p:sp>
      <p:sp>
        <p:nvSpPr>
          <p:cNvPr id="176" name="Google Shape;176;p30">
            <a:extLst>
              <a:ext uri="{FF2B5EF4-FFF2-40B4-BE49-F238E27FC236}">
                <a16:creationId xmlns:a16="http://schemas.microsoft.com/office/drawing/2014/main" id="{CF426345-2AAF-DDF8-D1A9-02158E008E83}"/>
              </a:ext>
            </a:extLst>
          </p:cNvPr>
          <p:cNvSpPr txBox="1">
            <a:spLocks noGrp="1"/>
          </p:cNvSpPr>
          <p:nvPr>
            <p:ph type="title" idx="2"/>
          </p:nvPr>
        </p:nvSpPr>
        <p:spPr>
          <a:xfrm>
            <a:off x="4849169" y="1001125"/>
            <a:ext cx="21297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cxnSp>
        <p:nvCxnSpPr>
          <p:cNvPr id="177" name="Google Shape;177;p30">
            <a:extLst>
              <a:ext uri="{FF2B5EF4-FFF2-40B4-BE49-F238E27FC236}">
                <a16:creationId xmlns:a16="http://schemas.microsoft.com/office/drawing/2014/main" id="{DAAF4F2D-D293-F51C-B7F6-00327F1A9780}"/>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C2445FDD-E26D-F64E-DE79-EFBEB18CE47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06A82DC2-F5D6-F7BF-15AC-C1FDA8585A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21780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5506494" y="1537397"/>
            <a:ext cx="3486779" cy="3104942"/>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En la gran mayoría de datos con la que trabajemos es muy probable que nos encontremos con valores perdidos, esto es algo muy normal. El valor faltante puede aparecer de distintas formas por ejemplo como un signo de interrogación, o N/A, como un 0 o simplemente como una celda en blanco, pero en su mayoría nos lo encontramos representado como </a:t>
            </a:r>
            <a:r>
              <a:rPr lang="es-ES" b="1" dirty="0" err="1">
                <a:solidFill>
                  <a:schemeClr val="bg1">
                    <a:lumMod val="60000"/>
                    <a:lumOff val="40000"/>
                  </a:schemeClr>
                </a:solidFill>
                <a:latin typeface="Fira Sans Condensed Light" panose="020B0604020202020204" charset="0"/>
                <a:cs typeface="Times New Roman" panose="02020603050405020304" pitchFamily="18" charset="0"/>
              </a:rPr>
              <a:t>NaN</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 que se refiere a “no un número”</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a:stretch>
            <a:fillRect/>
          </a:stretch>
        </p:blipFill>
        <p:spPr bwMode="auto">
          <a:xfrm>
            <a:off x="382675" y="1557058"/>
            <a:ext cx="4842468" cy="3107742"/>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2208"/>
          <a:stretch>
            <a:fillRect/>
          </a:stretch>
        </p:blipFill>
        <p:spPr bwMode="auto">
          <a:xfrm>
            <a:off x="4079631" y="1431472"/>
            <a:ext cx="4826141" cy="3125049"/>
          </a:xfrm>
          <a:prstGeom prst="rect">
            <a:avLst/>
          </a:prstGeom>
          <a:noFill/>
          <a:ln w="9525">
            <a:noFill/>
            <a:miter lim="800000"/>
            <a:headEnd/>
            <a:tailEnd/>
          </a:ln>
          <a:effectLst/>
        </p:spPr>
      </p:pic>
      <p:sp>
        <p:nvSpPr>
          <p:cNvPr id="10" name="Google Shape;1603;p42"/>
          <p:cNvSpPr txBox="1"/>
          <p:nvPr/>
        </p:nvSpPr>
        <p:spPr>
          <a:xfrm>
            <a:off x="321547" y="1517300"/>
            <a:ext cx="3486779" cy="2713056"/>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Existen muchas maneras para corregir esto y todo dependerá de la persona que este analizando y obviamente del problema en sí para seleccionar cual es la mejor opción para aplicar. Las opciones típicas que debes considerar son las siguientes:</a:t>
            </a:r>
            <a:endParaRPr lang="es-ES" sz="1600" b="1" dirty="0">
              <a:solidFill>
                <a:schemeClr val="tx2"/>
              </a:solidFill>
              <a:latin typeface="Fira Sans Condensed Light" panose="020B060402020202020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2.1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Valores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Valores </a:t>
            </a:r>
            <a:r>
              <a:rPr lang="en-US" sz="1600" b="1" dirty="0" err="1">
                <a:solidFill>
                  <a:schemeClr val="tx2"/>
                </a:solidFill>
                <a:latin typeface="Fira Sans Condensed Light" panose="020B0604020202020204" charset="0"/>
                <a:cs typeface="Times New Roman" panose="02020603050405020304" pitchFamily="18" charset="0"/>
              </a:rPr>
              <a:t>Nulos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2.1”</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Citas_Digital_Filtrado.csv</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para reemplazar </a:t>
            </a:r>
            <a:r>
              <a:rPr lang="es-ES" sz="1600" b="1" dirty="0">
                <a:solidFill>
                  <a:schemeClr val="tx2"/>
                </a:solidFill>
                <a:latin typeface="Fira Sans Condensed Light" panose="020B0604020202020204" charset="0"/>
                <a:cs typeface="Times New Roman" panose="02020603050405020304" pitchFamily="18" charset="0"/>
              </a:rPr>
              <a:t>valores nulos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cada columna</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o 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Por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columna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describir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cuales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fueron</a:t>
            </a:r>
            <a:r>
              <a:rPr lang="en-US" sz="1600" dirty="0">
                <a:solidFill>
                  <a:schemeClr val="tx2"/>
                </a:solidFill>
                <a:latin typeface="Fira Sans Condensed Light" panose="020B0604020202020204" charset="0"/>
                <a:cs typeface="Times New Roman" panose="02020603050405020304" pitchFamily="18" charset="0"/>
              </a:rPr>
              <a:t> las </a:t>
            </a:r>
            <a:r>
              <a:rPr lang="en-US" sz="1600" dirty="0" err="1">
                <a:solidFill>
                  <a:schemeClr val="tx2"/>
                </a:solidFill>
                <a:latin typeface="Fira Sans Condensed Light" panose="020B0604020202020204" charset="0"/>
                <a:cs typeface="Times New Roman" panose="02020603050405020304" pitchFamily="18" charset="0"/>
              </a:rPr>
              <a:t>técnicas</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tratamiento</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valores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nulos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utilizadas</a:t>
            </a:r>
            <a:r>
              <a:rPr lang="en-US" sz="1600" dirty="0">
                <a:solidFill>
                  <a:schemeClr val="tx2"/>
                </a:solidFill>
                <a:latin typeface="Fira Sans Condensed Light" panose="020B0604020202020204" charset="0"/>
                <a:cs typeface="Times New Roman" panose="02020603050405020304" pitchFamily="18" charset="0"/>
              </a:rPr>
              <a:t> para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variable 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final.</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66967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2.2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Valores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941918"/>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164557"/>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Utilizar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Valores </a:t>
            </a:r>
            <a:r>
              <a:rPr lang="en-US" sz="1600" b="1" dirty="0" err="1">
                <a:solidFill>
                  <a:schemeClr val="tx2"/>
                </a:solidFill>
                <a:latin typeface="Fira Sans Condensed Light" panose="020B0604020202020204" charset="0"/>
                <a:cs typeface="Times New Roman" panose="02020603050405020304" pitchFamily="18" charset="0"/>
              </a:rPr>
              <a:t>nulos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2.2”</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Analisis_de_Piso.xlsx, Base_de_Tlaxcala.xlsx, Base_de_Leads.xlsx, Plazas.xlsx, Principales_Canales.xlsx, SDC.xlsx y Ventas_por_Asesor.xlsx</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para reemplazar </a:t>
            </a:r>
            <a:r>
              <a:rPr lang="es-ES" sz="1600" b="1" dirty="0">
                <a:solidFill>
                  <a:schemeClr val="tx2"/>
                </a:solidFill>
                <a:latin typeface="Fira Sans Condensed Light" panose="020B0604020202020204" charset="0"/>
                <a:cs typeface="Times New Roman" panose="02020603050405020304" pitchFamily="18" charset="0"/>
              </a:rPr>
              <a:t>valores nulos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cada columna de cada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dataset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o 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Por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columna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describir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cuales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fueron</a:t>
            </a:r>
            <a:r>
              <a:rPr lang="en-US" sz="1600" dirty="0">
                <a:solidFill>
                  <a:schemeClr val="tx2"/>
                </a:solidFill>
                <a:latin typeface="Fira Sans Condensed Light" panose="020B0604020202020204" charset="0"/>
                <a:cs typeface="Times New Roman" panose="02020603050405020304" pitchFamily="18" charset="0"/>
              </a:rPr>
              <a:t> las </a:t>
            </a:r>
            <a:r>
              <a:rPr lang="en-US" sz="1600" dirty="0" err="1">
                <a:solidFill>
                  <a:schemeClr val="tx2"/>
                </a:solidFill>
                <a:latin typeface="Fira Sans Condensed Light" panose="020B0604020202020204" charset="0"/>
                <a:cs typeface="Times New Roman" panose="02020603050405020304" pitchFamily="18" charset="0"/>
              </a:rPr>
              <a:t>técnicas</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tratamiento</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valores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nulos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utilizadas</a:t>
            </a:r>
            <a:r>
              <a:rPr lang="en-US" sz="1600" dirty="0">
                <a:solidFill>
                  <a:schemeClr val="tx2"/>
                </a:solidFill>
                <a:latin typeface="Fira Sans Condensed Light" panose="020B0604020202020204" charset="0"/>
                <a:cs typeface="Times New Roman" panose="02020603050405020304" pitchFamily="18" charset="0"/>
              </a:rPr>
              <a:t> para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variable 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final </a:t>
            </a:r>
            <a:r>
              <a:rPr lang="en-US" sz="1600" dirty="0" err="1">
                <a:solidFill>
                  <a:schemeClr val="tx2"/>
                </a:solidFill>
                <a:latin typeface="Fira Sans Condensed Light" panose="020B0604020202020204" charset="0"/>
                <a:cs typeface="Times New Roman" panose="02020603050405020304" pitchFamily="18" charset="0"/>
              </a:rPr>
              <a:t>por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dataset.</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92052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17794</TotalTime>
  <Words>817</Words>
  <Application>Microsoft Office PowerPoint</Application>
  <PresentationFormat>Presentación en pantalla (16:9)</PresentationFormat>
  <Paragraphs>129</Paragraphs>
  <Slides>14</Slides>
  <Notes>14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Fira Sans Condensed Light</vt:lpstr>
      <vt:lpstr>Arial</vt:lpstr>
      <vt:lpstr>Rajdhani</vt:lpstr>
      <vt:lpstr>Advent Pro Light</vt:lpstr>
      <vt:lpstr>Anton</vt:lpstr>
      <vt:lpstr>Ai Tech Agency by Slidesgo</vt:lpstr>
      <vt:lpstr>Presentación de PowerPoint</vt:lpstr>
      <vt:lpstr>Bienvenida</vt:lpstr>
      <vt:lpstr>Presentación de PowerPoint</vt:lpstr>
      <vt:lpstr>ANALÍTICA DE DATOS</vt:lpstr>
      <vt:lpstr>METODOLOGÍA CRISP DM</vt:lpstr>
      <vt:lpstr>CLASE ANTERIOR</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263</cp:revision>
  <dcterms:modified xsi:type="dcterms:W3CDTF">2026-08-18T05:00:00Z</dcterms:modified>
</cp:coreProperties>
</file>